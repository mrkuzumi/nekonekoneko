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MiSans" charset="-122" pitchFamily="34"/>
      <p:regular r:id="rId32"/>
    </p:embeddedFont>
    <p:embeddedFont>
      <p:font typeface="Noto Sans SC" charset="-122" pitchFamily="34"/>
      <p:regular r:id="rId3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font" Target="fonts/font1.fntdata"/><Relationship Id="rId33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1-2.png"/><Relationship Id="rId5" Type="http://schemas.openxmlformats.org/officeDocument/2006/relationships/image" Target="../media/image-1-7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2-3.png"/><Relationship Id="rId6" Type="http://schemas.openxmlformats.org/officeDocument/2006/relationships/image" Target="../media/image-1-7.png"/><Relationship Id="rId7" Type="http://schemas.openxmlformats.org/officeDocument/2006/relationships/image" Target="../media/image-1-7.png"/><Relationship Id="rId8" Type="http://schemas.openxmlformats.org/officeDocument/2006/relationships/image" Target="../media/image-2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image" Target="../media/image-4-4.png"/><Relationship Id="rId9" Type="http://schemas.openxmlformats.org/officeDocument/2006/relationships/image" Target="../media/image-4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image" Target="../media/image-7-4.png"/><Relationship Id="rId5" Type="http://schemas.openxmlformats.org/officeDocument/2006/relationships/image" Target="../media/image-1-7.png"/><Relationship Id="rId6" Type="http://schemas.openxmlformats.org/officeDocument/2006/relationships/image" Target="../media/image-7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7-4.png"/><Relationship Id="rId3" Type="http://schemas.openxmlformats.org/officeDocument/2006/relationships/image" Target="../media/image-7-4.png"/><Relationship Id="rId4" Type="http://schemas.openxmlformats.org/officeDocument/2006/relationships/image" Target="../media/image-2-3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7.png"/><Relationship Id="rId8" Type="http://schemas.openxmlformats.org/officeDocument/2006/relationships/image" Target="../media/image-8-7.png"/><Relationship Id="rId9" Type="http://schemas.openxmlformats.org/officeDocument/2006/relationships/image" Target="../media/image-7-4.png"/><Relationship Id="rId10" Type="http://schemas.openxmlformats.org/officeDocument/2006/relationships/image" Target="../media/image-1-2.png"/><Relationship Id="rId11" Type="http://schemas.openxmlformats.org/officeDocument/2006/relationships/image" Target="../media/image-2-3.png"/><Relationship Id="rId12" Type="http://schemas.openxmlformats.org/officeDocument/2006/relationships/image" Target="../media/image-1-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10-4.png"/><Relationship Id="rId5" Type="http://schemas.openxmlformats.org/officeDocument/2006/relationships/image" Target="../media/image-2-3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7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image" Target="../media/image-11-3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8.png"/><Relationship Id="rId10" Type="http://schemas.openxmlformats.org/officeDocument/2006/relationships/image" Target="../media/image-11-8.png"/><Relationship Id="rId11" Type="http://schemas.openxmlformats.org/officeDocument/2006/relationships/image" Target="../media/image-11-8.png"/><Relationship Id="rId12" Type="http://schemas.openxmlformats.org/officeDocument/2006/relationships/image" Target="../media/image-7-4.png"/><Relationship Id="rId13" Type="http://schemas.openxmlformats.org/officeDocument/2006/relationships/image" Target="../media/image-1-7.png"/><Relationship Id="rId14" Type="http://schemas.openxmlformats.org/officeDocument/2006/relationships/image" Target="../media/image-1-7.png"/><Relationship Id="rId15" Type="http://schemas.openxmlformats.org/officeDocument/2006/relationships/image" Target="../media/image-1-7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2-6.png"/><Relationship Id="rId3" Type="http://schemas.openxmlformats.org/officeDocument/2006/relationships/image" Target="../media/image-2-3.png"/><Relationship Id="rId4" Type="http://schemas.openxmlformats.org/officeDocument/2006/relationships/image" Target="../media/image-7-4.png"/><Relationship Id="rId5" Type="http://schemas.openxmlformats.org/officeDocument/2006/relationships/image" Target="../media/image-13-5.png"/><Relationship Id="rId6" Type="http://schemas.openxmlformats.org/officeDocument/2006/relationships/image" Target="../media/image-13-5.png"/><Relationship Id="rId7" Type="http://schemas.openxmlformats.org/officeDocument/2006/relationships/image" Target="../media/image-2-6.png"/><Relationship Id="rId8" Type="http://schemas.openxmlformats.org/officeDocument/2006/relationships/image" Target="../media/image-2-6.png"/><Relationship Id="rId9" Type="http://schemas.openxmlformats.org/officeDocument/2006/relationships/image" Target="../media/image-13-9.png"/><Relationship Id="rId10" Type="http://schemas.openxmlformats.org/officeDocument/2006/relationships/image" Target="../media/image-13-9.png"/><Relationship Id="rId11" Type="http://schemas.openxmlformats.org/officeDocument/2006/relationships/image" Target="../media/image-2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image" Target="../media/image-2-3.png"/><Relationship Id="rId6" Type="http://schemas.openxmlformats.org/officeDocument/2006/relationships/image" Target="../media/image-1-7.png"/><Relationship Id="rId7" Type="http://schemas.openxmlformats.org/officeDocument/2006/relationships/image" Target="../media/image-1-7.png"/><Relationship Id="rId8" Type="http://schemas.openxmlformats.org/officeDocument/2006/relationships/image" Target="../media/image-1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7-2.png"/><Relationship Id="rId3" Type="http://schemas.openxmlformats.org/officeDocument/2006/relationships/image" Target="../media/image-16-3.png"/><Relationship Id="rId4" Type="http://schemas.openxmlformats.org/officeDocument/2006/relationships/image" Target="../media/image-16-3.png"/><Relationship Id="rId5" Type="http://schemas.openxmlformats.org/officeDocument/2006/relationships/image" Target="../media/image-16-5.png"/><Relationship Id="rId6" Type="http://schemas.openxmlformats.org/officeDocument/2006/relationships/image" Target="../media/image-16-5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2-3.png"/><Relationship Id="rId10" Type="http://schemas.openxmlformats.org/officeDocument/2006/relationships/image" Target="../media/image-1-7.png"/><Relationship Id="rId11" Type="http://schemas.openxmlformats.org/officeDocument/2006/relationships/image" Target="../media/image-1-7.png"/><Relationship Id="rId12" Type="http://schemas.openxmlformats.org/officeDocument/2006/relationships/image" Target="../media/image-1-7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4.png"/><Relationship Id="rId5" Type="http://schemas.openxmlformats.org/officeDocument/2006/relationships/image" Target="../media/image-17-4.png"/><Relationship Id="rId6" Type="http://schemas.openxmlformats.org/officeDocument/2006/relationships/image" Target="../media/image-17-4.png"/><Relationship Id="rId7" Type="http://schemas.openxmlformats.org/officeDocument/2006/relationships/image" Target="../media/image-17-7.png"/><Relationship Id="rId8" Type="http://schemas.openxmlformats.org/officeDocument/2006/relationships/image" Target="../media/image-5-7.jpg"/><Relationship Id="rId9" Type="http://schemas.openxmlformats.org/officeDocument/2006/relationships/image" Target="../media/image-7-2.png"/><Relationship Id="rId10" Type="http://schemas.openxmlformats.org/officeDocument/2006/relationships/image" Target="../media/image-11-8.png"/><Relationship Id="rId11" Type="http://schemas.openxmlformats.org/officeDocument/2006/relationships/image" Target="../media/image-11-8.png"/><Relationship Id="rId12" Type="http://schemas.openxmlformats.org/officeDocument/2006/relationships/image" Target="../media/image-11-8.png"/><Relationship Id="rId13" Type="http://schemas.openxmlformats.org/officeDocument/2006/relationships/image" Target="../media/image-4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3-9.png"/><Relationship Id="rId3" Type="http://schemas.openxmlformats.org/officeDocument/2006/relationships/image" Target="../media/image-2-6.png"/><Relationship Id="rId4" Type="http://schemas.openxmlformats.org/officeDocument/2006/relationships/image" Target="../media/image-2-6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2-3.png"/><Relationship Id="rId8" Type="http://schemas.openxmlformats.org/officeDocument/2006/relationships/image" Target="../media/image-7-4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5-7.jpg"/><Relationship Id="rId3" Type="http://schemas.openxmlformats.org/officeDocument/2006/relationships/image" Target="../media/image-20-3.png"/><Relationship Id="rId4" Type="http://schemas.openxmlformats.org/officeDocument/2006/relationships/image" Target="../media/image-13-9.png"/><Relationship Id="rId5" Type="http://schemas.openxmlformats.org/officeDocument/2006/relationships/image" Target="../media/image-2-6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4.png"/><Relationship Id="rId5" Type="http://schemas.openxmlformats.org/officeDocument/2006/relationships/image" Target="../media/image-21-4.png"/><Relationship Id="rId6" Type="http://schemas.openxmlformats.org/officeDocument/2006/relationships/image" Target="../media/image-7-4.png"/><Relationship Id="rId7" Type="http://schemas.openxmlformats.org/officeDocument/2006/relationships/image" Target="../media/image-1-7.png"/><Relationship Id="rId8" Type="http://schemas.openxmlformats.org/officeDocument/2006/relationships/image" Target="../media/image-1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6.png"/><Relationship Id="rId9" Type="http://schemas.openxmlformats.org/officeDocument/2006/relationships/image" Target="../media/image-4-9.png"/><Relationship Id="rId10" Type="http://schemas.openxmlformats.org/officeDocument/2006/relationships/image" Target="../media/image-4-9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3.png"/><Relationship Id="rId5" Type="http://schemas.openxmlformats.org/officeDocument/2006/relationships/image" Target="../media/image-5-7.jpg"/><Relationship Id="rId6" Type="http://schemas.openxmlformats.org/officeDocument/2006/relationships/image" Target="../media/image-1-7.png"/><Relationship Id="rId7" Type="http://schemas.openxmlformats.org/officeDocument/2006/relationships/image" Target="../media/image-1-7.png"/><Relationship Id="rId8" Type="http://schemas.openxmlformats.org/officeDocument/2006/relationships/image" Target="../media/image-1-7.png"/><Relationship Id="rId9" Type="http://schemas.openxmlformats.org/officeDocument/2006/relationships/image" Target="../media/image-4-4.png"/><Relationship Id="rId10" Type="http://schemas.openxmlformats.org/officeDocument/2006/relationships/image" Target="../media/image-4-4.png"/><Relationship Id="rId11" Type="http://schemas.openxmlformats.org/officeDocument/2006/relationships/image" Target="../media/image-10-6.png"/><Relationship Id="rId12" Type="http://schemas.openxmlformats.org/officeDocument/2006/relationships/image" Target="../media/image-10-6.png"/><Relationship Id="rId13" Type="http://schemas.openxmlformats.org/officeDocument/2006/relationships/image" Target="../media/image-10-6.png"/><Relationship Id="rId14" Type="http://schemas.openxmlformats.org/officeDocument/2006/relationships/image" Target="../media/image-7-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2-6.png"/><Relationship Id="rId3" Type="http://schemas.openxmlformats.org/officeDocument/2006/relationships/image" Target="../media/image-2-6.png"/><Relationship Id="rId4" Type="http://schemas.openxmlformats.org/officeDocument/2006/relationships/image" Target="../media/image-1-2.png"/><Relationship Id="rId5" Type="http://schemas.openxmlformats.org/officeDocument/2006/relationships/image" Target="../media/image-17-2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1-2.png"/><Relationship Id="rId9" Type="http://schemas.openxmlformats.org/officeDocument/2006/relationships/image" Target="../media/image-2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7.png"/><Relationship Id="rId7" Type="http://schemas.openxmlformats.org/officeDocument/2006/relationships/image" Target="../media/image-25-2.png"/><Relationship Id="rId8" Type="http://schemas.openxmlformats.org/officeDocument/2006/relationships/image" Target="../media/image-10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1081385" y="1593850"/>
            <a:ext cx="377825" cy="12128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3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510" y="1980565"/>
            <a:ext cx="2806700" cy="561403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3922395" y="4117975"/>
            <a:ext cx="1932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Text 1"/>
          <p:cNvSpPr/>
          <p:nvPr/>
        </p:nvSpPr>
        <p:spPr>
          <a:xfrm>
            <a:off x="3922395" y="4117975"/>
            <a:ext cx="1932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</a:t>
            </a:r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12445" y="4137025"/>
            <a:ext cx="25533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汇报日期：2025/</a:t>
            </a:r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pPr algn="r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702310" y="2388235"/>
            <a:ext cx="5393690" cy="1403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AI+交通融合人才成长路线图</a:t>
            </a:r>
            <a:endParaRPr lang="en-US" sz="1600" dirty="0"/>
          </a:p>
        </p:txBody>
      </p:sp>
      <p:pic>
        <p:nvPicPr>
          <p:cNvPr id="9" name="Image 3" descr="https://kimi-img.moonshot.cn/pub/slides/slides_tmpl/image/25-09-05-18:06:13-d2tbc5dnfo2stf9djp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730" y="0"/>
            <a:ext cx="2870835" cy="504825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417185" y="-23495"/>
            <a:ext cx="624840" cy="200723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7206615" y="5784850"/>
            <a:ext cx="377825" cy="1212850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626745" y="1224280"/>
            <a:ext cx="880110" cy="8801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2-d2tbc55nfo2stf9djou0.png">    </p:cNvPr>
          <p:cNvPicPr>
            <a:picLocks noChangeAspect="1"/>
          </p:cNvPicPr>
          <p:nvPr/>
        </p:nvPicPr>
        <p:blipFill>
          <a:blip r:embed="rId2"/>
          <a:srcRect l="20060" r="0" t="9520" b="9520"/>
          <a:stretch/>
        </p:blipFill>
        <p:spPr>
          <a:xfrm>
            <a:off x="-831215" y="0"/>
            <a:ext cx="6771640" cy="685736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5189855" y="264858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 flipH="1">
            <a:off x="5189855" y="340106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 flipH="1">
            <a:off x="5189855" y="4176395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 flipH="1">
            <a:off x="5189855" y="49199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 flipH="1">
            <a:off x="5227955" y="1833880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pic>
        <p:nvPicPr>
          <p:cNvPr id="9" name="Image 2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10" y="0"/>
            <a:ext cx="2721610" cy="478663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49350" y="2211070"/>
            <a:ext cx="2284730" cy="17443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1149350" y="2211070"/>
            <a:ext cx="2284730" cy="17443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19835" y="2065020"/>
            <a:ext cx="2663190" cy="438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1385570" y="2638425"/>
            <a:ext cx="166497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4" name="Image 3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799205" y="6350"/>
            <a:ext cx="624840" cy="2007235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8000000">
            <a:off x="9404985" y="5315585"/>
            <a:ext cx="880110" cy="880110"/>
          </a:xfrm>
          <a:prstGeom prst="rect">
            <a:avLst/>
          </a:prstGeom>
        </p:spPr>
      </p:pic>
      <p:pic>
        <p:nvPicPr>
          <p:cNvPr id="16" name="Image 5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023620" y="4619625"/>
            <a:ext cx="2172335" cy="2176780"/>
          </a:xfrm>
          <a:prstGeom prst="rect">
            <a:avLst/>
          </a:prstGeom>
        </p:spPr>
      </p:pic>
      <p:pic>
        <p:nvPicPr>
          <p:cNvPr id="17" name="Image 6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 rot="19920000">
            <a:off x="10619105" y="-342900"/>
            <a:ext cx="2172335" cy="21767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04485" y="1640840"/>
            <a:ext cx="1043305" cy="8020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01.</a:t>
            </a:r>
            <a:endParaRPr lang="en-US" sz="1600" dirty="0"/>
          </a:p>
        </p:txBody>
      </p:sp>
      <p:sp>
        <p:nvSpPr>
          <p:cNvPr id="19" name="Text 10"/>
          <p:cNvSpPr/>
          <p:nvPr/>
        </p:nvSpPr>
        <p:spPr>
          <a:xfrm>
            <a:off x="6299835" y="1849120"/>
            <a:ext cx="453771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成长总览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5116195" y="2431415"/>
            <a:ext cx="1619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6299835" y="266382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大一：AI底座与行业认知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5116195" y="3201035"/>
            <a:ext cx="1619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03.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6299835" y="343344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大二：算法进阶与竞赛实战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5116195" y="3982085"/>
            <a:ext cx="1619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04.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6299835" y="421449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大三：前沿算法×交通场景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5116195" y="4736465"/>
            <a:ext cx="1619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05.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299835" y="4968875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大四：价值转化与名校对标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4-d2tbc5lnfo2stf9djp5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5341620" y="-118110"/>
            <a:ext cx="6858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H="1">
            <a:off x="2504440" y="3661410"/>
            <a:ext cx="159385" cy="40259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 flipH="1">
            <a:off x="6570345" y="3661410"/>
            <a:ext cx="159385" cy="40259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</p:sp>
      <p:pic>
        <p:nvPicPr>
          <p:cNvPr id="6" name="Image 2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rot="16200000">
            <a:off x="330835" y="2787650"/>
            <a:ext cx="338455" cy="108839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rot="16200000">
            <a:off x="2520950" y="-551180"/>
            <a:ext cx="624840" cy="200723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50825" y="-423545"/>
            <a:ext cx="2529205" cy="444500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746125" y="1082675"/>
            <a:ext cx="2284730" cy="17443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Text 3"/>
          <p:cNvSpPr/>
          <p:nvPr/>
        </p:nvSpPr>
        <p:spPr>
          <a:xfrm>
            <a:off x="746125" y="1082675"/>
            <a:ext cx="2284730" cy="17443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816610" y="936625"/>
            <a:ext cx="2663190" cy="438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982345" y="1510030"/>
            <a:ext cx="166497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3" name="Image 5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8000000">
            <a:off x="7632065" y="5699125"/>
            <a:ext cx="880110" cy="880110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rot="7080000">
            <a:off x="5035550" y="1290320"/>
            <a:ext cx="487680" cy="487680"/>
          </a:xfrm>
          <a:prstGeom prst="rect">
            <a:avLst/>
          </a:prstGeom>
        </p:spPr>
      </p:pic>
      <p:pic>
        <p:nvPicPr>
          <p:cNvPr id="15" name="Image 7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86155" y="4681220"/>
            <a:ext cx="2172335" cy="217678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657475" y="3501390"/>
            <a:ext cx="1619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7"/>
          <p:cNvSpPr/>
          <p:nvPr/>
        </p:nvSpPr>
        <p:spPr>
          <a:xfrm>
            <a:off x="3278505" y="3611880"/>
            <a:ext cx="2986405" cy="15386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标杆高校培养方案速览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6723380" y="3501390"/>
            <a:ext cx="1619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Text 9"/>
          <p:cNvSpPr/>
          <p:nvPr/>
        </p:nvSpPr>
        <p:spPr>
          <a:xfrm>
            <a:off x="7401560" y="3611880"/>
            <a:ext cx="2986405" cy="15386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求职与持续进化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成长总览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24-d2tbc85nfo2stf9djp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334375" y="3007995"/>
            <a:ext cx="4108450" cy="26136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24-d2tbc85nfo2stf9dj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445760" y="3007995"/>
            <a:ext cx="4108450" cy="261366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24-d2tbc85nfo2stf9djp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581275" y="3007995"/>
            <a:ext cx="4108450" cy="261366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24-d2tbc85nfo2stf9djp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260985" y="3003550"/>
            <a:ext cx="4108450" cy="261366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06400" y="499745"/>
            <a:ext cx="8239125" cy="552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AI+交通人才四阶成长模型</a:t>
            </a:r>
            <a:endParaRPr lang="en-US" sz="1600" dirty="0"/>
          </a:p>
        </p:txBody>
      </p:sp>
      <p:sp>
        <p:nvSpPr>
          <p:cNvPr id="8" name="Shape 1"/>
          <p:cNvSpPr/>
          <p:nvPr/>
        </p:nvSpPr>
        <p:spPr>
          <a:xfrm flipH="1">
            <a:off x="536575" y="1445260"/>
            <a:ext cx="6555740" cy="0"/>
          </a:xfrm>
          <a:prstGeom prst="line">
            <a:avLst/>
          </a:prstGeom>
          <a:noFill/>
          <a:ln w="38100">
            <a:gradFill rotWithShape="1" flip="none">
              <a:gsLst>
                <a:gs pos="0">
                  <a:srgbClr val="FFFFFF"/>
                </a:gs>
                <a:gs pos="2100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  <a:headEnd type="none"/>
            <a:tailEnd type="none"/>
          </a:ln>
        </p:spPr>
      </p:sp>
      <p:pic>
        <p:nvPicPr>
          <p:cNvPr id="9" name="Image 5" descr="https://kimi-img.moonshot.cn/pub/slides/slides_tmpl/image/25-09-05-18:06:25-d2tbc8dnfo2stf9djps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12192000" cy="2171699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4-d2tbc5lnfo2stf9djp40.jp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0" y="0"/>
            <a:ext cx="12192000" cy="216344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-981710" y="-57150"/>
            <a:ext cx="2252345" cy="225679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 flipH="1">
            <a:off x="10921365" y="-49530"/>
            <a:ext cx="2252345" cy="225679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2318794" y="5725835"/>
            <a:ext cx="693122" cy="63940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761296" y="2182124"/>
            <a:ext cx="2091208" cy="1265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大一：基础搭建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746861" y="3234267"/>
            <a:ext cx="2051162" cy="2025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大一阶段，学生需夯实数学与编程基础，同时初步建立对AI的认知，为后续学习打下坚实基础。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5183279" y="5725794"/>
            <a:ext cx="693122" cy="639446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3625781" y="2199631"/>
            <a:ext cx="2091208" cy="126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大二：算法与实践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3611346" y="3251843"/>
            <a:ext cx="2051162" cy="202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大二阶段，学生将深入学习机器学习与深度学习经典算法，并通过Kaggle竞赛提升实践能力。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8047764" y="5729625"/>
            <a:ext cx="693122" cy="63942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6490266" y="2194688"/>
            <a:ext cx="2091208" cy="126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大三：前沿与跨界</a:t>
            </a:r>
            <a:endParaRPr lang="en-US" sz="1600" dirty="0"/>
          </a:p>
        </p:txBody>
      </p:sp>
      <p:sp>
        <p:nvSpPr>
          <p:cNvPr id="21" name="Text 10"/>
          <p:cNvSpPr/>
          <p:nvPr/>
        </p:nvSpPr>
        <p:spPr>
          <a:xfrm>
            <a:off x="6475831" y="3246866"/>
            <a:ext cx="2051162" cy="202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大三阶段，学生将深入研究Transformer、联邦学习等前沿算法，并探索其在交通领域的应用。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10912249" y="5729590"/>
            <a:ext cx="693122" cy="639460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9354751" y="2168427"/>
            <a:ext cx="2091208" cy="1265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大四：职场衔接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9340316" y="3220661"/>
            <a:ext cx="2051162" cy="2025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大四阶段，学生将通过企业实习和毕业设计，完成从知识到价值的转化，为就业做好准备。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大一：AI底座与行业认知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8-d2tbc6lnfo2stf9djpdg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flipH="1">
            <a:off x="0" y="-487045"/>
            <a:ext cx="4060825" cy="783145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flipV="1">
            <a:off x="4295327" y="3041588"/>
            <a:ext cx="7124700" cy="8890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874CB">
                    <a:alpha val="0"/>
                  </a:srgbClr>
                </a:gs>
                <a:gs pos="50000">
                  <a:srgbClr val="4874CB"/>
                </a:gs>
                <a:gs pos="100000">
                  <a:srgbClr val="4874CB">
                    <a:alpha val="0"/>
                  </a:srgbClr>
                </a:gs>
              </a:gsLst>
              <a:lin ang="0" scaled="1"/>
            </a:gradFill>
            <a:prstDash val="solid"/>
            <a:headEnd type="none"/>
            <a:tailEnd type="none"/>
          </a:ln>
        </p:spPr>
      </p:sp>
      <p:sp>
        <p:nvSpPr>
          <p:cNvPr id="5" name="Shape 1"/>
          <p:cNvSpPr/>
          <p:nvPr/>
        </p:nvSpPr>
        <p:spPr>
          <a:xfrm flipV="1">
            <a:off x="4348667" y="4732079"/>
            <a:ext cx="7045960" cy="20320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874CB">
                    <a:alpha val="0"/>
                  </a:srgbClr>
                </a:gs>
                <a:gs pos="50000">
                  <a:srgbClr val="4874CB"/>
                </a:gs>
                <a:gs pos="100000">
                  <a:srgbClr val="4874CB">
                    <a:alpha val="0"/>
                  </a:srgbClr>
                </a:gs>
              </a:gsLst>
              <a:lin ang="0" scaled="1"/>
            </a:gradFill>
            <a:prstDash val="solid"/>
            <a:headEnd type="none"/>
            <a:tailEnd type="none"/>
          </a:ln>
        </p:spPr>
      </p:sp>
      <p:sp>
        <p:nvSpPr>
          <p:cNvPr id="6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数学+编程：AI地基同步筑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8" name="Text 4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12" name="Text 8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 rot="16200000">
            <a:off x="1157605" y="6837680"/>
            <a:ext cx="3662680" cy="8096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1000"/>
                </a:srgbClr>
              </a:gs>
              <a:gs pos="95000">
                <a:srgbClr val="6389D3">
                  <a:alpha val="70000"/>
                </a:srgbClr>
              </a:gs>
              <a:gs pos="100000">
                <a:srgbClr val="6389D3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14" name="Text 10"/>
          <p:cNvSpPr/>
          <p:nvPr/>
        </p:nvSpPr>
        <p:spPr>
          <a:xfrm rot="16200000">
            <a:off x="1157605" y="6837680"/>
            <a:ext cx="3662680" cy="80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2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 rot="5400000">
            <a:off x="-947420" y="1261745"/>
            <a:ext cx="4563745" cy="29400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000"/>
                </a:srgbClr>
              </a:gs>
              <a:gs pos="95000">
                <a:srgbClr val="6389D3">
                  <a:alpha val="43000"/>
                </a:srgbClr>
              </a:gs>
              <a:gs pos="100000">
                <a:srgbClr val="6389D3">
                  <a:alpha val="43000"/>
                </a:srgbClr>
              </a:gs>
            </a:gsLst>
            <a:lin ang="0" scaled="1"/>
          </a:gradFill>
          <a:ln/>
        </p:spPr>
      </p:sp>
      <p:sp>
        <p:nvSpPr>
          <p:cNvPr id="17" name="Text 12"/>
          <p:cNvSpPr/>
          <p:nvPr/>
        </p:nvSpPr>
        <p:spPr>
          <a:xfrm rot="5400000">
            <a:off x="-947420" y="1261745"/>
            <a:ext cx="4563745" cy="294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8" name="Image 3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35635" y="1189990"/>
            <a:ext cx="386715" cy="42862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 flipV="1" rot="5400000">
            <a:off x="1734185" y="3256915"/>
            <a:ext cx="3548380" cy="2286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000"/>
                </a:srgbClr>
              </a:gs>
              <a:gs pos="95000">
                <a:srgbClr val="6389D3">
                  <a:alpha val="43000"/>
                </a:srgbClr>
              </a:gs>
              <a:gs pos="100000">
                <a:srgbClr val="6389D3">
                  <a:alpha val="43000"/>
                </a:srgbClr>
              </a:gs>
            </a:gsLst>
            <a:lin ang="0" scaled="1"/>
          </a:gradFill>
          <a:ln/>
        </p:spPr>
      </p:sp>
      <p:sp>
        <p:nvSpPr>
          <p:cNvPr id="20" name="Text 14"/>
          <p:cNvSpPr/>
          <p:nvPr/>
        </p:nvSpPr>
        <p:spPr>
          <a:xfrm rot="5400000">
            <a:off x="1734185" y="3256915"/>
            <a:ext cx="3548380" cy="228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1" name="Image 4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2160000">
            <a:off x="1727835" y="4119880"/>
            <a:ext cx="1243330" cy="124333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 flipV="1" rot="5400000">
            <a:off x="433705" y="713740"/>
            <a:ext cx="3548380" cy="2286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000"/>
                </a:srgbClr>
              </a:gs>
              <a:gs pos="95000">
                <a:srgbClr val="6389D3">
                  <a:alpha val="43000"/>
                </a:srgbClr>
              </a:gs>
              <a:gs pos="100000">
                <a:srgbClr val="6389D3">
                  <a:alpha val="43000"/>
                </a:srgbClr>
              </a:gs>
            </a:gsLst>
            <a:lin ang="0" scaled="1"/>
          </a:gradFill>
          <a:ln/>
        </p:spPr>
      </p:sp>
      <p:sp>
        <p:nvSpPr>
          <p:cNvPr id="23" name="Text 16"/>
          <p:cNvSpPr/>
          <p:nvPr/>
        </p:nvSpPr>
        <p:spPr>
          <a:xfrm rot="5400000">
            <a:off x="433705" y="713740"/>
            <a:ext cx="3548380" cy="228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4" name="Image 5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flipH="1" rot="16200000">
            <a:off x="8069580" y="-3105150"/>
            <a:ext cx="681990" cy="75628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178935" y="1474470"/>
            <a:ext cx="604075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数学基础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4178935" y="1842770"/>
            <a:ext cx="7306945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微积分、线性代数、概率统计是AI算法的数学基石，为后续学习提供理论支持。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4178935" y="3187020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编程基础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4178935" y="3587115"/>
            <a:ext cx="7215505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数据结构、算法、操作系统、数据库与Python语言是工程落地的关键，Python作为第一语言贯穿始终。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178935" y="4879419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实践项目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178935" y="5247640"/>
            <a:ext cx="7240905" cy="7594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通过“手写数字识别”小项目，将数学与编程结合，初步体验AI训练流程。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行业扫描：交通AI热点速览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1485880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14858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81608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160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650980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1165098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rot="5400000">
            <a:off x="8293100" y="-302895"/>
            <a:ext cx="386715" cy="428625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rot="5400000">
            <a:off x="8293100" y="1927225"/>
            <a:ext cx="386715" cy="428625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8:06:18-d2tbc6lnfo2stf9djpcg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896610" y="1751965"/>
            <a:ext cx="201930" cy="20193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5-18:06:18-d2tbc6lnfo2stf9djpcg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5891530" y="4004310"/>
            <a:ext cx="201930" cy="20193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9-05-18:06:18-d2tbc6lnfo2stf9djpd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3360" y="1617980"/>
            <a:ext cx="568960" cy="466725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9-05-18:06:18-d2tbc6lnfo2stf9djpd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6535" y="3877310"/>
            <a:ext cx="568960" cy="466725"/>
          </a:xfrm>
          <a:prstGeom prst="rect">
            <a:avLst/>
          </a:prstGeom>
        </p:spPr>
      </p:pic>
      <p:pic>
        <p:nvPicPr>
          <p:cNvPr id="17" name="Image 8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9">
            <a:alphaModFix amt="40000"/>
          </a:blip>
          <a:stretch>
            <a:fillRect/>
          </a:stretch>
        </p:blipFill>
        <p:spPr>
          <a:xfrm flipH="1">
            <a:off x="1021080" y="1440815"/>
            <a:ext cx="300355" cy="3332480"/>
          </a:xfrm>
          <a:prstGeom prst="rect">
            <a:avLst/>
          </a:prstGeom>
        </p:spPr>
      </p:pic>
      <p:pic>
        <p:nvPicPr>
          <p:cNvPr id="18" name="Image 9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2845435" y="1172210"/>
            <a:ext cx="624840" cy="2007235"/>
          </a:xfrm>
          <a:prstGeom prst="rect">
            <a:avLst/>
          </a:prstGeom>
        </p:spPr>
      </p:pic>
      <p:pic>
        <p:nvPicPr>
          <p:cNvPr id="19" name="Image 10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1265" y="1249045"/>
            <a:ext cx="1621155" cy="2849880"/>
          </a:xfrm>
          <a:prstGeom prst="rect">
            <a:avLst/>
          </a:prstGeom>
        </p:spPr>
      </p:pic>
      <p:pic>
        <p:nvPicPr>
          <p:cNvPr id="20" name="Image 11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 flipV="1">
            <a:off x="2274570" y="4707255"/>
            <a:ext cx="433705" cy="1396365"/>
          </a:xfrm>
          <a:prstGeom prst="rect">
            <a:avLst/>
          </a:prstGeom>
        </p:spPr>
      </p:pic>
      <p:pic>
        <p:nvPicPr>
          <p:cNvPr id="21" name="Image 12" descr="https://kimi-img.moonshot.cn/pub/slides/slides_tmpl/image/25-09-05-18:06:19-d2tbc6tnfo2stf9djpgg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580" y="1249045"/>
            <a:ext cx="4418330" cy="4826000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6058535" y="1622425"/>
            <a:ext cx="4406265" cy="461645"/>
          </a:xfrm>
          <a:prstGeom prst="roundRect">
            <a:avLst>
              <a:gd name="adj" fmla="val 2764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8"/>
          <p:cNvSpPr/>
          <p:nvPr/>
        </p:nvSpPr>
        <p:spPr>
          <a:xfrm>
            <a:off x="6058535" y="1622425"/>
            <a:ext cx="4406265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热点领域</a:t>
            </a:r>
            <a:endParaRPr lang="en-US" sz="1600" dirty="0"/>
          </a:p>
        </p:txBody>
      </p:sp>
      <p:sp>
        <p:nvSpPr>
          <p:cNvPr id="24" name="Text 9"/>
          <p:cNvSpPr/>
          <p:nvPr/>
        </p:nvSpPr>
        <p:spPr>
          <a:xfrm>
            <a:off x="6273165" y="2275840"/>
            <a:ext cx="548195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自动驾驶、车路协同、智慧港口等是交通AI的主要应用领域，技术与商业结合紧密。</a:t>
            </a:r>
            <a:endParaRPr lang="en-US" sz="1600" dirty="0"/>
          </a:p>
        </p:txBody>
      </p:sp>
      <p:sp>
        <p:nvSpPr>
          <p:cNvPr id="25" name="Shape 10"/>
          <p:cNvSpPr/>
          <p:nvPr/>
        </p:nvSpPr>
        <p:spPr>
          <a:xfrm>
            <a:off x="6083300" y="3843655"/>
            <a:ext cx="4406265" cy="461645"/>
          </a:xfrm>
          <a:prstGeom prst="roundRect">
            <a:avLst>
              <a:gd name="adj" fmla="val 30674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Text 11"/>
          <p:cNvSpPr/>
          <p:nvPr/>
        </p:nvSpPr>
        <p:spPr>
          <a:xfrm>
            <a:off x="6083300" y="3843655"/>
            <a:ext cx="4406265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学习资源</a:t>
            </a:r>
            <a:endParaRPr lang="en-US" sz="1600" dirty="0"/>
          </a:p>
        </p:txBody>
      </p:sp>
      <p:sp>
        <p:nvSpPr>
          <p:cNvPr id="27" name="Text 12"/>
          <p:cNvSpPr/>
          <p:nvPr/>
        </p:nvSpPr>
        <p:spPr>
          <a:xfrm>
            <a:off x="6273165" y="4610735"/>
            <a:ext cx="545084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推荐必读报告与公众号，帮助学生建立“技术-场景-商业”三维思考框架。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大二：算法进阶与竞赛实战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24-d2tbc85nfo2stf9djp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5" y="3832860"/>
            <a:ext cx="4922520" cy="23806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24-d2tbc85nfo2stf9djp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375" y="1367790"/>
            <a:ext cx="4922520" cy="238061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27-d2tbc8tnfo2stf9djpt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80" y="1408430"/>
            <a:ext cx="4317365" cy="484314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经典模型：从决策树到CNN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8:06:15-d2tbc5tnfo2stf9djp7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250" y="6418580"/>
            <a:ext cx="12389485" cy="12827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8:06:24-d2tbc85nfo2stf9djpo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6820" y="1725295"/>
            <a:ext cx="1652270" cy="165227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8:06:24-d2tbc85nfo2stf9djpo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6820" y="4072255"/>
            <a:ext cx="1652270" cy="1652270"/>
          </a:xfrm>
          <a:prstGeom prst="rect">
            <a:avLst/>
          </a:prstGeom>
        </p:spPr>
      </p:pic>
      <p:sp>
        <p:nvSpPr>
          <p:cNvPr id="11" name="Shape 1"/>
          <p:cNvSpPr/>
          <p:nvPr/>
        </p:nvSpPr>
        <p:spPr>
          <a:xfrm rot="10800000">
            <a:off x="9415780" y="69405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2" name="Text 2"/>
          <p:cNvSpPr/>
          <p:nvPr/>
        </p:nvSpPr>
        <p:spPr>
          <a:xfrm rot="10800000">
            <a:off x="9415780" y="69405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3"/>
          <p:cNvSpPr/>
          <p:nvPr/>
        </p:nvSpPr>
        <p:spPr>
          <a:xfrm rot="10800000">
            <a:off x="7472680" y="306070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4" name="Text 4"/>
          <p:cNvSpPr/>
          <p:nvPr/>
        </p:nvSpPr>
        <p:spPr>
          <a:xfrm rot="10800000">
            <a:off x="7472680" y="306070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397510" y="3588385"/>
            <a:ext cx="4641215" cy="2889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算法分类</a:t>
            </a:r>
            <a:endParaRPr lang="en-US" sz="1600" dirty="0"/>
          </a:p>
        </p:txBody>
      </p:sp>
      <p:sp>
        <p:nvSpPr>
          <p:cNvPr id="16" name="Text 6"/>
          <p:cNvSpPr/>
          <p:nvPr/>
        </p:nvSpPr>
        <p:spPr>
          <a:xfrm>
            <a:off x="763270" y="4069715"/>
            <a:ext cx="388112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系统梳理监督学习、无监督学习、强化学习三大范式，涵盖多种经典模型。</a:t>
            </a:r>
            <a:endParaRPr lang="en-US" sz="1600" dirty="0"/>
          </a:p>
        </p:txBody>
      </p:sp>
      <p:sp>
        <p:nvSpPr>
          <p:cNvPr id="17" name="Text 7"/>
          <p:cNvSpPr/>
          <p:nvPr/>
        </p:nvSpPr>
        <p:spPr>
          <a:xfrm>
            <a:off x="6957060" y="1725295"/>
            <a:ext cx="3732530" cy="254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实验项目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6957060" y="2127250"/>
            <a:ext cx="466090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使用交通流数据集完成“车速预测”项目，体验特征工程与调参的重要性。</a:t>
            </a:r>
            <a:endParaRPr lang="en-US" sz="1600" dirty="0"/>
          </a:p>
        </p:txBody>
      </p:sp>
      <p:sp>
        <p:nvSpPr>
          <p:cNvPr id="19" name="Text 9"/>
          <p:cNvSpPr/>
          <p:nvPr/>
        </p:nvSpPr>
        <p:spPr>
          <a:xfrm>
            <a:off x="6957060" y="4060825"/>
            <a:ext cx="3732530" cy="254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6957060" y="4462780"/>
            <a:ext cx="460375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为后续复杂模型学习奠定基础，帮助学生理解算法的适用场景。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8-d2tbc6lnfo2stf9djpd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flipH="1" flipV="1" rot="5400000">
            <a:off x="4321175" y="-5008880"/>
            <a:ext cx="4060825" cy="127965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5400000">
            <a:off x="-1589405" y="71755"/>
            <a:ext cx="4563745" cy="29400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000"/>
                </a:srgbClr>
              </a:gs>
              <a:gs pos="95000">
                <a:srgbClr val="6389D3">
                  <a:alpha val="43000"/>
                </a:srgbClr>
              </a:gs>
              <a:gs pos="100000">
                <a:srgbClr val="6389D3">
                  <a:alpha val="43000"/>
                </a:srgbClr>
              </a:gs>
            </a:gsLst>
            <a:lin ang="0" scaled="1"/>
          </a:gradFill>
          <a:ln/>
        </p:spPr>
      </p:sp>
      <p:sp>
        <p:nvSpPr>
          <p:cNvPr id="5" name="Text 1"/>
          <p:cNvSpPr/>
          <p:nvPr/>
        </p:nvSpPr>
        <p:spPr>
          <a:xfrm rot="5400000">
            <a:off x="-1589405" y="71755"/>
            <a:ext cx="4563745" cy="294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2" descr="https://kimi-img.moonshot.cn/pub/slides/slides_tmpl/image/25-09-05-18:06:25-d2tbc8dnfo2stf9djpq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165" y="3949700"/>
            <a:ext cx="4302125" cy="24968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5-18:06:25-d2tbc8dnfo2stf9djpq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495" y="3949700"/>
            <a:ext cx="4302125" cy="249682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25-d2tbc8dnfo2stf9djpq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165" y="1236345"/>
            <a:ext cx="4302125" cy="249682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25-d2tbc8dnfo2stf9djpq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955" y="1254125"/>
            <a:ext cx="4302125" cy="249682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728345" y="381635"/>
            <a:ext cx="8239125" cy="495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竞赛引擎：Kaggle入门到银牌</a:t>
            </a:r>
            <a:endParaRPr lang="en-US" sz="1600" dirty="0"/>
          </a:p>
        </p:txBody>
      </p:sp>
      <p:pic>
        <p:nvPicPr>
          <p:cNvPr id="11" name="Image 6" descr="https://kimi-img.moonshot.cn/pub/slides/slides_tmpl/image/25-09-05-18:06:25-d2tbc8dnfo2stf9djpr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48955" y="3181488"/>
            <a:ext cx="4546600" cy="4546600"/>
          </a:xfrm>
          <a:prstGeom prst="rect">
            <a:avLst/>
          </a:prstGeom>
        </p:spPr>
      </p:pic>
      <p:pic>
        <p:nvPicPr>
          <p:cNvPr id="12" name="Image 7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4565" y="1350645"/>
            <a:ext cx="483235" cy="483235"/>
          </a:xfrm>
          <a:prstGeom prst="rect">
            <a:avLst/>
          </a:prstGeom>
        </p:spPr>
      </p:pic>
      <p:pic>
        <p:nvPicPr>
          <p:cNvPr id="13" name="Image 8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9390" y="1350645"/>
            <a:ext cx="483235" cy="483235"/>
          </a:xfrm>
          <a:prstGeom prst="rect">
            <a:avLst/>
          </a:prstGeom>
        </p:spPr>
      </p:pic>
      <p:pic>
        <p:nvPicPr>
          <p:cNvPr id="14" name="Image 9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4565" y="4088765"/>
            <a:ext cx="483235" cy="483235"/>
          </a:xfrm>
          <a:prstGeom prst="rect">
            <a:avLst/>
          </a:prstGeom>
        </p:spPr>
      </p:pic>
      <p:pic>
        <p:nvPicPr>
          <p:cNvPr id="15" name="Image 10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0510" y="4088765"/>
            <a:ext cx="483235" cy="483235"/>
          </a:xfrm>
          <a:prstGeom prst="rect">
            <a:avLst/>
          </a:prstGeom>
        </p:spPr>
      </p:pic>
      <p:pic>
        <p:nvPicPr>
          <p:cNvPr id="16" name="Image 11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-6350" y="0"/>
            <a:ext cx="386715" cy="4286250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 flipV="1" rot="5400000">
            <a:off x="1092200" y="2066925"/>
            <a:ext cx="3548380" cy="2286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3000"/>
                </a:srgbClr>
              </a:gs>
              <a:gs pos="95000">
                <a:srgbClr val="6389D3">
                  <a:alpha val="43000"/>
                </a:srgbClr>
              </a:gs>
              <a:gs pos="100000">
                <a:srgbClr val="6389D3">
                  <a:alpha val="43000"/>
                </a:srgbClr>
              </a:gs>
            </a:gsLst>
            <a:lin ang="0" scaled="1"/>
          </a:gradFill>
          <a:ln/>
        </p:spPr>
      </p:sp>
      <p:sp>
        <p:nvSpPr>
          <p:cNvPr id="18" name="Text 4"/>
          <p:cNvSpPr/>
          <p:nvPr/>
        </p:nvSpPr>
        <p:spPr>
          <a:xfrm rot="5400000">
            <a:off x="1092200" y="2066925"/>
            <a:ext cx="3548380" cy="228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9" name="Image 12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13">
            <a:alphaModFix amt="80000"/>
          </a:blip>
          <a:stretch>
            <a:fillRect/>
          </a:stretch>
        </p:blipFill>
        <p:spPr>
          <a:xfrm rot="2160000">
            <a:off x="986790" y="2796540"/>
            <a:ext cx="1243330" cy="1243330"/>
          </a:xfrm>
          <a:prstGeom prst="rect">
            <a:avLst/>
          </a:prstGeom>
        </p:spPr>
      </p:pic>
      <p:pic>
        <p:nvPicPr>
          <p:cNvPr id="20" name="Image 13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">
            <a:off x="10153015" y="-606425"/>
            <a:ext cx="1626235" cy="1626235"/>
          </a:xfrm>
          <a:prstGeom prst="rect">
            <a:avLst/>
          </a:prstGeom>
        </p:spPr>
      </p:pic>
      <p:pic>
        <p:nvPicPr>
          <p:cNvPr id="21" name="Image 14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">
            <a:off x="6592570" y="6492240"/>
            <a:ext cx="1236980" cy="1236980"/>
          </a:xfrm>
          <a:prstGeom prst="rect">
            <a:avLst/>
          </a:prstGeom>
        </p:spPr>
      </p:pic>
      <p:sp>
        <p:nvSpPr>
          <p:cNvPr id="22" name="Text 5"/>
          <p:cNvSpPr/>
          <p:nvPr/>
        </p:nvSpPr>
        <p:spPr>
          <a:xfrm>
            <a:off x="3541395" y="1414145"/>
            <a:ext cx="594995" cy="2889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3" name="Text 6"/>
          <p:cNvSpPr/>
          <p:nvPr/>
        </p:nvSpPr>
        <p:spPr>
          <a:xfrm>
            <a:off x="4132454" y="1323845"/>
            <a:ext cx="3346941" cy="57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赛题选择</a:t>
            </a:r>
            <a:endParaRPr lang="en-US" sz="1600" dirty="0"/>
          </a:p>
        </p:txBody>
      </p:sp>
      <p:sp>
        <p:nvSpPr>
          <p:cNvPr id="24" name="Text 7"/>
          <p:cNvSpPr/>
          <p:nvPr/>
        </p:nvSpPr>
        <p:spPr>
          <a:xfrm>
            <a:off x="3653043" y="1918161"/>
            <a:ext cx="3762827" cy="169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以Kaggle“NYC出租车行程时间预测”赛题为例，讲解完整竞赛流程。</a:t>
            </a:r>
            <a:endParaRPr lang="en-US" sz="1600" dirty="0"/>
          </a:p>
        </p:txBody>
      </p:sp>
      <p:sp>
        <p:nvSpPr>
          <p:cNvPr id="25" name="Text 8"/>
          <p:cNvSpPr/>
          <p:nvPr/>
        </p:nvSpPr>
        <p:spPr>
          <a:xfrm>
            <a:off x="7833360" y="1414145"/>
            <a:ext cx="594995" cy="2889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9"/>
          <p:cNvSpPr/>
          <p:nvPr/>
        </p:nvSpPr>
        <p:spPr>
          <a:xfrm>
            <a:off x="8373698" y="1323845"/>
            <a:ext cx="3346941" cy="57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27" name="Text 10"/>
          <p:cNvSpPr/>
          <p:nvPr/>
        </p:nvSpPr>
        <p:spPr>
          <a:xfrm>
            <a:off x="7894288" y="1918161"/>
            <a:ext cx="3762827" cy="169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课堂内组建三人小队，实行每日Stand-up，培养敏捷协作与版本管理习惯。</a:t>
            </a:r>
            <a:endParaRPr lang="en-US" sz="1600" dirty="0"/>
          </a:p>
        </p:txBody>
      </p:sp>
      <p:sp>
        <p:nvSpPr>
          <p:cNvPr id="28" name="Text 11"/>
          <p:cNvSpPr/>
          <p:nvPr/>
        </p:nvSpPr>
        <p:spPr>
          <a:xfrm>
            <a:off x="3519805" y="4147820"/>
            <a:ext cx="594995" cy="2889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12"/>
          <p:cNvSpPr/>
          <p:nvPr/>
        </p:nvSpPr>
        <p:spPr>
          <a:xfrm>
            <a:off x="4132454" y="4044489"/>
            <a:ext cx="3346941" cy="57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伦理教育</a:t>
            </a:r>
            <a:endParaRPr lang="en-US" sz="1600" dirty="0"/>
          </a:p>
        </p:txBody>
      </p:sp>
      <p:sp>
        <p:nvSpPr>
          <p:cNvPr id="30" name="Text 13"/>
          <p:cNvSpPr/>
          <p:nvPr/>
        </p:nvSpPr>
        <p:spPr>
          <a:xfrm>
            <a:off x="3653043" y="4638805"/>
            <a:ext cx="3762827" cy="169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引入AI伦理模块，讨论交通数据隐私脱敏与算法公平性问题。</a:t>
            </a:r>
            <a:endParaRPr lang="en-US" sz="1600" dirty="0"/>
          </a:p>
        </p:txBody>
      </p:sp>
      <p:sp>
        <p:nvSpPr>
          <p:cNvPr id="31" name="Text 14"/>
          <p:cNvSpPr/>
          <p:nvPr/>
        </p:nvSpPr>
        <p:spPr>
          <a:xfrm>
            <a:off x="7903210" y="4147820"/>
            <a:ext cx="594995" cy="2889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15"/>
          <p:cNvSpPr/>
          <p:nvPr/>
        </p:nvSpPr>
        <p:spPr>
          <a:xfrm>
            <a:off x="8437222" y="4089063"/>
            <a:ext cx="3346941" cy="572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目标设定</a:t>
            </a:r>
            <a:endParaRPr lang="en-US" sz="1600" dirty="0"/>
          </a:p>
        </p:txBody>
      </p:sp>
      <p:sp>
        <p:nvSpPr>
          <p:cNvPr id="33" name="Text 16"/>
          <p:cNvSpPr/>
          <p:nvPr/>
        </p:nvSpPr>
        <p:spPr>
          <a:xfrm>
            <a:off x="7954834" y="4675950"/>
            <a:ext cx="3762827" cy="169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目标六周内冲银牌，提升学生在竞赛中的实践能力。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大三：前沿算法×交通场景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80000">
            <a:off x="-1235075" y="5616575"/>
            <a:ext cx="2172335" cy="21767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Transformer与联邦学习深潜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694805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6694805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025005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25005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859905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10" name="Text 6"/>
          <p:cNvSpPr/>
          <p:nvPr/>
        </p:nvSpPr>
        <p:spPr>
          <a:xfrm>
            <a:off x="6859905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84925" y="1414463"/>
            <a:ext cx="4802400" cy="737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5400000">
            <a:off x="4258945" y="-3105150"/>
            <a:ext cx="681990" cy="756285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09-05-18:06:21-d2tbc7dnfo2stf9djpk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74040" y="1332230"/>
            <a:ext cx="5213350" cy="2393950"/>
          </a:xfrm>
          <a:prstGeom prst="rect">
            <a:avLst/>
          </a:prstGeom>
        </p:spPr>
      </p:pic>
      <p:pic>
        <p:nvPicPr>
          <p:cNvPr id="15" name="Image 5" descr="https://kimi-img.moonshot.cn/pub/slides/slides_tmpl/image/25-09-05-18:06:21-d2tbc7dnfo2stf9djpk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290" y="3853180"/>
            <a:ext cx="5213350" cy="2393950"/>
          </a:xfrm>
          <a:prstGeom prst="rect">
            <a:avLst/>
          </a:prstGeom>
        </p:spPr>
      </p:pic>
      <p:pic>
        <p:nvPicPr>
          <p:cNvPr id="16" name="Image 6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 flipH="1" rot="19920000">
            <a:off x="3370580" y="1424305"/>
            <a:ext cx="2172335" cy="2176780"/>
          </a:xfrm>
          <a:prstGeom prst="rect">
            <a:avLst/>
          </a:prstGeom>
        </p:spPr>
      </p:pic>
      <p:pic>
        <p:nvPicPr>
          <p:cNvPr id="17" name="Image 7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 rot="1680000">
            <a:off x="6621780" y="3961765"/>
            <a:ext cx="2172335" cy="2176780"/>
          </a:xfrm>
          <a:prstGeom prst="rect">
            <a:avLst/>
          </a:prstGeom>
        </p:spPr>
      </p:pic>
      <p:pic>
        <p:nvPicPr>
          <p:cNvPr id="18" name="Image 8" descr="https://kimi-img.moonshot.cn/pub/slides/slides_tmpl/image/25-09-05-18:06:16-d2tbc65nfo2stf9djp90.png">    </p:cNvPr>
          <p:cNvPicPr>
            <a:picLocks noChangeAspect="1"/>
          </p:cNvPicPr>
          <p:nvPr/>
        </p:nvPicPr>
        <p:blipFill>
          <a:blip r:embed="rId9"/>
          <a:srcRect l="25401" r="42943" t="16194" b="26759"/>
          <a:stretch/>
        </p:blipFill>
        <p:spPr>
          <a:xfrm>
            <a:off x="3467100" y="1017270"/>
            <a:ext cx="2601595" cy="2637790"/>
          </a:xfrm>
          <a:prstGeom prst="rect">
            <a:avLst/>
          </a:prstGeom>
        </p:spPr>
      </p:pic>
      <p:pic>
        <p:nvPicPr>
          <p:cNvPr id="19" name="Image 9" descr="https://kimi-img.moonshot.cn/pub/slides/slides_tmpl/image/25-09-05-18:06:16-d2tbc65nfo2stf9djp90.png">    </p:cNvPr>
          <p:cNvPicPr>
            <a:picLocks noChangeAspect="1"/>
          </p:cNvPicPr>
          <p:nvPr/>
        </p:nvPicPr>
        <p:blipFill>
          <a:blip r:embed="rId10"/>
          <a:srcRect l="25401" r="42943" t="16194" b="26759"/>
          <a:stretch/>
        </p:blipFill>
        <p:spPr>
          <a:xfrm>
            <a:off x="6345555" y="3655060"/>
            <a:ext cx="2601595" cy="2637790"/>
          </a:xfrm>
          <a:prstGeom prst="rect">
            <a:avLst/>
          </a:prstGeom>
        </p:spPr>
      </p:pic>
      <p:pic>
        <p:nvPicPr>
          <p:cNvPr id="20" name="Image 10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 rot="19920000">
            <a:off x="10718165" y="-862330"/>
            <a:ext cx="2172335" cy="2176780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685800" y="3983990"/>
            <a:ext cx="635635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9"/>
          <p:cNvSpPr/>
          <p:nvPr/>
        </p:nvSpPr>
        <p:spPr>
          <a:xfrm>
            <a:off x="1438910" y="4337050"/>
            <a:ext cx="548322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Transformer应用</a:t>
            </a:r>
            <a:endParaRPr lang="en-US" sz="1600" dirty="0"/>
          </a:p>
        </p:txBody>
      </p:sp>
      <p:sp>
        <p:nvSpPr>
          <p:cNvPr id="23" name="Text 10"/>
          <p:cNvSpPr/>
          <p:nvPr/>
        </p:nvSpPr>
        <p:spPr>
          <a:xfrm>
            <a:off x="685800" y="4833938"/>
            <a:ext cx="5101590" cy="1616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讲解自注意力机制在城市级交通流量预测中的应用，提升模型性能。</a:t>
            </a:r>
            <a:endParaRPr lang="en-US" sz="1600" dirty="0"/>
          </a:p>
        </p:txBody>
      </p:sp>
      <p:sp>
        <p:nvSpPr>
          <p:cNvPr id="24" name="Text 11"/>
          <p:cNvSpPr/>
          <p:nvPr/>
        </p:nvSpPr>
        <p:spPr>
          <a:xfrm>
            <a:off x="10871215" y="1301591"/>
            <a:ext cx="933445" cy="73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12"/>
          <p:cNvSpPr/>
          <p:nvPr/>
        </p:nvSpPr>
        <p:spPr>
          <a:xfrm>
            <a:off x="5118735" y="1600200"/>
            <a:ext cx="5483225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联邦学习优势</a:t>
            </a:r>
            <a:endParaRPr lang="en-US" sz="1600" dirty="0"/>
          </a:p>
        </p:txBody>
      </p:sp>
      <p:sp>
        <p:nvSpPr>
          <p:cNvPr id="26" name="Text 13"/>
          <p:cNvSpPr/>
          <p:nvPr/>
        </p:nvSpPr>
        <p:spPr>
          <a:xfrm>
            <a:off x="6384290" y="2108200"/>
            <a:ext cx="5101590" cy="161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介绍联邦学习解决高精地图更新中的数据孤岛问题，结合差分隐私与模型水印技术。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23-d2tbc7tnfo2stf9djp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092440" y="1993265"/>
            <a:ext cx="3411220" cy="420179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23-d2tbc7tnfo2stf9djpl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72305" y="1993265"/>
            <a:ext cx="3411220" cy="42017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23-d2tbc7tnfo2stf9djpl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695" y="1993265"/>
            <a:ext cx="3411220" cy="4201795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 rot="10800000">
            <a:off x="9784080" y="147510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7" name="Text 1"/>
          <p:cNvSpPr/>
          <p:nvPr/>
        </p:nvSpPr>
        <p:spPr>
          <a:xfrm rot="10800000">
            <a:off x="9784080" y="147510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交叉科研：车联网医疗影像范例</a:t>
            </a: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 rot="16200000">
            <a:off x="-1680845" y="6120765"/>
            <a:ext cx="4147185" cy="30861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27000"/>
                </a:srgbClr>
              </a:gs>
              <a:gs pos="95000">
                <a:srgbClr val="6389D3">
                  <a:alpha val="55000"/>
                </a:srgbClr>
              </a:gs>
              <a:gs pos="100000">
                <a:srgbClr val="6389D3">
                  <a:alpha val="55000"/>
                </a:srgbClr>
              </a:gs>
            </a:gsLst>
            <a:lin ang="0" scaled="1"/>
          </a:gradFill>
          <a:ln/>
        </p:spPr>
      </p:sp>
      <p:sp>
        <p:nvSpPr>
          <p:cNvPr id="10" name="Text 4"/>
          <p:cNvSpPr/>
          <p:nvPr/>
        </p:nvSpPr>
        <p:spPr>
          <a:xfrm rot="16200000">
            <a:off x="-1680845" y="6120765"/>
            <a:ext cx="4147185" cy="3086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 flipV="1" rot="10800000">
            <a:off x="8736330" y="6289040"/>
            <a:ext cx="4112260" cy="32131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51000"/>
                </a:srgbClr>
              </a:gs>
              <a:gs pos="100000">
                <a:srgbClr val="6389D3">
                  <a:alpha val="51000"/>
                </a:srgbClr>
              </a:gs>
            </a:gsLst>
            <a:lin ang="0" scaled="1"/>
          </a:gradFill>
          <a:ln/>
        </p:spPr>
      </p:sp>
      <p:sp>
        <p:nvSpPr>
          <p:cNvPr id="12" name="Text 6"/>
          <p:cNvSpPr/>
          <p:nvPr/>
        </p:nvSpPr>
        <p:spPr>
          <a:xfrm rot="10800000">
            <a:off x="8736330" y="6289040"/>
            <a:ext cx="4112260" cy="3213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4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 rot="10800000">
            <a:off x="9053830" y="107124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5" name="Text 8"/>
          <p:cNvSpPr/>
          <p:nvPr/>
        </p:nvSpPr>
        <p:spPr>
          <a:xfrm rot="10800000">
            <a:off x="9053830" y="107124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 rot="10800000">
            <a:off x="8187055" y="62674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7" name="Text 10"/>
          <p:cNvSpPr/>
          <p:nvPr/>
        </p:nvSpPr>
        <p:spPr>
          <a:xfrm rot="10800000">
            <a:off x="8187055" y="62674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 rot="10800000">
            <a:off x="7472680" y="18224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9" name="Text 12"/>
          <p:cNvSpPr/>
          <p:nvPr/>
        </p:nvSpPr>
        <p:spPr>
          <a:xfrm rot="10800000">
            <a:off x="7472680" y="18224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0" name="Image 5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">
            <a:off x="3771265" y="1778000"/>
            <a:ext cx="487680" cy="487680"/>
          </a:xfrm>
          <a:prstGeom prst="rect">
            <a:avLst/>
          </a:prstGeom>
        </p:spPr>
      </p:pic>
      <p:pic>
        <p:nvPicPr>
          <p:cNvPr id="21" name="Image 6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">
            <a:off x="7520305" y="5909310"/>
            <a:ext cx="487680" cy="487680"/>
          </a:xfrm>
          <a:prstGeom prst="rect">
            <a:avLst/>
          </a:prstGeom>
        </p:spPr>
      </p:pic>
      <p:pic>
        <p:nvPicPr>
          <p:cNvPr id="22" name="Image 7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">
            <a:off x="7974965" y="1804670"/>
            <a:ext cx="487680" cy="4876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289935" y="5526723"/>
            <a:ext cx="753745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941705" y="2353310"/>
            <a:ext cx="306070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车联网研究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888365" y="3201670"/>
            <a:ext cx="306070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展示车联网场景下利用多模态融合实现毫秒级碰撞预警的研究案例。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7005955" y="5526723"/>
            <a:ext cx="753745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17"/>
          <p:cNvSpPr/>
          <p:nvPr/>
        </p:nvSpPr>
        <p:spPr>
          <a:xfrm>
            <a:off x="4596130" y="2353310"/>
            <a:ext cx="306070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医疗影像应用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4604385" y="3201670"/>
            <a:ext cx="306070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拓展到医疗影像AI辅助诊断，说明算法在不同领域的迁移思路。</a:t>
            </a:r>
            <a:endParaRPr lang="en-US" sz="1600" dirty="0"/>
          </a:p>
        </p:txBody>
      </p:sp>
      <p:sp>
        <p:nvSpPr>
          <p:cNvPr id="29" name="Text 19"/>
          <p:cNvSpPr/>
          <p:nvPr/>
        </p:nvSpPr>
        <p:spPr>
          <a:xfrm>
            <a:off x="10669270" y="5526723"/>
            <a:ext cx="753745" cy="639445"/>
          </a:xfrm>
          <a:prstGeom prst="rect">
            <a:avLst/>
          </a:prstGeom>
          <a:noFill/>
          <a:ln/>
        </p:spPr>
        <p:txBody>
          <a:bodyPr wrap="square" lIns="0" tIns="0" rIns="0" bIns="10795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4000" b="1" dirty="0">
                <a:solidFill>
                  <a:srgbClr val="0C4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8312150" y="2353310"/>
            <a:ext cx="3060700" cy="311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科研立项</a:t>
            </a:r>
            <a:endParaRPr lang="en-US" sz="1600" dirty="0"/>
          </a:p>
        </p:txBody>
      </p:sp>
      <p:sp>
        <p:nvSpPr>
          <p:cNvPr id="31" name="Text 21"/>
          <p:cNvSpPr/>
          <p:nvPr/>
        </p:nvSpPr>
        <p:spPr>
          <a:xfrm>
            <a:off x="8328660" y="3232785"/>
            <a:ext cx="306070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学生需完成一篇交叉学科综述并申请大学生科研立项，训练科研能力。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大四：价值转化与名校对标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8-d2tbc6lnfo2stf9djpdg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5400000">
            <a:off x="3837305" y="-1141730"/>
            <a:ext cx="4060825" cy="127965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9-d2tbc6tnfo2stf9djph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50" y="1609090"/>
            <a:ext cx="5195570" cy="41338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9-d2tbc6tnfo2stf9djph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55" y="1609090"/>
            <a:ext cx="5195570" cy="41338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企业实习：把模型跑在真实道路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8:06:19-d2tbc6tnfo2stf9djpg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1304925" y="1466215"/>
            <a:ext cx="4192270" cy="457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8:06:19-d2tbc6tnfo2stf9djpg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6669405" y="1475740"/>
            <a:ext cx="4192270" cy="45720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8:06:20-d2tbc75nfo2stf9djpi0.png">    </p:cNvPr>
          <p:cNvPicPr>
            <a:picLocks noChangeAspect="1"/>
          </p:cNvPicPr>
          <p:nvPr/>
        </p:nvPicPr>
        <p:blipFill>
          <a:blip r:embed="rId7"/>
          <a:srcRect l="0" r="0" t="10576" b="10576"/>
          <a:stretch/>
        </p:blipFill>
        <p:spPr>
          <a:xfrm>
            <a:off x="1195070" y="2186305"/>
            <a:ext cx="4434205" cy="159766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8:06:23-d2tbc7tnfo2stf9djpl0.png">    </p:cNvPr>
          <p:cNvPicPr>
            <a:picLocks noChangeAspect="1"/>
          </p:cNvPicPr>
          <p:nvPr/>
        </p:nvPicPr>
        <p:blipFill>
          <a:blip r:embed="rId8"/>
          <a:srcRect l="0" r="0" t="8233" b="8233"/>
          <a:stretch/>
        </p:blipFill>
        <p:spPr>
          <a:xfrm>
            <a:off x="6548120" y="2186305"/>
            <a:ext cx="4462145" cy="1597660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2" name="Shape 1"/>
          <p:cNvSpPr/>
          <p:nvPr/>
        </p:nvSpPr>
        <p:spPr>
          <a:xfrm rot="10800000">
            <a:off x="6247765" y="591502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3" name="Text 2"/>
          <p:cNvSpPr/>
          <p:nvPr/>
        </p:nvSpPr>
        <p:spPr>
          <a:xfrm rot="10800000">
            <a:off x="6247765" y="591502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3"/>
          <p:cNvSpPr/>
          <p:nvPr/>
        </p:nvSpPr>
        <p:spPr>
          <a:xfrm flipH="1" rot="10800000">
            <a:off x="-845820" y="5911215"/>
            <a:ext cx="6776085" cy="276225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D1DCF2">
                  <a:alpha val="0"/>
                </a:srgbClr>
              </a:gs>
              <a:gs pos="22000">
                <a:srgbClr val="6389D3">
                  <a:alpha val="0"/>
                </a:srgbClr>
              </a:gs>
              <a:gs pos="69000">
                <a:srgbClr val="6389D3">
                  <a:alpha val="9000"/>
                </a:srgbClr>
              </a:gs>
              <a:gs pos="95000">
                <a:srgbClr val="6389D3">
                  <a:alpha val="39000"/>
                </a:srgbClr>
              </a:gs>
              <a:gs pos="100000">
                <a:srgbClr val="6389D3">
                  <a:alpha val="39000"/>
                </a:srgbClr>
              </a:gs>
            </a:gsLst>
            <a:lin ang="0" scaled="1"/>
          </a:gradFill>
          <a:ln/>
        </p:spPr>
      </p:sp>
      <p:sp>
        <p:nvSpPr>
          <p:cNvPr id="15" name="Text 4"/>
          <p:cNvSpPr/>
          <p:nvPr/>
        </p:nvSpPr>
        <p:spPr>
          <a:xfrm rot="10800000">
            <a:off x="-845820" y="5911215"/>
            <a:ext cx="6776085" cy="276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6" name="Image 9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">
            <a:off x="9806940" y="-653415"/>
            <a:ext cx="1085850" cy="1085850"/>
          </a:xfrm>
          <a:prstGeom prst="rect">
            <a:avLst/>
          </a:prstGeom>
        </p:spPr>
      </p:pic>
      <p:pic>
        <p:nvPicPr>
          <p:cNvPr id="17" name="Image 10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7440000">
            <a:off x="-478790" y="5998210"/>
            <a:ext cx="1252220" cy="1252220"/>
          </a:xfrm>
          <a:prstGeom prst="rect">
            <a:avLst/>
          </a:prstGeom>
        </p:spPr>
      </p:pic>
      <p:pic>
        <p:nvPicPr>
          <p:cNvPr id="18" name="Image 11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">
            <a:off x="11326495" y="745490"/>
            <a:ext cx="493395" cy="493395"/>
          </a:xfrm>
          <a:prstGeom prst="rect">
            <a:avLst/>
          </a:prstGeom>
        </p:spPr>
      </p:pic>
      <p:sp>
        <p:nvSpPr>
          <p:cNvPr id="19" name="Shape 5"/>
          <p:cNvSpPr/>
          <p:nvPr/>
        </p:nvSpPr>
        <p:spPr>
          <a:xfrm>
            <a:off x="1390650" y="1471295"/>
            <a:ext cx="3994150" cy="461645"/>
          </a:xfrm>
          <a:prstGeom prst="roundRect">
            <a:avLst>
              <a:gd name="adj" fmla="val 2764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6"/>
          <p:cNvSpPr/>
          <p:nvPr/>
        </p:nvSpPr>
        <p:spPr>
          <a:xfrm>
            <a:off x="1390650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实习准备</a:t>
            </a:r>
            <a:endParaRPr lang="en-US" sz="1600" dirty="0"/>
          </a:p>
        </p:txBody>
      </p:sp>
      <p:sp>
        <p:nvSpPr>
          <p:cNvPr id="21" name="Text 7"/>
          <p:cNvSpPr/>
          <p:nvPr/>
        </p:nvSpPr>
        <p:spPr>
          <a:xfrm>
            <a:off x="1098550" y="4037330"/>
            <a:ext cx="4530725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暑期前三个月完成简历、GitHub与LeetCode刷题，投递自动驾驶、高精地图等岗位。</a:t>
            </a:r>
            <a:endParaRPr lang="en-US" sz="1600" dirty="0"/>
          </a:p>
        </p:txBody>
      </p:sp>
      <p:sp>
        <p:nvSpPr>
          <p:cNvPr id="22" name="Shape 8"/>
          <p:cNvSpPr/>
          <p:nvPr/>
        </p:nvSpPr>
        <p:spPr>
          <a:xfrm>
            <a:off x="6768465" y="1471295"/>
            <a:ext cx="3994150" cy="461645"/>
          </a:xfrm>
          <a:prstGeom prst="roundRect">
            <a:avLst>
              <a:gd name="adj" fmla="val 27647"/>
            </a:avLst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9"/>
          <p:cNvSpPr/>
          <p:nvPr/>
        </p:nvSpPr>
        <p:spPr>
          <a:xfrm>
            <a:off x="6768465" y="1471295"/>
            <a:ext cx="3994150" cy="46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实习目标</a:t>
            </a:r>
            <a:endParaRPr lang="en-US" sz="1600" dirty="0"/>
          </a:p>
        </p:txBody>
      </p:sp>
      <p:sp>
        <p:nvSpPr>
          <p:cNvPr id="24" name="Text 10"/>
          <p:cNvSpPr/>
          <p:nvPr/>
        </p:nvSpPr>
        <p:spPr>
          <a:xfrm>
            <a:off x="6476365" y="4037330"/>
            <a:ext cx="4533900" cy="1181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实习期间聚焦问题定义、数据清洗、模型迭代等环节，输出可量化的业务指标提升。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4-d2tbc5lnfo2stf9djp50.png">    </p:cNvPr>
          <p:cNvPicPr>
            <a:picLocks noChangeAspect="1"/>
          </p:cNvPicPr>
          <p:nvPr/>
        </p:nvPicPr>
        <p:blipFill>
          <a:blip r:embed="rId2">
            <a:alphaModFix amt="74000"/>
          </a:blip>
          <a:srcRect l="128" r="-128" t="49493" b="-2787"/>
          <a:stretch/>
        </p:blipFill>
        <p:spPr>
          <a:xfrm flipV="1">
            <a:off x="5873115" y="5526405"/>
            <a:ext cx="4441825" cy="133159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50.png">    </p:cNvPr>
          <p:cNvPicPr>
            <a:picLocks noChangeAspect="1"/>
          </p:cNvPicPr>
          <p:nvPr/>
        </p:nvPicPr>
        <p:blipFill>
          <a:blip r:embed="rId3">
            <a:alphaModFix amt="74000"/>
          </a:blip>
          <a:srcRect l="128" r="-128" t="49493" b="-2787"/>
          <a:stretch/>
        </p:blipFill>
        <p:spPr>
          <a:xfrm>
            <a:off x="6089015" y="-3810"/>
            <a:ext cx="4441825" cy="133159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20-d2tbc75nfo2stf9djpi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925" y="4493895"/>
            <a:ext cx="10302875" cy="180594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20-d2tbc75nfo2stf9djpi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8925" y="2545080"/>
            <a:ext cx="10302875" cy="1805940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5-18:06:20-d2tbc75nfo2stf9djpi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925" y="586740"/>
            <a:ext cx="10302875" cy="180594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72745" y="1133475"/>
            <a:ext cx="3103245" cy="17716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毕业设计：从算法到原型系统</a:t>
            </a:r>
            <a:endParaRPr lang="en-US" sz="1600" dirty="0"/>
          </a:p>
        </p:txBody>
      </p:sp>
      <p:pic>
        <p:nvPicPr>
          <p:cNvPr id="9" name="Image 6" descr="https://kimi-img.moonshot.cn/pub/slides/slides_tmpl/image/25-09-05-18:06:23-d2tbc7tnfo2stf9djpm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590" y="0"/>
            <a:ext cx="3721100" cy="685800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8:06:14-d2tbc5lnfo2stf9djp40.jpg">    </p:cNvPr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0" y="0"/>
            <a:ext cx="3714750" cy="685863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8:06:18-d2tbc6lnfo2stf9djpdg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 flipV="1" rot="10800000">
            <a:off x="3810" y="-878205"/>
            <a:ext cx="2612390" cy="8233410"/>
          </a:xfrm>
          <a:prstGeom prst="rect">
            <a:avLst/>
          </a:prstGeom>
        </p:spPr>
      </p:pic>
      <p:pic>
        <p:nvPicPr>
          <p:cNvPr id="12" name="Image 9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6405" y="1138555"/>
            <a:ext cx="648335" cy="648335"/>
          </a:xfrm>
          <a:prstGeom prst="rect">
            <a:avLst/>
          </a:prstGeom>
        </p:spPr>
      </p:pic>
      <p:pic>
        <p:nvPicPr>
          <p:cNvPr id="13" name="Image 10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6405" y="3085465"/>
            <a:ext cx="648335" cy="648335"/>
          </a:xfrm>
          <a:prstGeom prst="rect">
            <a:avLst/>
          </a:prstGeom>
        </p:spPr>
      </p:pic>
      <p:pic>
        <p:nvPicPr>
          <p:cNvPr id="14" name="Image 11" descr="https://kimi-img.moonshot.cn/pub/slides/slides_tmpl/image/25-09-05-18:06:23-d2tbc7tnfo2stf9djpm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56405" y="5066030"/>
            <a:ext cx="648335" cy="648335"/>
          </a:xfrm>
          <a:prstGeom prst="rect">
            <a:avLst/>
          </a:prstGeom>
        </p:spPr>
      </p:pic>
      <p:pic>
        <p:nvPicPr>
          <p:cNvPr id="15" name="Image 12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13">
            <a:alphaModFix amt="60000"/>
          </a:blip>
          <a:stretch>
            <a:fillRect/>
          </a:stretch>
        </p:blipFill>
        <p:spPr>
          <a:xfrm rot="3600000">
            <a:off x="-402590" y="-229235"/>
            <a:ext cx="1865630" cy="186944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4256405" y="1257300"/>
            <a:ext cx="633095" cy="382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2"/>
          <p:cNvSpPr/>
          <p:nvPr/>
        </p:nvSpPr>
        <p:spPr>
          <a:xfrm>
            <a:off x="5149296" y="747730"/>
            <a:ext cx="5528761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选题方向</a:t>
            </a:r>
            <a:endParaRPr lang="en-US" sz="1600" dirty="0"/>
          </a:p>
        </p:txBody>
      </p:sp>
      <p:sp>
        <p:nvSpPr>
          <p:cNvPr id="18" name="Text 3"/>
          <p:cNvSpPr/>
          <p:nvPr/>
        </p:nvSpPr>
        <p:spPr>
          <a:xfrm>
            <a:off x="5103598" y="1210079"/>
            <a:ext cx="6412026" cy="98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毕业设计选题覆盖城市信号灯协同控制与车辆轨迹预测两大方向。</a:t>
            </a:r>
            <a:endParaRPr lang="en-US" sz="1600" dirty="0"/>
          </a:p>
        </p:txBody>
      </p:sp>
      <p:sp>
        <p:nvSpPr>
          <p:cNvPr id="19" name="Text 4"/>
          <p:cNvSpPr/>
          <p:nvPr/>
        </p:nvSpPr>
        <p:spPr>
          <a:xfrm>
            <a:off x="4256405" y="3213100"/>
            <a:ext cx="633095" cy="382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5"/>
          <p:cNvSpPr/>
          <p:nvPr/>
        </p:nvSpPr>
        <p:spPr>
          <a:xfrm>
            <a:off x="5191167" y="2670419"/>
            <a:ext cx="5539704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交付要求</a:t>
            </a:r>
            <a:endParaRPr lang="en-US" sz="1600" dirty="0"/>
          </a:p>
        </p:txBody>
      </p:sp>
      <p:sp>
        <p:nvSpPr>
          <p:cNvPr id="21" name="Text 6"/>
          <p:cNvSpPr/>
          <p:nvPr/>
        </p:nvSpPr>
        <p:spPr>
          <a:xfrm>
            <a:off x="5160877" y="3132768"/>
            <a:ext cx="6427076" cy="1012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要求交付可演示的原型系统与开源代码，强调工程文档规范与可复现性。</a:t>
            </a:r>
            <a:endParaRPr lang="en-US" sz="1600" dirty="0"/>
          </a:p>
        </p:txBody>
      </p:sp>
      <p:sp>
        <p:nvSpPr>
          <p:cNvPr id="22" name="Text 7"/>
          <p:cNvSpPr/>
          <p:nvPr/>
        </p:nvSpPr>
        <p:spPr>
          <a:xfrm>
            <a:off x="4256405" y="5194300"/>
            <a:ext cx="633095" cy="3829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8"/>
          <p:cNvSpPr/>
          <p:nvPr/>
        </p:nvSpPr>
        <p:spPr>
          <a:xfrm>
            <a:off x="5217327" y="4617057"/>
            <a:ext cx="5512856" cy="48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时间管理</a:t>
            </a:r>
            <a:endParaRPr lang="en-US" sz="1600" dirty="0"/>
          </a:p>
        </p:txBody>
      </p:sp>
      <p:sp>
        <p:nvSpPr>
          <p:cNvPr id="24" name="Text 9"/>
          <p:cNvSpPr/>
          <p:nvPr/>
        </p:nvSpPr>
        <p:spPr>
          <a:xfrm>
            <a:off x="5191856" y="5079406"/>
            <a:ext cx="6395409" cy="1010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列出任务书、中期检查、论文撰写与答辩材料的时间节点，帮助学生合理规划时间。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标杆高校培养方案速览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6-d2tbc65nfo2stf9djp90.png">    </p:cNvPr>
          <p:cNvPicPr>
            <a:picLocks noChangeAspect="1"/>
          </p:cNvPicPr>
          <p:nvPr/>
        </p:nvPicPr>
        <p:blipFill>
          <a:blip r:embed="rId2"/>
          <a:srcRect l="25401" r="42943" t="16194" b="26759"/>
          <a:stretch/>
        </p:blipFill>
        <p:spPr>
          <a:xfrm>
            <a:off x="-777875" y="5404485"/>
            <a:ext cx="3859530" cy="39122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3620" y="4619625"/>
            <a:ext cx="2172335" cy="217678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rot="19920000">
            <a:off x="10619105" y="-342900"/>
            <a:ext cx="2172335" cy="217678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23-d2tbc7tnfo2stf9djpn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1030" y="3703320"/>
            <a:ext cx="8078470" cy="255333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5-18:06:23-d2tbc7tnfo2stf9djpk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4185" y="1520190"/>
            <a:ext cx="6154420" cy="1946275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503555" y="3703320"/>
            <a:ext cx="3856355" cy="258762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6941" dir="2700000">
              <a:srgbClr val="000000">
                <a:alpha val="10980"/>
              </a:srgbClr>
            </a:outerShdw>
          </a:effectLst>
        </p:spPr>
      </p:sp>
      <p:sp>
        <p:nvSpPr>
          <p:cNvPr id="9" name="Text 1"/>
          <p:cNvSpPr/>
          <p:nvPr/>
        </p:nvSpPr>
        <p:spPr>
          <a:xfrm>
            <a:off x="503555" y="3703320"/>
            <a:ext cx="3856355" cy="2587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武汉大学：测绘遥感+交通AI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502920" y="1534795"/>
            <a:ext cx="5850890" cy="1939290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6941" dir="2700000">
              <a:srgbClr val="000000">
                <a:alpha val="10980"/>
              </a:srgbClr>
            </a:outerShdw>
          </a:effectLst>
        </p:spPr>
      </p:sp>
      <p:sp>
        <p:nvSpPr>
          <p:cNvPr id="12" name="Text 4"/>
          <p:cNvSpPr/>
          <p:nvPr/>
        </p:nvSpPr>
        <p:spPr>
          <a:xfrm>
            <a:off x="502920" y="1534795"/>
            <a:ext cx="5850890" cy="19392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320280" y="3688080"/>
            <a:ext cx="4377690" cy="2568575"/>
          </a:xfrm>
          <a:prstGeom prst="roundRect">
            <a:avLst>
              <a:gd name="adj" fmla="val 7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26941" dir="2700000">
              <a:srgbClr val="000000">
                <a:alpha val="10980"/>
              </a:srgbClr>
            </a:outerShdw>
          </a:effectLst>
        </p:spPr>
      </p:sp>
      <p:sp>
        <p:nvSpPr>
          <p:cNvPr id="14" name="Text 6"/>
          <p:cNvSpPr/>
          <p:nvPr/>
        </p:nvSpPr>
        <p:spPr>
          <a:xfrm>
            <a:off x="7320280" y="3688080"/>
            <a:ext cx="4377690" cy="2568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5" name="Image 6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rot="5400000">
            <a:off x="4258945" y="-3105150"/>
            <a:ext cx="681990" cy="7562850"/>
          </a:xfrm>
          <a:prstGeom prst="rect">
            <a:avLst/>
          </a:prstGeom>
        </p:spPr>
      </p:pic>
      <p:pic>
        <p:nvPicPr>
          <p:cNvPr id="17" name="Image 8" descr="https://kimi-img.moonshot.cn/pub/slides/slides_tmpl/image/25-09-05-18:06:16-d2tbc65nfo2stf9djp90.png">    </p:cNvPr>
          <p:cNvPicPr>
            <a:picLocks noChangeAspect="1"/>
          </p:cNvPicPr>
          <p:nvPr/>
        </p:nvPicPr>
        <p:blipFill>
          <a:blip r:embed="rId9"/>
          <a:srcRect l="25401" r="42943" t="16194" b="26759"/>
          <a:stretch/>
        </p:blipFill>
        <p:spPr>
          <a:xfrm>
            <a:off x="8197850" y="-2613660"/>
            <a:ext cx="3859530" cy="391223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628189" y="1663533"/>
            <a:ext cx="5899611" cy="3683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学科优势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628015" y="1986280"/>
            <a:ext cx="5395595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依托世界顶尖测绘遥感学科，开设交通地理信息系统、车联网与高精地图方向。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577215" y="389509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课程设置</a:t>
            </a:r>
            <a:endParaRPr lang="en-US" sz="1600" dirty="0"/>
          </a:p>
        </p:txBody>
      </p:sp>
      <p:sp>
        <p:nvSpPr>
          <p:cNvPr id="21" name="Text 10"/>
          <p:cNvSpPr/>
          <p:nvPr/>
        </p:nvSpPr>
        <p:spPr>
          <a:xfrm>
            <a:off x="609600" y="4314825"/>
            <a:ext cx="366776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课程模块涵盖卫星导航、点云处理、SLAM与深度学习融合，形成交叉学科特色。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7425690" y="3855720"/>
            <a:ext cx="3708400" cy="538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就业去向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7483475" y="4326255"/>
            <a:ext cx="4121150" cy="640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学生毕业后主要流向百度、高德、腾讯地图及交通运输部规划院等单位。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4-d2tbc5lnfo2stf9djp4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1374775"/>
            <a:ext cx="12192635" cy="17792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97470" y="1614805"/>
            <a:ext cx="3957955" cy="1330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大连海事大学：航运数字孪生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6087428" y="3540443"/>
            <a:ext cx="0" cy="2532924"/>
          </a:xfrm>
          <a:prstGeom prst="line">
            <a:avLst/>
          </a:prstGeom>
          <a:noFill/>
          <a:ln w="19050">
            <a:gradFill rotWithShape="1" flip="none">
              <a:gsLst>
                <a:gs pos="0">
                  <a:srgbClr val="4874CB">
                    <a:alpha val="0"/>
                  </a:srgbClr>
                </a:gs>
                <a:gs pos="10000">
                  <a:srgbClr val="4874CB">
                    <a:alpha val="0"/>
                  </a:srgbClr>
                </a:gs>
                <a:gs pos="50000">
                  <a:srgbClr val="4874CB">
                    <a:alpha val="50000"/>
                  </a:srgbClr>
                </a:gs>
                <a:gs pos="90000">
                  <a:srgbClr val="4874CB">
                    <a:alpha val="0"/>
                  </a:srgbClr>
                </a:gs>
                <a:gs pos="100000">
                  <a:srgbClr val="4874CB">
                    <a:alpha val="0"/>
                  </a:srgbClr>
                </a:gs>
              </a:gsLst>
              <a:lin ang="16200000" scaled="1"/>
            </a:gra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565785" y="44513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61000"/>
                </a:srgbClr>
              </a:gs>
              <a:gs pos="20000">
                <a:srgbClr val="4874CB">
                  <a:alpha val="61000"/>
                </a:srgbClr>
              </a:gs>
              <a:gs pos="43000">
                <a:srgbClr val="4874CB">
                  <a:alpha val="66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7" name="Text 3"/>
          <p:cNvSpPr/>
          <p:nvPr/>
        </p:nvSpPr>
        <p:spPr>
          <a:xfrm>
            <a:off x="5657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95985" y="44513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>
                    <a:alpha val="91000"/>
                  </a:srgbClr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959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30885" y="44513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66000"/>
                </a:srgbClr>
              </a:gs>
              <a:gs pos="20000">
                <a:srgbClr val="4874CB">
                  <a:alpha val="66000"/>
                </a:srgbClr>
              </a:gs>
              <a:gs pos="43000">
                <a:srgbClr val="4874CB">
                  <a:alpha val="59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11" name="Text 7"/>
          <p:cNvSpPr/>
          <p:nvPr/>
        </p:nvSpPr>
        <p:spPr>
          <a:xfrm>
            <a:off x="730885" y="44513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2" descr="https://kimi-img.moonshot.cn/pub/slides/slides_tmpl/image/25-09-05-18:06:18-d2tbc6lnfo2stf9djpb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6145" y="1156335"/>
            <a:ext cx="7914640" cy="2253615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5-18:06:16-d2tbc65nfo2stf9djp90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25401" r="42943" t="16194" b="26759"/>
          <a:stretch/>
        </p:blipFill>
        <p:spPr>
          <a:xfrm>
            <a:off x="-1417320" y="379730"/>
            <a:ext cx="3261995" cy="3307715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flipH="1" rot="19920000">
            <a:off x="1805305" y="1403350"/>
            <a:ext cx="1753235" cy="1757045"/>
          </a:xfrm>
          <a:prstGeom prst="rect">
            <a:avLst/>
          </a:prstGeom>
        </p:spPr>
      </p:pic>
      <p:pic>
        <p:nvPicPr>
          <p:cNvPr id="15" name="Image 5" descr="https://kimi-img.moonshot.cn/pub/slides/slides_tmpl/image/25-09-05-18:06:15-d2tbc5tnfo2stf9djp7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2710" y="747395"/>
            <a:ext cx="12389485" cy="12827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65269" y="3776772"/>
            <a:ext cx="4964861" cy="478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Text 9"/>
          <p:cNvSpPr/>
          <p:nvPr/>
        </p:nvSpPr>
        <p:spPr>
          <a:xfrm>
            <a:off x="665269" y="3776772"/>
            <a:ext cx="4964861" cy="478893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学科优势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65269" y="4463967"/>
            <a:ext cx="4964861" cy="1867301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聚焦国际航运管理与港口物流，课程突出航运大数据、海事仿真与智能调度。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6538375" y="3776772"/>
            <a:ext cx="4964861" cy="478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12"/>
          <p:cNvSpPr/>
          <p:nvPr/>
        </p:nvSpPr>
        <p:spPr>
          <a:xfrm>
            <a:off x="6538375" y="3776772"/>
            <a:ext cx="4964861" cy="478893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就业去向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6538375" y="4472222"/>
            <a:ext cx="4964861" cy="1867936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毕业生大量进入中远海运、招商局、各大港口集团与海事局等单位。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25-d2tbc8dnfo2stf9djpp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505" y="1196340"/>
            <a:ext cx="2647950" cy="561530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25-d2tbc8dnfo2stf9djpp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310" y="1133475"/>
            <a:ext cx="2647950" cy="5615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89940" y="39433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北航&amp;吉大：空天地车协同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134620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7" name="Text 2"/>
          <p:cNvSpPr/>
          <p:nvPr/>
        </p:nvSpPr>
        <p:spPr>
          <a:xfrm>
            <a:off x="13462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64820" y="589915"/>
            <a:ext cx="134620" cy="13462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gradFill rotWithShape="1" flip="none">
              <a:gsLst>
                <a:gs pos="0">
                  <a:srgbClr val="4874CB"/>
                </a:gs>
                <a:gs pos="100000">
                  <a:srgbClr val="4874CB">
                    <a:alpha val="29000"/>
                  </a:srgbClr>
                </a:gs>
              </a:gsLst>
              <a:lin ang="2700000" scaled="1"/>
            </a:gra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6482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299720" y="589915"/>
            <a:ext cx="134620" cy="134620"/>
          </a:xfrm>
          <a:prstGeom prst="ellipse">
            <a:avLst/>
          </a:prstGeom>
          <a:gradFill rotWithShape="1" flip="none">
            <a:gsLst>
              <a:gs pos="0">
                <a:srgbClr val="4874CB">
                  <a:alpha val="84000"/>
                </a:srgbClr>
              </a:gs>
              <a:gs pos="20000">
                <a:srgbClr val="4874CB">
                  <a:alpha val="84000"/>
                </a:srgbClr>
              </a:gs>
              <a:gs pos="43000">
                <a:srgbClr val="4874CB">
                  <a:alpha val="72000"/>
                </a:srgbClr>
              </a:gs>
              <a:gs pos="63000">
                <a:srgbClr val="4874CB">
                  <a:alpha val="47000"/>
                </a:srgbClr>
              </a:gs>
              <a:gs pos="100000">
                <a:srgbClr val="FFFFFF">
                  <a:alpha val="48000"/>
                </a:srgbClr>
              </a:gs>
            </a:gsLst>
            <a:lin ang="0" scaled="1"/>
          </a:gradFill>
          <a:ln/>
        </p:spPr>
      </p:sp>
      <p:sp>
        <p:nvSpPr>
          <p:cNvPr id="11" name="Text 6"/>
          <p:cNvSpPr/>
          <p:nvPr/>
        </p:nvSpPr>
        <p:spPr>
          <a:xfrm>
            <a:off x="299720" y="589915"/>
            <a:ext cx="134620" cy="1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3" descr="https://kimi-img.moonshot.cn/pub/slides/slides_tmpl/image/25-09-05-18:06:25-d2tbc8dnfo2stf9djpq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40" y="1143000"/>
            <a:ext cx="2646045" cy="561340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5-18:06:25-d2tbc8dnfo2stf9djpq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070" y="1143000"/>
            <a:ext cx="2646045" cy="5613400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9-05-18:06:17-d2tbc6dnfo2stf9djpag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 rot="5400000">
            <a:off x="4097020" y="-3105150"/>
            <a:ext cx="681990" cy="756285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">
            <a:off x="11019790" y="-606425"/>
            <a:ext cx="1626235" cy="1626235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">
            <a:off x="7620" y="6075680"/>
            <a:ext cx="652780" cy="65278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935673" y="1827213"/>
            <a:ext cx="1957705" cy="798195"/>
          </a:xfrm>
          <a:prstGeom prst="rect">
            <a:avLst/>
          </a:prstGeom>
          <a:noFill/>
          <a:ln/>
        </p:spPr>
        <p:txBody>
          <a:bodyPr wrap="square" lIns="90043" tIns="46863" rIns="90043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北航优势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993775" y="2717165"/>
            <a:ext cx="1871980" cy="27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北航依托空管与无人系统优势，打造车路协同与空中交通管理课程。</a:t>
            </a:r>
            <a:endParaRPr lang="en-US" sz="1600" dirty="0"/>
          </a:p>
        </p:txBody>
      </p:sp>
      <p:sp>
        <p:nvSpPr>
          <p:cNvPr id="19" name="Text 9"/>
          <p:cNvSpPr/>
          <p:nvPr/>
        </p:nvSpPr>
        <p:spPr>
          <a:xfrm>
            <a:off x="3699193" y="1827213"/>
            <a:ext cx="1957705" cy="798195"/>
          </a:xfrm>
          <a:prstGeom prst="rect">
            <a:avLst/>
          </a:prstGeom>
          <a:noFill/>
          <a:ln/>
        </p:spPr>
        <p:txBody>
          <a:bodyPr wrap="square" lIns="90043" tIns="46863" rIns="90043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北航就业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3757295" y="2717165"/>
            <a:ext cx="1871980" cy="27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学生参与民航局科技项目，流向空管局、华为、百度自动驾驶等部门。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6462713" y="1827213"/>
            <a:ext cx="1957705" cy="798195"/>
          </a:xfrm>
          <a:prstGeom prst="rect">
            <a:avLst/>
          </a:prstGeom>
          <a:noFill/>
          <a:ln/>
        </p:spPr>
        <p:txBody>
          <a:bodyPr wrap="square" lIns="90043" tIns="46863" rIns="90043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4874C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吉大优势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6520815" y="2717165"/>
            <a:ext cx="1837690" cy="27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吉大聚焦智能网联汽车、运输物流与道路安全，与一汽、上汽联合开设毕业设计。</a:t>
            </a:r>
            <a:endParaRPr lang="en-US" sz="1600" dirty="0"/>
          </a:p>
        </p:txBody>
      </p:sp>
      <p:sp>
        <p:nvSpPr>
          <p:cNvPr id="23" name="Text 13"/>
          <p:cNvSpPr/>
          <p:nvPr/>
        </p:nvSpPr>
        <p:spPr>
          <a:xfrm>
            <a:off x="9226233" y="1827213"/>
            <a:ext cx="1957705" cy="798195"/>
          </a:xfrm>
          <a:prstGeom prst="rect">
            <a:avLst/>
          </a:prstGeom>
          <a:noFill/>
          <a:ln/>
        </p:spPr>
        <p:txBody>
          <a:bodyPr wrap="square" lIns="90043" tIns="46863" rIns="90043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吉大就业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9284335" y="2717165"/>
            <a:ext cx="1890395" cy="27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学生毕业后进入一汽、上汽等企业，为东北老工业基地输送智能驾驶骨干。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4-d2tbc5lnfo2stf9djp2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810" y="-506095"/>
            <a:ext cx="4564380" cy="44983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966210" y="1802130"/>
            <a:ext cx="3933190" cy="2298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0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1943100" y="4334510"/>
            <a:ext cx="811784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求职与持续进化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-846455" y="4500245"/>
            <a:ext cx="2252345" cy="2256790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flipH="1">
            <a:off x="10509250" y="-629920"/>
            <a:ext cx="2252345" cy="2256790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85" y="3072130"/>
            <a:ext cx="448310" cy="2123440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0940" y="2406015"/>
            <a:ext cx="288290" cy="1555750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5-18:06:13-d2tbc5dnfo2stf9djp0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835" y="1144905"/>
            <a:ext cx="288290" cy="1555750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40000">
            <a:off x="10210800" y="5301615"/>
            <a:ext cx="549910" cy="546100"/>
          </a:xfrm>
          <a:prstGeom prst="rect">
            <a:avLst/>
          </a:prstGeom>
        </p:spPr>
      </p:pic>
      <p:pic>
        <p:nvPicPr>
          <p:cNvPr id="13" name="Image 9" descr="https://kimi-img.moonshot.cn/pub/slides/slides_tmpl/image/25-09-05-18:06:14-d2tbc5lnfo2stf9djp1g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240000">
            <a:off x="1287780" y="823595"/>
            <a:ext cx="549910" cy="546100"/>
          </a:xfrm>
          <a:prstGeom prst="rect">
            <a:avLst/>
          </a:prstGeom>
        </p:spPr>
      </p:pic>
      <p:pic>
        <p:nvPicPr>
          <p:cNvPr id="14" name="Image 10" descr="https://kimi-img.moonshot.cn/pub/slides/slides_tmpl/image/25-09-05-18:06:14-d2tbc5lnfo2stf9djp2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042660"/>
            <a:ext cx="12748895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24-d2tbc85nfo2stf9djpp0.png">    </p:cNvPr>
          <p:cNvPicPr>
            <a:picLocks noChangeAspect="1"/>
          </p:cNvPicPr>
          <p:nvPr/>
        </p:nvPicPr>
        <p:blipFill>
          <a:blip r:embed="rId2">
            <a:alphaModFix amt="84000"/>
          </a:blip>
          <a:srcRect l="0" r="0" t="21716" b="21716"/>
          <a:stretch/>
        </p:blipFill>
        <p:spPr>
          <a:xfrm>
            <a:off x="0" y="0"/>
            <a:ext cx="12192000" cy="295592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20-d2tbc75nfo2stf9djpj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097" y="3631248"/>
            <a:ext cx="25400" cy="30607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20-d2tbc75nfo2stf9djpj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599" y="3656648"/>
            <a:ext cx="25400" cy="30607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4-d2tbc5lnfo2stf9djp40.jp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0" y="0"/>
            <a:ext cx="12192635" cy="2972435"/>
          </a:xfrm>
          <a:prstGeom prst="rect">
            <a:avLst/>
          </a:prstGeom>
        </p:spPr>
      </p:pic>
      <p:pic>
        <p:nvPicPr>
          <p:cNvPr id="7" name="Image 5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">
            <a:off x="4974590" y="1386840"/>
            <a:ext cx="251460" cy="251460"/>
          </a:xfrm>
          <a:prstGeom prst="rect">
            <a:avLst/>
          </a:prstGeom>
        </p:spPr>
      </p:pic>
      <p:pic>
        <p:nvPicPr>
          <p:cNvPr id="8" name="Image 6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">
            <a:off x="5606415" y="1387475"/>
            <a:ext cx="251460" cy="251460"/>
          </a:xfrm>
          <a:prstGeom prst="rect">
            <a:avLst/>
          </a:prstGeom>
        </p:spPr>
      </p:pic>
      <p:pic>
        <p:nvPicPr>
          <p:cNvPr id="9" name="Image 7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">
            <a:off x="6238240" y="1388110"/>
            <a:ext cx="251460" cy="251460"/>
          </a:xfrm>
          <a:prstGeom prst="rect">
            <a:avLst/>
          </a:prstGeom>
        </p:spPr>
      </p:pic>
      <p:pic>
        <p:nvPicPr>
          <p:cNvPr id="10" name="Image 8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 flipH="1">
            <a:off x="11397615" y="-463550"/>
            <a:ext cx="1405890" cy="1409065"/>
          </a:xfrm>
          <a:prstGeom prst="rect">
            <a:avLst/>
          </a:prstGeom>
        </p:spPr>
      </p:pic>
      <p:pic>
        <p:nvPicPr>
          <p:cNvPr id="11" name="Image 9" descr="https://kimi-img.moonshot.cn/pub/slides/slides_tmpl/image/25-09-05-18:06:13-d2tbc5dnfo2stf9djp10.png">    </p:cNvPr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 flipH="1" rot="6060000">
            <a:off x="-588010" y="2012950"/>
            <a:ext cx="1405890" cy="1409065"/>
          </a:xfrm>
          <a:prstGeom prst="rect">
            <a:avLst/>
          </a:prstGeom>
        </p:spPr>
      </p:pic>
      <p:pic>
        <p:nvPicPr>
          <p:cNvPr id="12" name="Image 10" descr="https://kimi-img.moonshot.cn/pub/slides/slides_tmpl/image/25-09-05-18:06:15-d2tbc5tnfo2stf9djp7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V="1">
            <a:off x="711835" y="3971925"/>
            <a:ext cx="2865755" cy="76200"/>
          </a:xfrm>
          <a:prstGeom prst="rect">
            <a:avLst/>
          </a:prstGeom>
        </p:spPr>
      </p:pic>
      <p:pic>
        <p:nvPicPr>
          <p:cNvPr id="13" name="Image 11" descr="https://kimi-img.moonshot.cn/pub/slides/slides_tmpl/image/25-09-05-18:06:15-d2tbc5tnfo2stf9djp70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V="1">
            <a:off x="4677410" y="3971925"/>
            <a:ext cx="2865755" cy="76200"/>
          </a:xfrm>
          <a:prstGeom prst="rect">
            <a:avLst/>
          </a:prstGeom>
        </p:spPr>
      </p:pic>
      <p:pic>
        <p:nvPicPr>
          <p:cNvPr id="14" name="Image 12" descr="https://kimi-img.moonshot.cn/pub/slides/slides_tmpl/image/25-09-05-18:06:15-d2tbc5tnfo2stf9djp70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V="1">
            <a:off x="8628380" y="3971925"/>
            <a:ext cx="2865755" cy="76200"/>
          </a:xfrm>
          <a:prstGeom prst="rect">
            <a:avLst/>
          </a:prstGeom>
        </p:spPr>
      </p:pic>
      <p:pic>
        <p:nvPicPr>
          <p:cNvPr id="15" name="Image 13" descr="https://kimi-img.moonshot.cn/pub/slides/slides_tmpl/image/25-09-05-18:06:18-d2tbc6lnfo2stf9djpdg.png">    </p:cNvPr>
          <p:cNvPicPr>
            <a:picLocks noChangeAspect="1"/>
          </p:cNvPicPr>
          <p:nvPr/>
        </p:nvPicPr>
        <p:blipFill>
          <a:blip r:embed="rId14">
            <a:alphaModFix amt="20000"/>
          </a:blip>
          <a:stretch>
            <a:fillRect/>
          </a:stretch>
        </p:blipFill>
        <p:spPr>
          <a:xfrm rot="5400000">
            <a:off x="3837305" y="-864235"/>
            <a:ext cx="4060825" cy="12796520"/>
          </a:xfrm>
          <a:prstGeom prst="rect">
            <a:avLst/>
          </a:prstGeom>
        </p:spPr>
      </p:pic>
      <p:sp>
        <p:nvSpPr>
          <p:cNvPr id="16" name="Shape 0"/>
          <p:cNvSpPr/>
          <p:nvPr/>
        </p:nvSpPr>
        <p:spPr>
          <a:xfrm>
            <a:off x="844868" y="3352800"/>
            <a:ext cx="2599690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7" name="Text 1"/>
          <p:cNvSpPr/>
          <p:nvPr/>
        </p:nvSpPr>
        <p:spPr>
          <a:xfrm>
            <a:off x="844868" y="3352800"/>
            <a:ext cx="2599690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岗位分类</a:t>
            </a:r>
            <a:endParaRPr lang="en-US" sz="1600" dirty="0"/>
          </a:p>
        </p:txBody>
      </p:sp>
      <p:sp>
        <p:nvSpPr>
          <p:cNvPr id="18" name="Text 2"/>
          <p:cNvSpPr/>
          <p:nvPr/>
        </p:nvSpPr>
        <p:spPr>
          <a:xfrm>
            <a:off x="47688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算法、开发、产品三类岗位各有考察重点，需针对性准备。</a:t>
            </a:r>
            <a:endParaRPr lang="en-US" sz="1600" dirty="0"/>
          </a:p>
        </p:txBody>
      </p:sp>
      <p:sp>
        <p:nvSpPr>
          <p:cNvPr id="19" name="Shape 3"/>
          <p:cNvSpPr/>
          <p:nvPr/>
        </p:nvSpPr>
        <p:spPr>
          <a:xfrm>
            <a:off x="4744085" y="3352800"/>
            <a:ext cx="2583815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Text 4"/>
          <p:cNvSpPr/>
          <p:nvPr/>
        </p:nvSpPr>
        <p:spPr>
          <a:xfrm>
            <a:off x="4744085" y="3352800"/>
            <a:ext cx="2583815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just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简历撰写</a:t>
            </a:r>
            <a:endParaRPr lang="en-US" sz="1600" dirty="0"/>
          </a:p>
        </p:txBody>
      </p:sp>
      <p:sp>
        <p:nvSpPr>
          <p:cNvPr id="21" name="Text 5"/>
          <p:cNvSpPr/>
          <p:nvPr/>
        </p:nvSpPr>
        <p:spPr>
          <a:xfrm>
            <a:off x="4368165" y="424307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提供一页纸STAR模板写项目经历，建议用Notion建立面试题库并每周复盘。</a:t>
            </a:r>
            <a:endParaRPr lang="en-US" sz="1600" dirty="0"/>
          </a:p>
        </p:txBody>
      </p:sp>
      <p:sp>
        <p:nvSpPr>
          <p:cNvPr id="22" name="Shape 6"/>
          <p:cNvSpPr/>
          <p:nvPr/>
        </p:nvSpPr>
        <p:spPr>
          <a:xfrm>
            <a:off x="8679498" y="3362960"/>
            <a:ext cx="2600960" cy="47879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Text 7"/>
          <p:cNvSpPr/>
          <p:nvPr/>
        </p:nvSpPr>
        <p:spPr>
          <a:xfrm>
            <a:off x="8679498" y="3362960"/>
            <a:ext cx="2600960" cy="478790"/>
          </a:xfrm>
          <a:prstGeom prst="rect">
            <a:avLst/>
          </a:prstGeom>
          <a:noFill/>
          <a:ln/>
        </p:spPr>
        <p:txBody>
          <a:bodyPr wrap="square" lIns="46863" tIns="90043" rIns="90043" bIns="46863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真题示例</a:t>
            </a:r>
            <a:endParaRPr lang="en-US" sz="1600" dirty="0"/>
          </a:p>
        </p:txBody>
      </p:sp>
      <p:sp>
        <p:nvSpPr>
          <p:cNvPr id="24" name="Text 8"/>
          <p:cNvSpPr/>
          <p:nvPr/>
        </p:nvSpPr>
        <p:spPr>
          <a:xfrm>
            <a:off x="8312150" y="4253230"/>
            <a:ext cx="3335655" cy="1867535"/>
          </a:xfrm>
          <a:prstGeom prst="rect">
            <a:avLst/>
          </a:prstGeom>
          <a:noFill/>
          <a:ln/>
        </p:spPr>
        <p:txBody>
          <a:bodyPr wrap="square" lIns="0" tIns="0" rIns="0" bIns="4699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给出百度地图、腾讯自动驾驶、中远海运等目标公司的真题示例，帮助学生定向准备。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rot="19920000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rot="16200000">
            <a:off x="7303770" y="-300355"/>
            <a:ext cx="464820" cy="149479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89940" y="396875"/>
            <a:ext cx="6780530" cy="622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终身学习：拥抱大模型与多模态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5-18:06:14-d2tbc5lnfo2stf9djp50.png">    </p:cNvPr>
          <p:cNvPicPr>
            <a:picLocks noChangeAspect="1"/>
          </p:cNvPicPr>
          <p:nvPr/>
        </p:nvPicPr>
        <p:blipFill>
          <a:blip r:embed="rId5"/>
          <a:srcRect l="0" r="29812" t="52708" b="0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9-05-18:06:18-d2tbc6lnfo2stf9djpe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685" y="1351280"/>
            <a:ext cx="5183505" cy="475424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09-05-18:06:15-d2tbc5tnfo2stf9djp7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507490"/>
            <a:ext cx="5380990" cy="4620260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rot="16200000">
            <a:off x="6577330" y="688975"/>
            <a:ext cx="314325" cy="101028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09-05-18:06:13-d2tbc5dnfo2stf9djo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1031875" y="1915160"/>
            <a:ext cx="4761865" cy="4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持续学习路径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1111885" y="2854960"/>
            <a:ext cx="4605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每周跟读arXiv交通AI论文、参加开源社区贡献代码、报名企业微认证课程，保持竞争力。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25-d2tbc8dnfo2stf9djpsg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7722235" y="1051560"/>
            <a:ext cx="2937510" cy="49403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13080000">
            <a:off x="10614025" y="-642620"/>
            <a:ext cx="2079625" cy="2079625"/>
          </a:xfrm>
          <a:prstGeom prst="ellipse">
            <a:avLst/>
          </a:prstGeom>
          <a:gradFill rotWithShape="1" flip="none">
            <a:gsLst>
              <a:gs pos="0">
                <a:srgbClr val="D1DCF2">
                  <a:alpha val="14000"/>
                </a:srgbClr>
              </a:gs>
              <a:gs pos="25000">
                <a:srgbClr val="B3CBF9">
                  <a:alpha val="46000"/>
                </a:srgbClr>
              </a:gs>
              <a:gs pos="66000">
                <a:srgbClr val="94B9FF">
                  <a:alpha val="77000"/>
                </a:srgbClr>
              </a:gs>
              <a:gs pos="100000">
                <a:srgbClr val="94B9FF">
                  <a:alpha val="94000"/>
                </a:srgbClr>
              </a:gs>
            </a:gsLst>
            <a:lin ang="5400000" scaled="1"/>
          </a:gradFill>
          <a:ln/>
        </p:spPr>
      </p:sp>
      <p:sp>
        <p:nvSpPr>
          <p:cNvPr id="5" name="Text 1"/>
          <p:cNvSpPr/>
          <p:nvPr/>
        </p:nvSpPr>
        <p:spPr>
          <a:xfrm rot="13080000">
            <a:off x="10614025" y="-642620"/>
            <a:ext cx="2079625" cy="20796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indent="0" marL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866380" y="1080135"/>
            <a:ext cx="2657475" cy="407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400" b="1" spc="400" kern="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2025/01/01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069330" y="1776730"/>
            <a:ext cx="5887085" cy="1128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pic>
        <p:nvPicPr>
          <p:cNvPr id="8" name="Image 2" descr="https://kimi-img.moonshot.cn/pub/slides/slides_tmpl/image/25-09-05-18:06:27-d2tbc8tnfo2stf9djpt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2162810"/>
            <a:ext cx="2831465" cy="469519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5-18:06:13-d2tbc5dnfo2stf9djp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0"/>
            <a:ext cx="2870835" cy="5048250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9-05-18:06:11-d2tbc4tnfo2stf9djos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53695" y="155575"/>
            <a:ext cx="624840" cy="200723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5-18:06:11-d2tbc4tnfo2stf9djot0.png">    </p:cNvPr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3910330" y="1856740"/>
            <a:ext cx="880110" cy="88011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210300" y="3207385"/>
            <a:ext cx="5887085" cy="1128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pic>
        <p:nvPicPr>
          <p:cNvPr id="13" name="Image 6" descr="https://kimi-img.moonshot.cn/pub/slides/slides_tmpl/image/25-09-05-18:06:25-d2tbc8dnfo2stf9djpsg.png">    </p:cNvPr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flipH="1">
            <a:off x="7866380" y="4972050"/>
            <a:ext cx="2630805" cy="49403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8037195" y="5026660"/>
            <a:ext cx="2459355" cy="386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</a:t>
            </a:r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C48C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Kimi AI</a:t>
            </a:r>
            <a:endParaRPr lang="en-US" sz="1600" dirty="0"/>
          </a:p>
        </p:txBody>
      </p:sp>
      <p:pic>
        <p:nvPicPr>
          <p:cNvPr id="15" name="Image 7" descr="https://kimi-img.moonshot.cn/pub/slides/slides_tmpl/image/25-09-05-18:06:15-d2tbc5tnfo2stf9djp7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0445" y="2961005"/>
            <a:ext cx="4531995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AI+交通融合人才成长路线图</dc:title>
  <dc:subject>AI+交通融合人才成长路线图</dc:subject>
  <dc:creator>Kimi</dc:creator>
  <cp:lastModifiedBy>Kimi</cp:lastModifiedBy>
  <cp:revision>1</cp:revision>
  <dcterms:created xsi:type="dcterms:W3CDTF">2025-09-26T03:32:24Z</dcterms:created>
  <dcterms:modified xsi:type="dcterms:W3CDTF">2025-09-26T03:32:24Z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{"Label":"AI+交通融合人才成长路线图","ContentProducer":"001191110108MACG2KBH8F10000","ProduceID":"d3b0hrfaa0v9q7gn4qc0","ReservedCode1":"","ContentPropagator":"001191110108MACG2KBH8F20000","PropagateID":"d3b0hrfaa0v9q7gn4qc0","ReservedCode2":""}</vt:lpwstr>
  </property>
</Properties>
</file>