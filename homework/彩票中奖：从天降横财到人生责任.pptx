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embeddedFontLst>
    <p:embeddedFont>
      <p:font typeface="MiSans" charset="-122" pitchFamily="34"/>
      <p:regular r:id="rId25"/>
    </p:embeddedFont>
    <p:embeddedFont>
      <p:font typeface="Noto Sans SC" charset="-122" pitchFamily="34"/>
      <p:regular r:id="rId26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openxmlformats.org/officeDocument/2006/relationships/font" Target="fonts/font1.fntdata"/><Relationship Id="rId26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jpg"/><Relationship Id="rId3" Type="http://schemas.openxmlformats.org/officeDocument/2006/relationships/image" Target="../media/image-1-3.jpg"/><Relationship Id="rId4" Type="http://schemas.openxmlformats.org/officeDocument/2006/relationships/image" Target="../media/image-1-3.jpg"/><Relationship Id="rId5" Type="http://schemas.openxmlformats.org/officeDocument/2006/relationships/image" Target="../media/image-1-5.png"/><Relationship Id="rId6" Type="http://schemas.openxmlformats.org/officeDocument/2006/relationships/image" Target="../media/image-1-5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5.png"/><Relationship Id="rId3" Type="http://schemas.openxmlformats.org/officeDocument/2006/relationships/image" Target="../media/image-1-5.png"/><Relationship Id="rId4" Type="http://schemas.openxmlformats.org/officeDocument/2006/relationships/image" Target="../media/image-1-3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image" Target="../media/image-3-2.jpg"/><Relationship Id="rId3" Type="http://schemas.openxmlformats.org/officeDocument/2006/relationships/image" Target="../media/image-3-3.jpg"/><Relationship Id="rId4" Type="http://schemas.openxmlformats.org/officeDocument/2006/relationships/image" Target="../media/image-1-3.jpg"/><Relationship Id="rId5" Type="http://schemas.openxmlformats.org/officeDocument/2006/relationships/image" Target="../media/image-1-5.png"/><Relationship Id="rId6" Type="http://schemas.openxmlformats.org/officeDocument/2006/relationships/image" Target="../media/image-1-5.png"/><Relationship Id="rId7" Type="http://schemas.openxmlformats.org/officeDocument/2006/relationships/image" Target="../media/image-1-3.jp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image" Target="../media/image-4-2.jpg"/><Relationship Id="rId3" Type="http://schemas.openxmlformats.org/officeDocument/2006/relationships/image" Target="../media/image-3-3.jpg"/><Relationship Id="rId4" Type="http://schemas.openxmlformats.org/officeDocument/2006/relationships/image" Target="../media/image-1-3.jpg"/><Relationship Id="rId5" Type="http://schemas.openxmlformats.org/officeDocument/2006/relationships/image" Target="../media/image-1-5.png"/><Relationship Id="rId6" Type="http://schemas.openxmlformats.org/officeDocument/2006/relationships/image" Target="../media/image-1-5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image" Target="../media/image-4-2.jpg"/><Relationship Id="rId3" Type="http://schemas.openxmlformats.org/officeDocument/2006/relationships/image" Target="../media/image-3-3.jpg"/><Relationship Id="rId4" Type="http://schemas.openxmlformats.org/officeDocument/2006/relationships/image" Target="../media/image-1-3.jpg"/><Relationship Id="rId5" Type="http://schemas.openxmlformats.org/officeDocument/2006/relationships/image" Target="../media/image-1-5.png"/><Relationship Id="rId6" Type="http://schemas.openxmlformats.org/officeDocument/2006/relationships/image" Target="../media/image-1-5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image" Target="../media/image-4-2.jpg"/><Relationship Id="rId3" Type="http://schemas.openxmlformats.org/officeDocument/2006/relationships/image" Target="../media/image-3-3.jpg"/><Relationship Id="rId4" Type="http://schemas.openxmlformats.org/officeDocument/2006/relationships/image" Target="../media/image-1-3.jpg"/><Relationship Id="rId5" Type="http://schemas.openxmlformats.org/officeDocument/2006/relationships/image" Target="../media/image-1-5.png"/><Relationship Id="rId6" Type="http://schemas.openxmlformats.org/officeDocument/2006/relationships/image" Target="../media/image-1-5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image" Target="../media/image-4-2.jpg"/><Relationship Id="rId3" Type="http://schemas.openxmlformats.org/officeDocument/2006/relationships/image" Target="../media/image-3-3.jpg"/><Relationship Id="rId4" Type="http://schemas.openxmlformats.org/officeDocument/2006/relationships/image" Target="../media/image-1-3.jpg"/><Relationship Id="rId5" Type="http://schemas.openxmlformats.org/officeDocument/2006/relationships/image" Target="../media/image-1-5.png"/><Relationship Id="rId6" Type="http://schemas.openxmlformats.org/officeDocument/2006/relationships/image" Target="../media/image-1-5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image" Target="../media/image-4-2.jpg"/><Relationship Id="rId3" Type="http://schemas.openxmlformats.org/officeDocument/2006/relationships/image" Target="../media/image-3-3.jpg"/><Relationship Id="rId4" Type="http://schemas.openxmlformats.org/officeDocument/2006/relationships/image" Target="../media/image-1-3.jpg"/><Relationship Id="rId5" Type="http://schemas.openxmlformats.org/officeDocument/2006/relationships/image" Target="../media/image-1-5.png"/><Relationship Id="rId6" Type="http://schemas.openxmlformats.org/officeDocument/2006/relationships/image" Target="../media/image-1-5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image" Target="../media/image-4-2.jpg"/><Relationship Id="rId3" Type="http://schemas.openxmlformats.org/officeDocument/2006/relationships/image" Target="../media/image-3-3.jpg"/><Relationship Id="rId4" Type="http://schemas.openxmlformats.org/officeDocument/2006/relationships/image" Target="../media/image-1-3.jpg"/><Relationship Id="rId5" Type="http://schemas.openxmlformats.org/officeDocument/2006/relationships/image" Target="../media/image-1-5.png"/><Relationship Id="rId6" Type="http://schemas.openxmlformats.org/officeDocument/2006/relationships/image" Target="../media/image-1-5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jpeg"/><Relationship Id="rId2" Type="http://schemas.openxmlformats.org/officeDocument/2006/relationships/image" Target="../media/image-4-2.jpg"/><Relationship Id="rId3" Type="http://schemas.openxmlformats.org/officeDocument/2006/relationships/image" Target="../media/image-3-3.jpg"/><Relationship Id="rId4" Type="http://schemas.openxmlformats.org/officeDocument/2006/relationships/image" Target="../media/image-1-3.jpg"/><Relationship Id="rId5" Type="http://schemas.openxmlformats.org/officeDocument/2006/relationships/image" Target="../media/image-1-5.png"/><Relationship Id="rId6" Type="http://schemas.openxmlformats.org/officeDocument/2006/relationships/image" Target="../media/image-1-5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jpeg"/><Relationship Id="rId2" Type="http://schemas.openxmlformats.org/officeDocument/2006/relationships/image" Target="../media/image-4-2.jpg"/><Relationship Id="rId3" Type="http://schemas.openxmlformats.org/officeDocument/2006/relationships/image" Target="../media/image-1-3.jpg"/><Relationship Id="rId4" Type="http://schemas.openxmlformats.org/officeDocument/2006/relationships/image" Target="../media/image-1-5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5-d3jn7j8s8jdo4os5dj40.jpg">    </p:cNvPr>
          <p:cNvPicPr>
            <a:picLocks noChangeAspect="1"/>
          </p:cNvPicPr>
          <p:nvPr/>
        </p:nvPicPr>
        <p:blipFill>
          <a:blip r:embed="rId2"/>
          <a:srcRect l="0" r="0" t="83" b="8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09-16:35:24-d3jn7j0s8jdo4os5diug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920" y="1707515"/>
            <a:ext cx="4963160" cy="33274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626745" y="6134418"/>
            <a:ext cx="4345305" cy="22098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5" name="Text 1"/>
          <p:cNvSpPr/>
          <p:nvPr/>
        </p:nvSpPr>
        <p:spPr>
          <a:xfrm>
            <a:off x="626745" y="6134418"/>
            <a:ext cx="4345305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0000"/>
              </a:lnSpc>
            </a:pPr>
            <a:r>
              <a:rPr lang="en-US" sz="16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汇报人：Kimi AI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7240270" y="6099810"/>
            <a:ext cx="3091815" cy="2708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ct val="90000"/>
              </a:lnSpc>
            </a:pPr>
            <a:r>
              <a:rPr lang="en-US" sz="16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汇报日期：2025/</a:t>
            </a:r>
            <a:pPr algn="r">
              <a:lnSpc>
                <a:spcPct val="90000"/>
              </a:lnSpc>
            </a:pPr>
            <a:r>
              <a:rPr lang="en-US" sz="16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05</a:t>
            </a:r>
            <a:pPr algn="r">
              <a:lnSpc>
                <a:spcPct val="90000"/>
              </a:lnSpc>
            </a:pPr>
            <a:r>
              <a:rPr lang="en-US" sz="16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/05</a:t>
            </a: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11381644" y="559691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11381644" y="656665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11381644" y="753639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 flipV="1">
            <a:off x="2304972" y="6281738"/>
            <a:ext cx="5746750" cy="1905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11" name="Text 7"/>
          <p:cNvSpPr/>
          <p:nvPr/>
        </p:nvSpPr>
        <p:spPr>
          <a:xfrm>
            <a:off x="617220" y="2134235"/>
            <a:ext cx="7715885" cy="152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4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彩票中奖：从天降横财到人生责任</a:t>
            </a:r>
            <a:endParaRPr lang="en-US" sz="1600" dirty="0"/>
          </a:p>
        </p:txBody>
      </p:sp>
      <p:pic>
        <p:nvPicPr>
          <p:cNvPr id="12" name="Image 2" descr="https://kimi-img.moonshot.cn/pub/slides/slides_tmpl/image/25-10-09-16:35:24-d3jn7j0s8jdo4os5diug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0291445" y="5408930"/>
            <a:ext cx="2170430" cy="728980"/>
          </a:xfrm>
          <a:prstGeom prst="rect">
            <a:avLst/>
          </a:prstGeom>
        </p:spPr>
      </p:pic>
      <p:pic>
        <p:nvPicPr>
          <p:cNvPr id="13" name="Image 3" descr="https://kimi-img.moonshot.cn/pub/slides/slides_tmpl/image/25-10-09-16:35:24-d3jn7j0s8jdo4os5div0.png">    </p:cNvPr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flipV="1">
            <a:off x="772795" y="534035"/>
            <a:ext cx="762000" cy="76200"/>
          </a:xfrm>
          <a:prstGeom prst="rect">
            <a:avLst/>
          </a:prstGeom>
        </p:spPr>
      </p:pic>
      <p:pic>
        <p:nvPicPr>
          <p:cNvPr id="14" name="Image 4" descr="https://kimi-img.moonshot.cn/pub/slides/slides_tmpl/image/25-10-09-16:35:24-d3jn7j0s8jdo4os5div0.png">    </p:cNvPr>
          <p:cNvPicPr>
            <a:picLocks noChangeAspect="1"/>
          </p:cNvPicPr>
          <p:nvPr/>
        </p:nvPicPr>
        <p:blipFill>
          <a:blip r:embed="rId6">
            <a:alphaModFix amt="40000"/>
          </a:blip>
          <a:stretch>
            <a:fillRect/>
          </a:stretch>
        </p:blipFill>
        <p:spPr>
          <a:xfrm flipV="1">
            <a:off x="772795" y="664845"/>
            <a:ext cx="762000" cy="762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5210" y="1243965"/>
            <a:ext cx="1408430" cy="8001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045210" y="1243965"/>
            <a:ext cx="140843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>
              <a:lnSpc>
                <a:spcPct val="130000"/>
              </a:lnSpc>
            </a:pPr>
            <a:r>
              <a:rPr lang="en-US" sz="4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目录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45210" y="2010410"/>
            <a:ext cx="2663190" cy="4296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439E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CONTENTS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125220" y="1988820"/>
            <a:ext cx="166497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11459749" y="5976241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459749" y="6073215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59749" y="6170189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pic>
        <p:nvPicPr>
          <p:cNvPr id="9" name="Image 0" descr="https://kimi-img.moonshot.cn/pub/slides/slides_tmpl/image/25-10-09-16:35:24-d3jn7j0s8jdo4os5div0.png">    </p:cNvPr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 flipV="1">
            <a:off x="851535" y="630555"/>
            <a:ext cx="762000" cy="76200"/>
          </a:xfrm>
          <a:prstGeom prst="rect">
            <a:avLst/>
          </a:prstGeom>
        </p:spPr>
      </p:pic>
      <p:pic>
        <p:nvPicPr>
          <p:cNvPr id="10" name="Image 1" descr="https://kimi-img.moonshot.cn/pub/slides/slides_tmpl/image/25-10-09-16:35:24-d3jn7j0s8jdo4os5div0.png">    </p:cNvPr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 flipV="1">
            <a:off x="851535" y="761365"/>
            <a:ext cx="762000" cy="76200"/>
          </a:xfrm>
          <a:prstGeom prst="rect">
            <a:avLst/>
          </a:prstGeom>
        </p:spPr>
      </p:pic>
      <p:pic>
        <p:nvPicPr>
          <p:cNvPr id="11" name="Image 2" descr="https://kimi-img.moonshot.cn/pub/slides/slides_tmpl/image/25-10-09-16:35:24-d3jn7j0s8jdo4os5diug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324485" y="5488305"/>
            <a:ext cx="2170430" cy="56896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9604932" y="88045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13" name="Text 8"/>
          <p:cNvSpPr/>
          <p:nvPr/>
        </p:nvSpPr>
        <p:spPr>
          <a:xfrm>
            <a:off x="4747260" y="1640840"/>
            <a:ext cx="907415" cy="802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0439E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01.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5655310" y="1835785"/>
            <a:ext cx="6013450" cy="306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5959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当幸运来敲门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4747260" y="2400935"/>
            <a:ext cx="907415" cy="802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0439E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02.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5655310" y="2599055"/>
            <a:ext cx="6014085" cy="306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5959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安顿家庭筑牢后盾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4747260" y="3207385"/>
            <a:ext cx="907415" cy="802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0439E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03.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5655310" y="3385820"/>
            <a:ext cx="6014085" cy="306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5959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投资自我提升能力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4747260" y="4014470"/>
            <a:ext cx="907415" cy="802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0439E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04.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5655310" y="4184015"/>
            <a:ext cx="6014720" cy="306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5959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回馈社会传递温暖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4747260" y="4791710"/>
            <a:ext cx="907415" cy="802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0439E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05.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5655310" y="4989830"/>
            <a:ext cx="6012815" cy="306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5959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幸运的意义在责任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5-d3jn7j8s8jdo4os5dj10.jpg">    </p:cNvPr>
          <p:cNvPicPr>
            <a:picLocks noChangeAspect="1"/>
          </p:cNvPicPr>
          <p:nvPr/>
        </p:nvPicPr>
        <p:blipFill>
          <a:blip r:embed="rId2"/>
          <a:srcRect l="0" r="0" t="83" b="8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09-16:35:24-d3jn7j0s8jdo4os5divg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0620" y="2867660"/>
            <a:ext cx="9786620" cy="192151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10-09-16:35:24-d3jn7j0s8jdo4os5diug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2555875" y="1463040"/>
            <a:ext cx="1920875" cy="4730750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1045210" y="1243965"/>
            <a:ext cx="1408430" cy="8001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6" name="Text 1"/>
          <p:cNvSpPr/>
          <p:nvPr/>
        </p:nvSpPr>
        <p:spPr>
          <a:xfrm>
            <a:off x="1045210" y="1243965"/>
            <a:ext cx="140843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>
              <a:lnSpc>
                <a:spcPct val="130000"/>
              </a:lnSpc>
            </a:pPr>
            <a:r>
              <a:rPr lang="en-US" sz="4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目录</a:t>
            </a:r>
            <a:endParaRPr lang="en-US" sz="1600" dirty="0"/>
          </a:p>
        </p:txBody>
      </p:sp>
      <p:sp>
        <p:nvSpPr>
          <p:cNvPr id="7" name="Text 2"/>
          <p:cNvSpPr/>
          <p:nvPr/>
        </p:nvSpPr>
        <p:spPr>
          <a:xfrm>
            <a:off x="1045210" y="2010410"/>
            <a:ext cx="2663190" cy="4296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439E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CONTENTS</a:t>
            </a:r>
            <a:endParaRPr lang="en-US" sz="1600" dirty="0"/>
          </a:p>
        </p:txBody>
      </p:sp>
      <p:sp>
        <p:nvSpPr>
          <p:cNvPr id="8" name="Shape 3"/>
          <p:cNvSpPr/>
          <p:nvPr/>
        </p:nvSpPr>
        <p:spPr>
          <a:xfrm>
            <a:off x="1125220" y="1988820"/>
            <a:ext cx="166497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9" name="Shape 4"/>
          <p:cNvSpPr/>
          <p:nvPr/>
        </p:nvSpPr>
        <p:spPr>
          <a:xfrm>
            <a:off x="11459749" y="5976241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11459749" y="6073215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11459749" y="6170189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pic>
        <p:nvPicPr>
          <p:cNvPr id="12" name="Image 3" descr="https://kimi-img.moonshot.cn/pub/slides/slides_tmpl/image/25-10-09-16:35:24-d3jn7j0s8jdo4os5div0.png">    </p:cNvPr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flipV="1">
            <a:off x="851535" y="630555"/>
            <a:ext cx="762000" cy="76200"/>
          </a:xfrm>
          <a:prstGeom prst="rect">
            <a:avLst/>
          </a:prstGeom>
        </p:spPr>
      </p:pic>
      <p:pic>
        <p:nvPicPr>
          <p:cNvPr id="13" name="Image 4" descr="https://kimi-img.moonshot.cn/pub/slides/slides_tmpl/image/25-10-09-16:35:24-d3jn7j0s8jdo4os5div0.png">    </p:cNvPr>
          <p:cNvPicPr>
            <a:picLocks noChangeAspect="1"/>
          </p:cNvPicPr>
          <p:nvPr/>
        </p:nvPicPr>
        <p:blipFill>
          <a:blip r:embed="rId6">
            <a:alphaModFix amt="40000"/>
          </a:blip>
          <a:stretch>
            <a:fillRect/>
          </a:stretch>
        </p:blipFill>
        <p:spPr>
          <a:xfrm flipV="1">
            <a:off x="851535" y="761365"/>
            <a:ext cx="762000" cy="76200"/>
          </a:xfrm>
          <a:prstGeom prst="rect">
            <a:avLst/>
          </a:prstGeom>
        </p:spPr>
      </p:pic>
      <p:pic>
        <p:nvPicPr>
          <p:cNvPr id="14" name="Image 5" descr="https://kimi-img.moonshot.cn/pub/slides/slides_tmpl/image/25-10-09-16:35:24-d3jn7j0s8jdo4os5diug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10055225" y="3750310"/>
            <a:ext cx="1920875" cy="15621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865630" y="3369945"/>
            <a:ext cx="842645" cy="6137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pPr>
              <a:lnSpc>
                <a:spcPct val="100000"/>
              </a:lnSpc>
            </a:pPr>
            <a:r>
              <a:rPr lang="en-US" sz="4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endParaRPr lang="en-US" sz="1600" dirty="0"/>
          </a:p>
        </p:txBody>
      </p:sp>
      <p:sp>
        <p:nvSpPr>
          <p:cNvPr id="16" name="Text 8"/>
          <p:cNvSpPr/>
          <p:nvPr/>
        </p:nvSpPr>
        <p:spPr>
          <a:xfrm>
            <a:off x="2712720" y="3367405"/>
            <a:ext cx="24098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超越彩票的人生幸运</a:t>
            </a:r>
            <a:endParaRPr lang="en-US" sz="1600" dirty="0"/>
          </a:p>
        </p:txBody>
      </p:sp>
      <p:sp>
        <p:nvSpPr>
          <p:cNvPr id="17" name="Text 9"/>
          <p:cNvSpPr/>
          <p:nvPr/>
        </p:nvSpPr>
        <p:spPr>
          <a:xfrm>
            <a:off x="6854190" y="3369945"/>
            <a:ext cx="941070" cy="6137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0439E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pPr>
              <a:lnSpc>
                <a:spcPct val="100000"/>
              </a:lnSpc>
            </a:pPr>
            <a:r>
              <a:rPr lang="en-US" sz="4000" dirty="0">
                <a:solidFill>
                  <a:srgbClr val="0439E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endParaRPr lang="en-US" sz="1600" dirty="0"/>
          </a:p>
        </p:txBody>
      </p:sp>
      <p:sp>
        <p:nvSpPr>
          <p:cNvPr id="18" name="Text 10"/>
          <p:cNvSpPr/>
          <p:nvPr/>
        </p:nvSpPr>
        <p:spPr>
          <a:xfrm>
            <a:off x="7656195" y="3367405"/>
            <a:ext cx="24098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脚踏实地创造精彩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6-d3jn7jgs8jdo4os5dj50.jpg">    </p:cNvPr>
          <p:cNvPicPr>
            <a:picLocks noChangeAspect="1"/>
          </p:cNvPicPr>
          <p:nvPr/>
        </p:nvPicPr>
        <p:blipFill>
          <a:blip r:embed="rId2">
            <a:alphaModFix amt="56000"/>
          </a:blip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09-16:35:24-d3jn7j0s8jdo4os5divg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7505" y="3536315"/>
            <a:ext cx="6823710" cy="73660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10-09-16:35:24-d3jn7j0s8jdo4os5diug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537845" y="5898515"/>
            <a:ext cx="1703705" cy="37719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499889" y="2317433"/>
            <a:ext cx="1618942" cy="13128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500" dirty="0">
                <a:solidFill>
                  <a:srgbClr val="0439E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1"/>
          <p:cNvSpPr/>
          <p:nvPr/>
        </p:nvSpPr>
        <p:spPr>
          <a:xfrm>
            <a:off x="3005773" y="3643630"/>
            <a:ext cx="6607175" cy="521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34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当幸运来敲门</a:t>
            </a:r>
            <a:endParaRPr lang="en-US" sz="1600" dirty="0"/>
          </a:p>
        </p:txBody>
      </p:sp>
      <p:sp>
        <p:nvSpPr>
          <p:cNvPr id="7" name="Shape 2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8" name="Shape 3"/>
          <p:cNvSpPr/>
          <p:nvPr/>
        </p:nvSpPr>
        <p:spPr>
          <a:xfrm>
            <a:off x="11459749" y="6039741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9" name="Shape 4"/>
          <p:cNvSpPr/>
          <p:nvPr/>
        </p:nvSpPr>
        <p:spPr>
          <a:xfrm>
            <a:off x="11459749" y="6136715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11459749" y="6233689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pic>
        <p:nvPicPr>
          <p:cNvPr id="11" name="Image 3" descr="https://kimi-img.moonshot.cn/pub/slides/slides_tmpl/image/25-10-09-16:35:24-d3jn7j0s8jdo4os5div0.png">    </p:cNvPr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flipV="1">
            <a:off x="851535" y="630555"/>
            <a:ext cx="762000" cy="76200"/>
          </a:xfrm>
          <a:prstGeom prst="rect">
            <a:avLst/>
          </a:prstGeom>
        </p:spPr>
      </p:pic>
      <p:pic>
        <p:nvPicPr>
          <p:cNvPr id="12" name="Image 4" descr="https://kimi-img.moonshot.cn/pub/slides/slides_tmpl/image/25-10-09-16:35:24-d3jn7j0s8jdo4os5div0.png">    </p:cNvPr>
          <p:cNvPicPr>
            <a:picLocks noChangeAspect="1"/>
          </p:cNvPicPr>
          <p:nvPr/>
        </p:nvPicPr>
        <p:blipFill>
          <a:blip r:embed="rId6">
            <a:alphaModFix amt="40000"/>
          </a:blip>
          <a:stretch>
            <a:fillRect/>
          </a:stretch>
        </p:blipFill>
        <p:spPr>
          <a:xfrm flipV="1">
            <a:off x="851535" y="761365"/>
            <a:ext cx="762000" cy="762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5-d3jn7j8s8jdo4os5dj2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6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54000" y="254000"/>
            <a:ext cx="11912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007B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引子：当幸运突然敲门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254000" y="863600"/>
            <a:ext cx="11798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6A728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一个关于概率与选择的思考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254000" y="2235200"/>
            <a:ext cx="4508500" cy="1117600"/>
          </a:xfrm>
          <a:custGeom>
            <a:avLst/>
            <a:gdLst/>
            <a:ahLst/>
            <a:cxnLst/>
            <a:rect l="l" t="t" r="r" b="b"/>
            <a:pathLst>
              <a:path w="4508500" h="1117600">
                <a:moveTo>
                  <a:pt x="101601" y="0"/>
                </a:moveTo>
                <a:lnTo>
                  <a:pt x="4406899" y="0"/>
                </a:lnTo>
                <a:cubicBezTo>
                  <a:pt x="4463012" y="0"/>
                  <a:pt x="4508500" y="45488"/>
                  <a:pt x="4508500" y="101601"/>
                </a:cubicBezTo>
                <a:lnTo>
                  <a:pt x="4508500" y="1015999"/>
                </a:lnTo>
                <a:cubicBezTo>
                  <a:pt x="4508500" y="1072112"/>
                  <a:pt x="4463012" y="1117600"/>
                  <a:pt x="4406899" y="1117600"/>
                </a:cubicBezTo>
                <a:lnTo>
                  <a:pt x="101601" y="1117600"/>
                </a:lnTo>
                <a:cubicBezTo>
                  <a:pt x="45488" y="1117600"/>
                  <a:pt x="0" y="1072112"/>
                  <a:pt x="0" y="1015999"/>
                </a:cubicBezTo>
                <a:lnTo>
                  <a:pt x="0" y="101601"/>
                </a:lnTo>
                <a:cubicBezTo>
                  <a:pt x="0" y="45526"/>
                  <a:pt x="45526" y="0"/>
                  <a:pt x="101601" y="0"/>
                </a:cubicBezTo>
                <a:close/>
              </a:path>
            </a:pathLst>
          </a:custGeom>
          <a:solidFill>
            <a:srgbClr val="007BFF">
              <a:alpha val="10196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2438400"/>
            <a:ext cx="4191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007B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双色球头奖概率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2692400"/>
            <a:ext cx="4292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1/1772万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254000" y="3556000"/>
            <a:ext cx="4508500" cy="1117600"/>
          </a:xfrm>
          <a:custGeom>
            <a:avLst/>
            <a:gdLst/>
            <a:ahLst/>
            <a:cxnLst/>
            <a:rect l="l" t="t" r="r" b="b"/>
            <a:pathLst>
              <a:path w="4508500" h="1117600">
                <a:moveTo>
                  <a:pt x="101601" y="0"/>
                </a:moveTo>
                <a:lnTo>
                  <a:pt x="4406899" y="0"/>
                </a:lnTo>
                <a:cubicBezTo>
                  <a:pt x="4463012" y="0"/>
                  <a:pt x="4508500" y="45488"/>
                  <a:pt x="4508500" y="101601"/>
                </a:cubicBezTo>
                <a:lnTo>
                  <a:pt x="4508500" y="1015999"/>
                </a:lnTo>
                <a:cubicBezTo>
                  <a:pt x="4508500" y="1072112"/>
                  <a:pt x="4463012" y="1117600"/>
                  <a:pt x="4406899" y="1117600"/>
                </a:cubicBezTo>
                <a:lnTo>
                  <a:pt x="101601" y="1117600"/>
                </a:lnTo>
                <a:cubicBezTo>
                  <a:pt x="45488" y="1117600"/>
                  <a:pt x="0" y="1072112"/>
                  <a:pt x="0" y="1015999"/>
                </a:cubicBezTo>
                <a:lnTo>
                  <a:pt x="0" y="101601"/>
                </a:lnTo>
                <a:cubicBezTo>
                  <a:pt x="0" y="45526"/>
                  <a:pt x="45526" y="0"/>
                  <a:pt x="101601" y="0"/>
                </a:cubicBezTo>
                <a:close/>
              </a:path>
            </a:pathLst>
          </a:custGeom>
          <a:solidFill>
            <a:srgbClr val="0056B3">
              <a:alpha val="10196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3759200"/>
            <a:ext cx="4191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0056B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大乐透头奖概率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57200" y="4013200"/>
            <a:ext cx="4292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1/2142万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254000" y="4876800"/>
            <a:ext cx="4508500" cy="1117600"/>
          </a:xfrm>
          <a:custGeom>
            <a:avLst/>
            <a:gdLst/>
            <a:ahLst/>
            <a:cxnLst/>
            <a:rect l="l" t="t" r="r" b="b"/>
            <a:pathLst>
              <a:path w="4508500" h="1117600">
                <a:moveTo>
                  <a:pt x="101601" y="0"/>
                </a:moveTo>
                <a:lnTo>
                  <a:pt x="4406899" y="0"/>
                </a:lnTo>
                <a:cubicBezTo>
                  <a:pt x="4463012" y="0"/>
                  <a:pt x="4508500" y="45488"/>
                  <a:pt x="4508500" y="101601"/>
                </a:cubicBezTo>
                <a:lnTo>
                  <a:pt x="4508500" y="1015999"/>
                </a:lnTo>
                <a:cubicBezTo>
                  <a:pt x="4508500" y="1072112"/>
                  <a:pt x="4463012" y="1117600"/>
                  <a:pt x="4406899" y="1117600"/>
                </a:cubicBezTo>
                <a:lnTo>
                  <a:pt x="101601" y="1117600"/>
                </a:lnTo>
                <a:cubicBezTo>
                  <a:pt x="45488" y="1117600"/>
                  <a:pt x="0" y="1072112"/>
                  <a:pt x="0" y="1015999"/>
                </a:cubicBezTo>
                <a:lnTo>
                  <a:pt x="0" y="101601"/>
                </a:lnTo>
                <a:cubicBezTo>
                  <a:pt x="0" y="45526"/>
                  <a:pt x="45526" y="0"/>
                  <a:pt x="101601" y="0"/>
                </a:cubicBezTo>
                <a:close/>
              </a:path>
            </a:pathLst>
          </a:custGeom>
          <a:solidFill>
            <a:srgbClr val="FFC107">
              <a:alpha val="20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457200" y="5080000"/>
            <a:ext cx="4191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FFC10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被闪电击中概率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5334000"/>
            <a:ext cx="4292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1/100万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190199" y="2311400"/>
            <a:ext cx="50800" cy="3606800"/>
          </a:xfrm>
          <a:custGeom>
            <a:avLst/>
            <a:gdLst/>
            <a:ahLst/>
            <a:cxnLst/>
            <a:rect l="l" t="t" r="r" b="b"/>
            <a:pathLst>
              <a:path w="50800" h="3606800">
                <a:moveTo>
                  <a:pt x="0" y="0"/>
                </a:moveTo>
                <a:lnTo>
                  <a:pt x="50800" y="0"/>
                </a:lnTo>
                <a:lnTo>
                  <a:pt x="50800" y="3606800"/>
                </a:lnTo>
                <a:lnTo>
                  <a:pt x="0" y="3606800"/>
                </a:lnTo>
                <a:lnTo>
                  <a:pt x="0" y="0"/>
                </a:lnTo>
                <a:close/>
              </a:path>
            </a:pathLst>
          </a:custGeom>
          <a:solidFill>
            <a:srgbClr val="007BFF"/>
          </a:solidFill>
          <a:ln/>
        </p:spPr>
      </p:sp>
      <p:sp>
        <p:nvSpPr>
          <p:cNvPr id="15" name="Text 12"/>
          <p:cNvSpPr/>
          <p:nvPr/>
        </p:nvSpPr>
        <p:spPr>
          <a:xfrm>
            <a:off x="5621999" y="2311400"/>
            <a:ext cx="6438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007B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理性看待“天降横财”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621999" y="2768600"/>
            <a:ext cx="6413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彩票中奖是概率极低的幸运事件，它不是人生的“捷径”，而是考验</a:t>
            </a:r>
            <a:pPr>
              <a:lnSpc>
                <a:spcPct val="130000"/>
              </a:lnSpc>
            </a:pPr>
            <a:r>
              <a:rPr lang="en-US" sz="1600" dirty="0">
                <a:solidFill>
                  <a:srgbClr val="333333"/>
                </a:solidFill>
                <a:highlight>
                  <a:srgbClr val="FFC107">
                    <a:alpha val="100000"/>
                  </a:srgbClr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责任与担当 </a:t>
            </a:r>
            <a:pPr>
              <a:lnSpc>
                <a:spcPct val="130000"/>
              </a:lnSpc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的契机。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621999" y="3683000"/>
            <a:ext cx="6438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0056B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核心提问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621999" y="4140200"/>
            <a:ext cx="6413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如果幸运降临，我们是被财富定义，还是用财富定义人生？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5621999" y="4749800"/>
            <a:ext cx="6311900" cy="1168400"/>
          </a:xfrm>
          <a:custGeom>
            <a:avLst/>
            <a:gdLst/>
            <a:ahLst/>
            <a:cxnLst/>
            <a:rect l="l" t="t" r="r" b="b"/>
            <a:pathLst>
              <a:path w="6311900" h="1168400">
                <a:moveTo>
                  <a:pt x="101604" y="0"/>
                </a:moveTo>
                <a:lnTo>
                  <a:pt x="6210296" y="0"/>
                </a:lnTo>
                <a:cubicBezTo>
                  <a:pt x="6266410" y="0"/>
                  <a:pt x="6311900" y="45490"/>
                  <a:pt x="6311900" y="101604"/>
                </a:cubicBezTo>
                <a:lnTo>
                  <a:pt x="6311900" y="1066796"/>
                </a:lnTo>
                <a:cubicBezTo>
                  <a:pt x="6311900" y="1122910"/>
                  <a:pt x="6266410" y="1168400"/>
                  <a:pt x="6210296" y="1168400"/>
                </a:cubicBezTo>
                <a:lnTo>
                  <a:pt x="101604" y="1168400"/>
                </a:lnTo>
                <a:cubicBezTo>
                  <a:pt x="45490" y="1168400"/>
                  <a:pt x="0" y="1122910"/>
                  <a:pt x="0" y="1066796"/>
                </a:cubicBezTo>
                <a:lnTo>
                  <a:pt x="0" y="101604"/>
                </a:lnTo>
                <a:cubicBezTo>
                  <a:pt x="0" y="45527"/>
                  <a:pt x="45527" y="0"/>
                  <a:pt x="101604" y="0"/>
                </a:cubicBezTo>
                <a:close/>
              </a:path>
            </a:pathLst>
          </a:custGeom>
          <a:solidFill>
            <a:srgbClr val="007BFF">
              <a:alpha val="80000"/>
            </a:srgbClr>
          </a:solidFill>
          <a:ln/>
          <a:effectLst>
            <a:outerShdw sx="100000" sy="100000" kx="0" ky="0" algn="bl" rotWithShape="0" blurRad="190500" dist="127000" dir="5400000">
              <a:srgbClr val="000000">
                <a:alpha val="10196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5825199" y="4953000"/>
            <a:ext cx="6032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我的选择宣言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825199" y="5410200"/>
            <a:ext cx="6007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兼顾个人、家庭与社会，让幸运更有价值，让财富更有温度。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6-d3jn7jgs8jdo4os5dj50.jpg">    </p:cNvPr>
          <p:cNvPicPr>
            <a:picLocks noChangeAspect="1"/>
          </p:cNvPicPr>
          <p:nvPr/>
        </p:nvPicPr>
        <p:blipFill>
          <a:blip r:embed="rId2">
            <a:alphaModFix amt="56000"/>
          </a:blip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09-16:35:24-d3jn7j0s8jdo4os5divg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7505" y="3536315"/>
            <a:ext cx="6823710" cy="73660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10-09-16:35:24-d3jn7j0s8jdo4os5diug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537845" y="5898515"/>
            <a:ext cx="1703705" cy="37719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499889" y="2317433"/>
            <a:ext cx="1618942" cy="13128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500" dirty="0">
                <a:solidFill>
                  <a:srgbClr val="0439E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6" name="Text 1"/>
          <p:cNvSpPr/>
          <p:nvPr/>
        </p:nvSpPr>
        <p:spPr>
          <a:xfrm>
            <a:off x="3005773" y="3643630"/>
            <a:ext cx="6607175" cy="521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34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安顿家庭筑牢后盾</a:t>
            </a:r>
            <a:endParaRPr lang="en-US" sz="1600" dirty="0"/>
          </a:p>
        </p:txBody>
      </p:sp>
      <p:sp>
        <p:nvSpPr>
          <p:cNvPr id="7" name="Shape 2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8" name="Shape 3"/>
          <p:cNvSpPr/>
          <p:nvPr/>
        </p:nvSpPr>
        <p:spPr>
          <a:xfrm>
            <a:off x="11459749" y="6039741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9" name="Shape 4"/>
          <p:cNvSpPr/>
          <p:nvPr/>
        </p:nvSpPr>
        <p:spPr>
          <a:xfrm>
            <a:off x="11459749" y="6136715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11459749" y="6233689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pic>
        <p:nvPicPr>
          <p:cNvPr id="11" name="Image 3" descr="https://kimi-img.moonshot.cn/pub/slides/slides_tmpl/image/25-10-09-16:35:24-d3jn7j0s8jdo4os5div0.png">    </p:cNvPr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flipV="1">
            <a:off x="851535" y="630555"/>
            <a:ext cx="762000" cy="76200"/>
          </a:xfrm>
          <a:prstGeom prst="rect">
            <a:avLst/>
          </a:prstGeom>
        </p:spPr>
      </p:pic>
      <p:pic>
        <p:nvPicPr>
          <p:cNvPr id="12" name="Image 4" descr="https://kimi-img.moonshot.cn/pub/slides/slides_tmpl/image/25-10-09-16:35:24-d3jn7j0s8jdo4os5div0.png">    </p:cNvPr>
          <p:cNvPicPr>
            <a:picLocks noChangeAspect="1"/>
          </p:cNvPicPr>
          <p:nvPr/>
        </p:nvPicPr>
        <p:blipFill>
          <a:blip r:embed="rId6">
            <a:alphaModFix amt="40000"/>
          </a:blip>
          <a:stretch>
            <a:fillRect/>
          </a:stretch>
        </p:blipFill>
        <p:spPr>
          <a:xfrm flipV="1">
            <a:off x="851535" y="761365"/>
            <a:ext cx="762000" cy="762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5-d3jn7j8s8jdo4os5dj2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63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54000" y="2540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007BFF"/>
          </a:solidFill>
          <a:ln/>
        </p:spPr>
      </p:sp>
      <p:sp>
        <p:nvSpPr>
          <p:cNvPr id="4" name="Shape 1"/>
          <p:cNvSpPr/>
          <p:nvPr/>
        </p:nvSpPr>
        <p:spPr>
          <a:xfrm>
            <a:off x="422275" y="469900"/>
            <a:ext cx="482600" cy="381000"/>
          </a:xfrm>
          <a:custGeom>
            <a:avLst/>
            <a:gdLst/>
            <a:ahLst/>
            <a:cxnLst/>
            <a:rect l="l" t="t" r="r" b="b"/>
            <a:pathLst>
              <a:path w="482600" h="381000"/>
            </a:pathLst>
          </a:custGeom>
          <a:solidFill>
            <a:srgbClr val="FFFFFF"/>
          </a:solidFill>
          <a:ln/>
        </p:spPr>
      </p:sp>
      <p:sp>
        <p:nvSpPr>
          <p:cNvPr id="5" name="Text 2"/>
          <p:cNvSpPr/>
          <p:nvPr/>
        </p:nvSpPr>
        <p:spPr>
          <a:xfrm>
            <a:off x="1270000" y="254000"/>
            <a:ext cx="5143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007B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第一步：安顿家庭，筑牢后盾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270000" y="711200"/>
            <a:ext cx="5067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4A556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家是永远的港湾，财富应首先守护这份温暖。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254000" y="1371600"/>
            <a:ext cx="3721100" cy="4419600"/>
          </a:xfrm>
          <a:custGeom>
            <a:avLst/>
            <a:gdLst/>
            <a:ahLst/>
            <a:cxnLst/>
            <a:rect l="l" t="t" r="r" b="b"/>
            <a:pathLst>
              <a:path w="3721100" h="4419600">
                <a:moveTo>
                  <a:pt x="101586" y="0"/>
                </a:moveTo>
                <a:lnTo>
                  <a:pt x="3619514" y="0"/>
                </a:lnTo>
                <a:cubicBezTo>
                  <a:pt x="3675618" y="0"/>
                  <a:pt x="3721100" y="45482"/>
                  <a:pt x="3721100" y="101586"/>
                </a:cubicBezTo>
                <a:lnTo>
                  <a:pt x="3721100" y="4318014"/>
                </a:lnTo>
                <a:cubicBezTo>
                  <a:pt x="3721100" y="4374118"/>
                  <a:pt x="3675618" y="4419600"/>
                  <a:pt x="3619514" y="4419600"/>
                </a:cubicBezTo>
                <a:lnTo>
                  <a:pt x="101586" y="4419600"/>
                </a:lnTo>
                <a:cubicBezTo>
                  <a:pt x="45482" y="4419600"/>
                  <a:pt x="0" y="4374118"/>
                  <a:pt x="0" y="4318014"/>
                </a:cubicBezTo>
                <a:lnTo>
                  <a:pt x="0" y="101586"/>
                </a:lnTo>
                <a:cubicBezTo>
                  <a:pt x="0" y="45519"/>
                  <a:pt x="45519" y="0"/>
                  <a:pt x="101586" y="0"/>
                </a:cubicBezTo>
                <a:close/>
              </a:path>
            </a:pathLst>
          </a:custGeom>
          <a:solidFill>
            <a:srgbClr val="007BFF">
              <a:alpha val="10196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1574800"/>
            <a:ext cx="3429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007B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父母的安心晚年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57200" y="2032000"/>
            <a:ext cx="34036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4000" indent="-25400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建立养老金专项账户</a:t>
            </a:r>
            <a:endParaRPr lang="en-US" sz="1600" dirty="0"/>
          </a:p>
          <a:p>
            <a:pPr marL="254000" indent="-25400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覆盖健康检查与疾病治疗</a:t>
            </a:r>
            <a:endParaRPr lang="en-US" sz="1600" dirty="0"/>
          </a:p>
          <a:p>
            <a:pPr marL="254000" indent="-25400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实现父母舍不得的小梦想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233333" y="1371600"/>
            <a:ext cx="3721100" cy="4419600"/>
          </a:xfrm>
          <a:custGeom>
            <a:avLst/>
            <a:gdLst/>
            <a:ahLst/>
            <a:cxnLst/>
            <a:rect l="l" t="t" r="r" b="b"/>
            <a:pathLst>
              <a:path w="3721100" h="4419600">
                <a:moveTo>
                  <a:pt x="101586" y="0"/>
                </a:moveTo>
                <a:lnTo>
                  <a:pt x="3619514" y="0"/>
                </a:lnTo>
                <a:cubicBezTo>
                  <a:pt x="3675618" y="0"/>
                  <a:pt x="3721100" y="45482"/>
                  <a:pt x="3721100" y="101586"/>
                </a:cubicBezTo>
                <a:lnTo>
                  <a:pt x="3721100" y="4318014"/>
                </a:lnTo>
                <a:cubicBezTo>
                  <a:pt x="3721100" y="4374118"/>
                  <a:pt x="3675618" y="4419600"/>
                  <a:pt x="3619514" y="4419600"/>
                </a:cubicBezTo>
                <a:lnTo>
                  <a:pt x="101586" y="4419600"/>
                </a:lnTo>
                <a:cubicBezTo>
                  <a:pt x="45482" y="4419600"/>
                  <a:pt x="0" y="4374118"/>
                  <a:pt x="0" y="4318014"/>
                </a:cubicBezTo>
                <a:lnTo>
                  <a:pt x="0" y="101586"/>
                </a:lnTo>
                <a:cubicBezTo>
                  <a:pt x="0" y="45519"/>
                  <a:pt x="45519" y="0"/>
                  <a:pt x="101586" y="0"/>
                </a:cubicBezTo>
                <a:close/>
              </a:path>
            </a:pathLst>
          </a:custGeom>
          <a:solidFill>
            <a:srgbClr val="0056B3">
              <a:alpha val="10196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4436533" y="1574800"/>
            <a:ext cx="3429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0056B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家庭的稳定基石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436533" y="2032000"/>
            <a:ext cx="34036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4000" indent="-25400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建立“家庭应急基金”</a:t>
            </a:r>
            <a:endParaRPr lang="en-US" sz="1600" dirty="0"/>
          </a:p>
          <a:p>
            <a:pPr marL="254000" indent="-25400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合理改善居住环境</a:t>
            </a:r>
            <a:endParaRPr lang="en-US" sz="1600" dirty="0"/>
          </a:p>
          <a:p>
            <a:pPr marL="254000" indent="-25400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警惕“暴富心理陷阱”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212667" y="1371600"/>
            <a:ext cx="3721100" cy="4419600"/>
          </a:xfrm>
          <a:custGeom>
            <a:avLst/>
            <a:gdLst/>
            <a:ahLst/>
            <a:cxnLst/>
            <a:rect l="l" t="t" r="r" b="b"/>
            <a:pathLst>
              <a:path w="3721100" h="4419600">
                <a:moveTo>
                  <a:pt x="101586" y="0"/>
                </a:moveTo>
                <a:lnTo>
                  <a:pt x="3619514" y="0"/>
                </a:lnTo>
                <a:cubicBezTo>
                  <a:pt x="3675618" y="0"/>
                  <a:pt x="3721100" y="45482"/>
                  <a:pt x="3721100" y="101586"/>
                </a:cubicBezTo>
                <a:lnTo>
                  <a:pt x="3721100" y="4318014"/>
                </a:lnTo>
                <a:cubicBezTo>
                  <a:pt x="3721100" y="4374118"/>
                  <a:pt x="3675618" y="4419600"/>
                  <a:pt x="3619514" y="4419600"/>
                </a:cubicBezTo>
                <a:lnTo>
                  <a:pt x="101586" y="4419600"/>
                </a:lnTo>
                <a:cubicBezTo>
                  <a:pt x="45482" y="4419600"/>
                  <a:pt x="0" y="4374118"/>
                  <a:pt x="0" y="4318014"/>
                </a:cubicBezTo>
                <a:lnTo>
                  <a:pt x="0" y="101586"/>
                </a:lnTo>
                <a:cubicBezTo>
                  <a:pt x="0" y="45519"/>
                  <a:pt x="45519" y="0"/>
                  <a:pt x="101586" y="0"/>
                </a:cubicBezTo>
                <a:close/>
              </a:path>
            </a:pathLst>
          </a:custGeom>
          <a:solidFill>
            <a:srgbClr val="FFC107">
              <a:alpha val="2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8415867" y="1574800"/>
            <a:ext cx="3429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FC10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生活节奏的坚守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415867" y="2032000"/>
            <a:ext cx="34036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4000" indent="-25400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不改变家庭相处方式</a:t>
            </a:r>
            <a:endParaRPr lang="en-US" sz="1600" dirty="0"/>
          </a:p>
          <a:p>
            <a:pPr marL="254000" indent="-25400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维持原有生活圈子</a:t>
            </a:r>
            <a:endParaRPr lang="en-US" sz="1600" dirty="0"/>
          </a:p>
          <a:p>
            <a:pPr marL="254000" indent="-25400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让财富服务生活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254000" y="5994400"/>
            <a:ext cx="11684000" cy="609600"/>
          </a:xfrm>
          <a:custGeom>
            <a:avLst/>
            <a:gdLst/>
            <a:ahLst/>
            <a:cxnLst/>
            <a:rect l="l" t="t" r="r" b="b"/>
            <a:pathLst>
              <a:path w="11684000" h="609600">
                <a:moveTo>
                  <a:pt x="101602" y="0"/>
                </a:moveTo>
                <a:lnTo>
                  <a:pt x="11582398" y="0"/>
                </a:lnTo>
                <a:cubicBezTo>
                  <a:pt x="11638511" y="0"/>
                  <a:pt x="11684000" y="45489"/>
                  <a:pt x="11684000" y="101602"/>
                </a:cubicBezTo>
                <a:lnTo>
                  <a:pt x="11684000" y="507998"/>
                </a:lnTo>
                <a:cubicBezTo>
                  <a:pt x="11684000" y="564111"/>
                  <a:pt x="11638511" y="609600"/>
                  <a:pt x="115823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F3F4F6"/>
          </a:solidFill>
          <a:ln/>
        </p:spPr>
      </p:sp>
      <p:sp>
        <p:nvSpPr>
          <p:cNvPr id="17" name="Text 14"/>
          <p:cNvSpPr/>
          <p:nvPr/>
        </p:nvSpPr>
        <p:spPr>
          <a:xfrm>
            <a:off x="355600" y="6146800"/>
            <a:ext cx="1148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关键原则：让财富服务生活，而不是生活服务财富。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6-d3jn7jgs8jdo4os5dj50.jpg">    </p:cNvPr>
          <p:cNvPicPr>
            <a:picLocks noChangeAspect="1"/>
          </p:cNvPicPr>
          <p:nvPr/>
        </p:nvPicPr>
        <p:blipFill>
          <a:blip r:embed="rId2">
            <a:alphaModFix amt="56000"/>
          </a:blip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09-16:35:24-d3jn7j0s8jdo4os5divg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7505" y="3536315"/>
            <a:ext cx="6823710" cy="73660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10-09-16:35:24-d3jn7j0s8jdo4os5diug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537845" y="5898515"/>
            <a:ext cx="1703705" cy="37719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499889" y="2317433"/>
            <a:ext cx="1618942" cy="13128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500" dirty="0">
                <a:solidFill>
                  <a:srgbClr val="0439E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6" name="Text 1"/>
          <p:cNvSpPr/>
          <p:nvPr/>
        </p:nvSpPr>
        <p:spPr>
          <a:xfrm>
            <a:off x="3005773" y="3643630"/>
            <a:ext cx="6607175" cy="521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34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投资自我提升能力</a:t>
            </a:r>
            <a:endParaRPr lang="en-US" sz="1600" dirty="0"/>
          </a:p>
        </p:txBody>
      </p:sp>
      <p:sp>
        <p:nvSpPr>
          <p:cNvPr id="7" name="Shape 2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8" name="Shape 3"/>
          <p:cNvSpPr/>
          <p:nvPr/>
        </p:nvSpPr>
        <p:spPr>
          <a:xfrm>
            <a:off x="11459749" y="6039741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9" name="Shape 4"/>
          <p:cNvSpPr/>
          <p:nvPr/>
        </p:nvSpPr>
        <p:spPr>
          <a:xfrm>
            <a:off x="11459749" y="6136715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11459749" y="6233689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pic>
        <p:nvPicPr>
          <p:cNvPr id="11" name="Image 3" descr="https://kimi-img.moonshot.cn/pub/slides/slides_tmpl/image/25-10-09-16:35:24-d3jn7j0s8jdo4os5div0.png">    </p:cNvPr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flipV="1">
            <a:off x="851535" y="630555"/>
            <a:ext cx="762000" cy="76200"/>
          </a:xfrm>
          <a:prstGeom prst="rect">
            <a:avLst/>
          </a:prstGeom>
        </p:spPr>
      </p:pic>
      <p:pic>
        <p:nvPicPr>
          <p:cNvPr id="12" name="Image 4" descr="https://kimi-img.moonshot.cn/pub/slides/slides_tmpl/image/25-10-09-16:35:24-d3jn7j0s8jdo4os5div0.png">    </p:cNvPr>
          <p:cNvPicPr>
            <a:picLocks noChangeAspect="1"/>
          </p:cNvPicPr>
          <p:nvPr/>
        </p:nvPicPr>
        <p:blipFill>
          <a:blip r:embed="rId6">
            <a:alphaModFix amt="40000"/>
          </a:blip>
          <a:stretch>
            <a:fillRect/>
          </a:stretch>
        </p:blipFill>
        <p:spPr>
          <a:xfrm flipV="1">
            <a:off x="851535" y="761365"/>
            <a:ext cx="762000" cy="762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5-d3jn7j8s8jdo4os5dj2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6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8750" y="254000"/>
            <a:ext cx="1187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007B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第二步：投资自我，提升能力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196850" y="711200"/>
            <a:ext cx="11798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dirty="0">
                <a:solidFill>
                  <a:srgbClr val="4A556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最好的投资，是投资自己。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254000" y="2336800"/>
            <a:ext cx="3721100" cy="3302000"/>
          </a:xfrm>
          <a:custGeom>
            <a:avLst/>
            <a:gdLst/>
            <a:ahLst/>
            <a:cxnLst/>
            <a:rect l="l" t="t" r="r" b="b"/>
            <a:pathLst>
              <a:path w="3721100" h="3302000">
                <a:moveTo>
                  <a:pt x="152387" y="0"/>
                </a:moveTo>
                <a:lnTo>
                  <a:pt x="3568713" y="0"/>
                </a:lnTo>
                <a:cubicBezTo>
                  <a:pt x="3652874" y="0"/>
                  <a:pt x="3721100" y="68226"/>
                  <a:pt x="3721100" y="152387"/>
                </a:cubicBezTo>
                <a:lnTo>
                  <a:pt x="3721100" y="3149613"/>
                </a:lnTo>
                <a:cubicBezTo>
                  <a:pt x="3721100" y="3233774"/>
                  <a:pt x="3652874" y="3302000"/>
                  <a:pt x="3568713" y="3302000"/>
                </a:cubicBezTo>
                <a:lnTo>
                  <a:pt x="152387" y="3302000"/>
                </a:lnTo>
                <a:cubicBezTo>
                  <a:pt x="68226" y="3302000"/>
                  <a:pt x="0" y="3233774"/>
                  <a:pt x="0" y="3149613"/>
                </a:cubicBezTo>
                <a:lnTo>
                  <a:pt x="0" y="152387"/>
                </a:lnTo>
                <a:cubicBezTo>
                  <a:pt x="0" y="68226"/>
                  <a:pt x="68226" y="0"/>
                  <a:pt x="152387" y="0"/>
                </a:cubicBezTo>
                <a:close/>
              </a:path>
            </a:pathLst>
          </a:custGeom>
          <a:solidFill>
            <a:srgbClr val="007BFF">
              <a:alpha val="10196"/>
            </a:srgbClr>
          </a:solidFill>
          <a:ln/>
          <a:effectLst>
            <a:outerShdw sx="100000" sy="100000" kx="0" ky="0" algn="bl" rotWithShape="0" blurRad="76200" dist="50800" dir="5400000">
              <a:srgbClr val="000000">
                <a:alpha val="10196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710267" y="25908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007BFF"/>
          </a:solidFill>
          <a:ln/>
        </p:spPr>
      </p:sp>
      <p:sp>
        <p:nvSpPr>
          <p:cNvPr id="7" name="Shape 4"/>
          <p:cNvSpPr/>
          <p:nvPr/>
        </p:nvSpPr>
        <p:spPr>
          <a:xfrm>
            <a:off x="1878542" y="2806700"/>
            <a:ext cx="482600" cy="381000"/>
          </a:xfrm>
          <a:custGeom>
            <a:avLst/>
            <a:gdLst/>
            <a:ahLst/>
            <a:cxnLst/>
            <a:rect l="l" t="t" r="r" b="b"/>
            <a:pathLst>
              <a:path w="482600" h="381000"/>
            </a:pathLst>
          </a:custGeom>
          <a:solidFill>
            <a:srgbClr val="FFFFFF"/>
          </a:solidFill>
          <a:ln/>
        </p:spPr>
      </p:sp>
      <p:sp>
        <p:nvSpPr>
          <p:cNvPr id="8" name="Text 5"/>
          <p:cNvSpPr/>
          <p:nvPr/>
        </p:nvSpPr>
        <p:spPr>
          <a:xfrm>
            <a:off x="1418167" y="3556000"/>
            <a:ext cx="1397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007B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学识的深耕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63550" y="4013200"/>
            <a:ext cx="330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继续深造、终身学习、拓展国际视野，呼应国家创新驱动战略。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233333" y="2209800"/>
            <a:ext cx="3721100" cy="3556000"/>
          </a:xfrm>
          <a:custGeom>
            <a:avLst/>
            <a:gdLst/>
            <a:ahLst/>
            <a:cxnLst/>
            <a:rect l="l" t="t" r="r" b="b"/>
            <a:pathLst>
              <a:path w="3721100" h="3556000">
                <a:moveTo>
                  <a:pt x="152410" y="0"/>
                </a:moveTo>
                <a:lnTo>
                  <a:pt x="3568690" y="0"/>
                </a:lnTo>
                <a:cubicBezTo>
                  <a:pt x="3652864" y="0"/>
                  <a:pt x="3721100" y="68236"/>
                  <a:pt x="3721100" y="152410"/>
                </a:cubicBezTo>
                <a:lnTo>
                  <a:pt x="3721100" y="3403590"/>
                </a:lnTo>
                <a:cubicBezTo>
                  <a:pt x="3721100" y="3487764"/>
                  <a:pt x="3652864" y="3556000"/>
                  <a:pt x="3568690" y="3556000"/>
                </a:cubicBezTo>
                <a:lnTo>
                  <a:pt x="152410" y="3556000"/>
                </a:lnTo>
                <a:cubicBezTo>
                  <a:pt x="68236" y="3556000"/>
                  <a:pt x="0" y="3487764"/>
                  <a:pt x="0" y="3403590"/>
                </a:cubicBezTo>
                <a:lnTo>
                  <a:pt x="0" y="152410"/>
                </a:lnTo>
                <a:cubicBezTo>
                  <a:pt x="0" y="68293"/>
                  <a:pt x="68293" y="0"/>
                  <a:pt x="152410" y="0"/>
                </a:cubicBezTo>
                <a:close/>
              </a:path>
            </a:pathLst>
          </a:custGeom>
          <a:solidFill>
            <a:srgbClr val="0056B3">
              <a:alpha val="10196"/>
            </a:srgbClr>
          </a:solidFill>
          <a:ln/>
          <a:effectLst>
            <a:outerShdw sx="100000" sy="100000" kx="0" ky="0" algn="bl" rotWithShape="0" blurRad="190500" dist="127000" dir="5400000">
              <a:srgbClr val="000000">
                <a:alpha val="10196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689600" y="24638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0056B3"/>
          </a:solidFill>
          <a:ln/>
        </p:spPr>
      </p:sp>
      <p:sp>
        <p:nvSpPr>
          <p:cNvPr id="12" name="Shape 9"/>
          <p:cNvSpPr/>
          <p:nvPr/>
        </p:nvSpPr>
        <p:spPr>
          <a:xfrm>
            <a:off x="5857875" y="2679700"/>
            <a:ext cx="482600" cy="381000"/>
          </a:xfrm>
          <a:custGeom>
            <a:avLst/>
            <a:gdLst/>
            <a:ahLst/>
            <a:cxnLst/>
            <a:rect l="l" t="t" r="r" b="b"/>
            <a:pathLst>
              <a:path w="482600" h="381000"/>
            </a:pathLst>
          </a:custGeom>
          <a:solidFill>
            <a:srgbClr val="FFFFFF"/>
          </a:solidFill>
          <a:ln/>
        </p:spPr>
      </p:sp>
      <p:sp>
        <p:nvSpPr>
          <p:cNvPr id="13" name="Text 10"/>
          <p:cNvSpPr/>
          <p:nvPr/>
        </p:nvSpPr>
        <p:spPr>
          <a:xfrm>
            <a:off x="5397500" y="3429000"/>
            <a:ext cx="1397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0056B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财商的提升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442883" y="3886200"/>
            <a:ext cx="3302000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系统学习理财、建立科学管理、实践价值投资，强调理性经济人素养。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8212667" y="2336800"/>
            <a:ext cx="3721100" cy="3302000"/>
          </a:xfrm>
          <a:custGeom>
            <a:avLst/>
            <a:gdLst/>
            <a:ahLst/>
            <a:cxnLst/>
            <a:rect l="l" t="t" r="r" b="b"/>
            <a:pathLst>
              <a:path w="3721100" h="3302000">
                <a:moveTo>
                  <a:pt x="152387" y="0"/>
                </a:moveTo>
                <a:lnTo>
                  <a:pt x="3568713" y="0"/>
                </a:lnTo>
                <a:cubicBezTo>
                  <a:pt x="3652874" y="0"/>
                  <a:pt x="3721100" y="68226"/>
                  <a:pt x="3721100" y="152387"/>
                </a:cubicBezTo>
                <a:lnTo>
                  <a:pt x="3721100" y="3149613"/>
                </a:lnTo>
                <a:cubicBezTo>
                  <a:pt x="3721100" y="3233774"/>
                  <a:pt x="3652874" y="3302000"/>
                  <a:pt x="3568713" y="3302000"/>
                </a:cubicBezTo>
                <a:lnTo>
                  <a:pt x="152387" y="3302000"/>
                </a:lnTo>
                <a:cubicBezTo>
                  <a:pt x="68226" y="3302000"/>
                  <a:pt x="0" y="3233774"/>
                  <a:pt x="0" y="3149613"/>
                </a:cubicBezTo>
                <a:lnTo>
                  <a:pt x="0" y="152387"/>
                </a:lnTo>
                <a:cubicBezTo>
                  <a:pt x="0" y="68226"/>
                  <a:pt x="68226" y="0"/>
                  <a:pt x="152387" y="0"/>
                </a:cubicBezTo>
                <a:close/>
              </a:path>
            </a:pathLst>
          </a:custGeom>
          <a:solidFill>
            <a:srgbClr val="FFC107">
              <a:alpha val="20000"/>
            </a:srgbClr>
          </a:solidFill>
          <a:ln/>
          <a:effectLst>
            <a:outerShdw sx="100000" sy="100000" kx="0" ky="0" algn="bl" rotWithShape="0" blurRad="76200" dist="50800" dir="5400000">
              <a:srgbClr val="000000">
                <a:alpha val="10196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9668934" y="25908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FFC107"/>
          </a:solidFill>
          <a:ln/>
        </p:spPr>
      </p:sp>
      <p:sp>
        <p:nvSpPr>
          <p:cNvPr id="17" name="Shape 14"/>
          <p:cNvSpPr/>
          <p:nvPr/>
        </p:nvSpPr>
        <p:spPr>
          <a:xfrm>
            <a:off x="9837209" y="2806700"/>
            <a:ext cx="482600" cy="381000"/>
          </a:xfrm>
          <a:custGeom>
            <a:avLst/>
            <a:gdLst/>
            <a:ahLst/>
            <a:cxnLst/>
            <a:rect l="l" t="t" r="r" b="b"/>
            <a:pathLst>
              <a:path w="482600" h="381000"/>
            </a:pathLst>
          </a:custGeom>
          <a:solidFill>
            <a:srgbClr val="FFFFFF"/>
          </a:solidFill>
          <a:ln/>
        </p:spPr>
      </p:sp>
      <p:sp>
        <p:nvSpPr>
          <p:cNvPr id="18" name="Text 15"/>
          <p:cNvSpPr/>
          <p:nvPr/>
        </p:nvSpPr>
        <p:spPr>
          <a:xfrm>
            <a:off x="9376834" y="3556000"/>
            <a:ext cx="1397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C10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精神的丰盈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422217" y="4013200"/>
            <a:ext cx="330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培养深度爱好、探索世界与自我、投资心理健康，指向全面发展的人。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6-d3jn7jgs8jdo4os5dj50.jpg">    </p:cNvPr>
          <p:cNvPicPr>
            <a:picLocks noChangeAspect="1"/>
          </p:cNvPicPr>
          <p:nvPr/>
        </p:nvPicPr>
        <p:blipFill>
          <a:blip r:embed="rId2">
            <a:alphaModFix amt="56000"/>
          </a:blip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09-16:35:24-d3jn7j0s8jdo4os5divg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7505" y="3536315"/>
            <a:ext cx="6823710" cy="73660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10-09-16:35:24-d3jn7j0s8jdo4os5diug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537845" y="5898515"/>
            <a:ext cx="1703705" cy="37719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499889" y="2317433"/>
            <a:ext cx="1618942" cy="13128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500" dirty="0">
                <a:solidFill>
                  <a:srgbClr val="0439E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6" name="Text 1"/>
          <p:cNvSpPr/>
          <p:nvPr/>
        </p:nvSpPr>
        <p:spPr>
          <a:xfrm>
            <a:off x="3005773" y="3643630"/>
            <a:ext cx="6607175" cy="521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34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回馈社会传递温暖</a:t>
            </a:r>
            <a:endParaRPr lang="en-US" sz="1600" dirty="0"/>
          </a:p>
        </p:txBody>
      </p:sp>
      <p:sp>
        <p:nvSpPr>
          <p:cNvPr id="7" name="Shape 2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8" name="Shape 3"/>
          <p:cNvSpPr/>
          <p:nvPr/>
        </p:nvSpPr>
        <p:spPr>
          <a:xfrm>
            <a:off x="11459749" y="6039741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9" name="Shape 4"/>
          <p:cNvSpPr/>
          <p:nvPr/>
        </p:nvSpPr>
        <p:spPr>
          <a:xfrm>
            <a:off x="11459749" y="6136715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11459749" y="6233689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pic>
        <p:nvPicPr>
          <p:cNvPr id="11" name="Image 3" descr="https://kimi-img.moonshot.cn/pub/slides/slides_tmpl/image/25-10-09-16:35:24-d3jn7j0s8jdo4os5div0.png">    </p:cNvPr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flipV="1">
            <a:off x="851535" y="630555"/>
            <a:ext cx="762000" cy="76200"/>
          </a:xfrm>
          <a:prstGeom prst="rect">
            <a:avLst/>
          </a:prstGeom>
        </p:spPr>
      </p:pic>
      <p:pic>
        <p:nvPicPr>
          <p:cNvPr id="12" name="Image 4" descr="https://kimi-img.moonshot.cn/pub/slides/slides_tmpl/image/25-10-09-16:35:24-d3jn7j0s8jdo4os5div0.png">    </p:cNvPr>
          <p:cNvPicPr>
            <a:picLocks noChangeAspect="1"/>
          </p:cNvPicPr>
          <p:nvPr/>
        </p:nvPicPr>
        <p:blipFill>
          <a:blip r:embed="rId6">
            <a:alphaModFix amt="40000"/>
          </a:blip>
          <a:stretch>
            <a:fillRect/>
          </a:stretch>
        </p:blipFill>
        <p:spPr>
          <a:xfrm flipV="1">
            <a:off x="851535" y="761365"/>
            <a:ext cx="762000" cy="762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5-d3jn7j8s8jdo4os5dj2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6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8750" y="254000"/>
            <a:ext cx="1187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007B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第三步：回馈社会，传递温暖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196850" y="711200"/>
            <a:ext cx="11798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dirty="0">
                <a:solidFill>
                  <a:srgbClr val="4A556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财富的真正价值，在于分享。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1422400" y="24638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rgbClr val="007BFF"/>
          </a:solidFill>
          <a:ln/>
        </p:spPr>
      </p:sp>
      <p:sp>
        <p:nvSpPr>
          <p:cNvPr id="6" name="Shape 3"/>
          <p:cNvSpPr/>
          <p:nvPr/>
        </p:nvSpPr>
        <p:spPr>
          <a:xfrm>
            <a:off x="1644650" y="2743200"/>
            <a:ext cx="571500" cy="457200"/>
          </a:xfrm>
          <a:custGeom>
            <a:avLst/>
            <a:gdLst/>
            <a:ahLst/>
            <a:cxnLst/>
            <a:rect l="l" t="t" r="r" b="b"/>
            <a:pathLst>
              <a:path w="571500" h="457200"/>
            </a:pathLst>
          </a:custGeom>
          <a:solidFill>
            <a:srgbClr val="FFFFFF"/>
          </a:solidFill>
          <a:ln/>
        </p:spPr>
      </p:sp>
      <p:sp>
        <p:nvSpPr>
          <p:cNvPr id="7" name="Text 4"/>
          <p:cNvSpPr/>
          <p:nvPr/>
        </p:nvSpPr>
        <p:spPr>
          <a:xfrm>
            <a:off x="850900" y="3632200"/>
            <a:ext cx="2159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007B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教育公平的支持者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88950" y="4089400"/>
            <a:ext cx="28829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设立奖学金、建图书馆、支持乡村教师，阻断贫困代际传递。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886200" y="3276600"/>
            <a:ext cx="482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dirty="0">
                <a:solidFill>
                  <a:srgbClr val="D1D5D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587868" y="24638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rgbClr val="0056B3"/>
          </a:solidFill>
          <a:ln/>
        </p:spPr>
      </p:sp>
      <p:sp>
        <p:nvSpPr>
          <p:cNvPr id="11" name="Shape 8"/>
          <p:cNvSpPr/>
          <p:nvPr/>
        </p:nvSpPr>
        <p:spPr>
          <a:xfrm>
            <a:off x="5810118" y="2743200"/>
            <a:ext cx="571500" cy="457200"/>
          </a:xfrm>
          <a:custGeom>
            <a:avLst/>
            <a:gdLst/>
            <a:ahLst/>
            <a:cxnLst/>
            <a:rect l="l" t="t" r="r" b="b"/>
            <a:pathLst>
              <a:path w="571500" h="457200"/>
            </a:pathLst>
          </a:custGeom>
          <a:solidFill>
            <a:srgbClr val="FFFFFF"/>
          </a:solidFill>
          <a:ln/>
        </p:spPr>
      </p:sp>
      <p:sp>
        <p:nvSpPr>
          <p:cNvPr id="12" name="Text 9"/>
          <p:cNvSpPr/>
          <p:nvPr/>
        </p:nvSpPr>
        <p:spPr>
          <a:xfrm>
            <a:off x="5016368" y="3632200"/>
            <a:ext cx="2159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0056B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社区公益的参与者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654418" y="4089400"/>
            <a:ext cx="28829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建立互助基金、参与志愿服务、支持小微企业，强化共同体意识。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051668" y="3276600"/>
            <a:ext cx="482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dirty="0">
                <a:solidFill>
                  <a:srgbClr val="D1D5D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9753336" y="24638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rgbClr val="FFC107"/>
          </a:solidFill>
          <a:ln/>
        </p:spPr>
      </p:sp>
      <p:sp>
        <p:nvSpPr>
          <p:cNvPr id="16" name="Shape 13"/>
          <p:cNvSpPr/>
          <p:nvPr/>
        </p:nvSpPr>
        <p:spPr>
          <a:xfrm>
            <a:off x="9975586" y="2743200"/>
            <a:ext cx="571500" cy="457200"/>
          </a:xfrm>
          <a:custGeom>
            <a:avLst/>
            <a:gdLst/>
            <a:ahLst/>
            <a:cxnLst/>
            <a:rect l="l" t="t" r="r" b="b"/>
            <a:pathLst>
              <a:path w="571500" h="457200"/>
            </a:pathLst>
          </a:custGeom>
          <a:solidFill>
            <a:srgbClr val="FFFFFF"/>
          </a:solidFill>
          <a:ln/>
        </p:spPr>
      </p:sp>
      <p:sp>
        <p:nvSpPr>
          <p:cNvPr id="17" name="Text 14"/>
          <p:cNvSpPr/>
          <p:nvPr/>
        </p:nvSpPr>
        <p:spPr>
          <a:xfrm>
            <a:off x="9054836" y="3632200"/>
            <a:ext cx="2413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C10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可持续发展的推动者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819886" y="4089400"/>
            <a:ext cx="28829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资助环保项目、参与生态保护、倡导简约生活，呼应双碳战略。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254000" y="5994400"/>
            <a:ext cx="11684000" cy="609600"/>
          </a:xfrm>
          <a:custGeom>
            <a:avLst/>
            <a:gdLst/>
            <a:ahLst/>
            <a:cxnLst/>
            <a:rect l="l" t="t" r="r" b="b"/>
            <a:pathLst>
              <a:path w="11684000" h="609600">
                <a:moveTo>
                  <a:pt x="101602" y="0"/>
                </a:moveTo>
                <a:lnTo>
                  <a:pt x="11582398" y="0"/>
                </a:lnTo>
                <a:cubicBezTo>
                  <a:pt x="11638511" y="0"/>
                  <a:pt x="11684000" y="45489"/>
                  <a:pt x="11684000" y="101602"/>
                </a:cubicBezTo>
                <a:lnTo>
                  <a:pt x="11684000" y="507998"/>
                </a:lnTo>
                <a:cubicBezTo>
                  <a:pt x="11684000" y="564111"/>
                  <a:pt x="11638511" y="609600"/>
                  <a:pt x="115823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007BFF">
              <a:alpha val="10196"/>
            </a:srgbClr>
          </a:solidFill>
          <a:ln/>
        </p:spPr>
      </p:sp>
      <p:sp>
        <p:nvSpPr>
          <p:cNvPr id="20" name="Text 17"/>
          <p:cNvSpPr/>
          <p:nvPr/>
        </p:nvSpPr>
        <p:spPr>
          <a:xfrm>
            <a:off x="355600" y="6146800"/>
            <a:ext cx="1148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007B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将个人幸运升华为公共福祉，树立“达则兼济天下”的责任伦理。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6-d3jn7jgs8jdo4os5dj50.jpg">    </p:cNvPr>
          <p:cNvPicPr>
            <a:picLocks noChangeAspect="1"/>
          </p:cNvPicPr>
          <p:nvPr/>
        </p:nvPicPr>
        <p:blipFill>
          <a:blip r:embed="rId2">
            <a:alphaModFix amt="56000"/>
          </a:blip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09-16:35:24-d3jn7j0s8jdo4os5divg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7505" y="3536315"/>
            <a:ext cx="6823710" cy="73660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10-09-16:35:24-d3jn7j0s8jdo4os5diug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537845" y="5898515"/>
            <a:ext cx="1703705" cy="37719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499889" y="2317433"/>
            <a:ext cx="1618942" cy="13128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500" dirty="0">
                <a:solidFill>
                  <a:srgbClr val="0439E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Text 1"/>
          <p:cNvSpPr/>
          <p:nvPr/>
        </p:nvSpPr>
        <p:spPr>
          <a:xfrm>
            <a:off x="3005773" y="3643630"/>
            <a:ext cx="6607175" cy="521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34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幸运的意义在责任</a:t>
            </a:r>
            <a:endParaRPr lang="en-US" sz="1600" dirty="0"/>
          </a:p>
        </p:txBody>
      </p:sp>
      <p:sp>
        <p:nvSpPr>
          <p:cNvPr id="7" name="Shape 2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8" name="Shape 3"/>
          <p:cNvSpPr/>
          <p:nvPr/>
        </p:nvSpPr>
        <p:spPr>
          <a:xfrm>
            <a:off x="11459749" y="6039741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9" name="Shape 4"/>
          <p:cNvSpPr/>
          <p:nvPr/>
        </p:nvSpPr>
        <p:spPr>
          <a:xfrm>
            <a:off x="11459749" y="6136715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11459749" y="6233689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pic>
        <p:nvPicPr>
          <p:cNvPr id="11" name="Image 3" descr="https://kimi-img.moonshot.cn/pub/slides/slides_tmpl/image/25-10-09-16:35:24-d3jn7j0s8jdo4os5div0.png">    </p:cNvPr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flipV="1">
            <a:off x="851535" y="630555"/>
            <a:ext cx="762000" cy="76200"/>
          </a:xfrm>
          <a:prstGeom prst="rect">
            <a:avLst/>
          </a:prstGeom>
        </p:spPr>
      </p:pic>
      <p:pic>
        <p:nvPicPr>
          <p:cNvPr id="12" name="Image 4" descr="https://kimi-img.moonshot.cn/pub/slides/slides_tmpl/image/25-10-09-16:35:24-d3jn7j0s8jdo4os5div0.png">    </p:cNvPr>
          <p:cNvPicPr>
            <a:picLocks noChangeAspect="1"/>
          </p:cNvPicPr>
          <p:nvPr/>
        </p:nvPicPr>
        <p:blipFill>
          <a:blip r:embed="rId6">
            <a:alphaModFix amt="40000"/>
          </a:blip>
          <a:stretch>
            <a:fillRect/>
          </a:stretch>
        </p:blipFill>
        <p:spPr>
          <a:xfrm flipV="1">
            <a:off x="851535" y="761365"/>
            <a:ext cx="762000" cy="762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5-d3jn7j8s8jdo4os5dj2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6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9000" y="1143000"/>
            <a:ext cx="552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007B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核心观点：幸运的意义在于责任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254000" y="1803400"/>
            <a:ext cx="11684000" cy="1066800"/>
          </a:xfrm>
          <a:custGeom>
            <a:avLst/>
            <a:gdLst/>
            <a:ahLst/>
            <a:cxnLst/>
            <a:rect l="l" t="t" r="r" b="b"/>
            <a:pathLst>
              <a:path w="11684000" h="1066800">
                <a:moveTo>
                  <a:pt x="101602" y="0"/>
                </a:moveTo>
                <a:lnTo>
                  <a:pt x="11582398" y="0"/>
                </a:lnTo>
                <a:cubicBezTo>
                  <a:pt x="11638511" y="0"/>
                  <a:pt x="11684000" y="45489"/>
                  <a:pt x="11684000" y="101602"/>
                </a:cubicBezTo>
                <a:lnTo>
                  <a:pt x="11684000" y="965198"/>
                </a:lnTo>
                <a:cubicBezTo>
                  <a:pt x="11684000" y="1021311"/>
                  <a:pt x="11638511" y="1066800"/>
                  <a:pt x="11582398" y="1066800"/>
                </a:cubicBezTo>
                <a:lnTo>
                  <a:pt x="101602" y="1066800"/>
                </a:lnTo>
                <a:cubicBezTo>
                  <a:pt x="45489" y="1066800"/>
                  <a:pt x="0" y="1021311"/>
                  <a:pt x="0" y="9651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007BFF">
              <a:alpha val="10196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393700" y="2006600"/>
            <a:ext cx="11404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007B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财富观的重塑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12750" y="2413000"/>
            <a:ext cx="11366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横财可改善生活，但不能改变人生底色。真正的幸福源于</a:t>
            </a:r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highlight>
                  <a:srgbClr val="FFC107">
                    <a:alpha val="100000"/>
                  </a:srgbClr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奋斗与奉献 </a:t>
            </a:r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，警惕“财富异化”。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1714500" y="3073400"/>
            <a:ext cx="8763000" cy="1117600"/>
          </a:xfrm>
          <a:custGeom>
            <a:avLst/>
            <a:gdLst/>
            <a:ahLst/>
            <a:cxnLst/>
            <a:rect l="l" t="t" r="r" b="b"/>
            <a:pathLst>
              <a:path w="8763000" h="1117600">
                <a:moveTo>
                  <a:pt x="101601" y="0"/>
                </a:moveTo>
                <a:lnTo>
                  <a:pt x="8661399" y="0"/>
                </a:lnTo>
                <a:cubicBezTo>
                  <a:pt x="8717512" y="0"/>
                  <a:pt x="8763000" y="45488"/>
                  <a:pt x="8763000" y="101601"/>
                </a:cubicBezTo>
                <a:lnTo>
                  <a:pt x="8763000" y="1015999"/>
                </a:lnTo>
                <a:cubicBezTo>
                  <a:pt x="8763000" y="1072112"/>
                  <a:pt x="8717512" y="1117600"/>
                  <a:pt x="8661399" y="1117600"/>
                </a:cubicBezTo>
                <a:lnTo>
                  <a:pt x="101601" y="1117600"/>
                </a:lnTo>
                <a:cubicBezTo>
                  <a:pt x="45488" y="1117600"/>
                  <a:pt x="0" y="1072112"/>
                  <a:pt x="0" y="1015999"/>
                </a:cubicBezTo>
                <a:lnTo>
                  <a:pt x="0" y="101601"/>
                </a:lnTo>
                <a:cubicBezTo>
                  <a:pt x="0" y="45526"/>
                  <a:pt x="45526" y="0"/>
                  <a:pt x="101601" y="0"/>
                </a:cubicBezTo>
                <a:close/>
              </a:path>
            </a:pathLst>
          </a:custGeom>
          <a:solidFill>
            <a:srgbClr val="0056B3">
              <a:alpha val="10196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1854200" y="3276600"/>
            <a:ext cx="8483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0056B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责任的三个层次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406650" y="3733800"/>
            <a:ext cx="1689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对家庭：让爱更安心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073650" y="3733800"/>
            <a:ext cx="1866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对自我：让人生更丰盈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918450" y="3733800"/>
            <a:ext cx="1866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对社会：让世界更美好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3175000" y="4394200"/>
            <a:ext cx="5842000" cy="1320800"/>
          </a:xfrm>
          <a:custGeom>
            <a:avLst/>
            <a:gdLst/>
            <a:ahLst/>
            <a:cxnLst/>
            <a:rect l="l" t="t" r="r" b="b"/>
            <a:pathLst>
              <a:path w="5842000" h="1320800">
                <a:moveTo>
                  <a:pt x="101596" y="0"/>
                </a:moveTo>
                <a:lnTo>
                  <a:pt x="5740404" y="0"/>
                </a:lnTo>
                <a:cubicBezTo>
                  <a:pt x="5796514" y="0"/>
                  <a:pt x="5842000" y="45486"/>
                  <a:pt x="5842000" y="101596"/>
                </a:cubicBezTo>
                <a:lnTo>
                  <a:pt x="5842000" y="1219204"/>
                </a:lnTo>
                <a:cubicBezTo>
                  <a:pt x="5842000" y="1275314"/>
                  <a:pt x="5796514" y="1320800"/>
                  <a:pt x="5740404" y="1320800"/>
                </a:cubicBezTo>
                <a:lnTo>
                  <a:pt x="101596" y="1320800"/>
                </a:lnTo>
                <a:cubicBezTo>
                  <a:pt x="45486" y="1320800"/>
                  <a:pt x="0" y="1275314"/>
                  <a:pt x="0" y="1219204"/>
                </a:cubicBezTo>
                <a:lnTo>
                  <a:pt x="0" y="101596"/>
                </a:lnTo>
                <a:cubicBezTo>
                  <a:pt x="0" y="45486"/>
                  <a:pt x="45486" y="0"/>
                  <a:pt x="101596" y="0"/>
                </a:cubicBezTo>
                <a:close/>
              </a:path>
            </a:pathLst>
          </a:custGeom>
          <a:solidFill>
            <a:srgbClr val="FFC107">
              <a:alpha val="20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3314700" y="4597400"/>
            <a:ext cx="5562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C10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金句分享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3333750" y="5003800"/>
            <a:ext cx="5524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“如果你得到了一盏神灯，不要只想着为自己变出金银，而要思考如何为更多人照亮前路。”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6-d3jn7jgs8jdo4os5dj50.jpg">    </p:cNvPr>
          <p:cNvPicPr>
            <a:picLocks noChangeAspect="1"/>
          </p:cNvPicPr>
          <p:nvPr/>
        </p:nvPicPr>
        <p:blipFill>
          <a:blip r:embed="rId2">
            <a:alphaModFix amt="56000"/>
          </a:blip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09-16:35:24-d3jn7j0s8jdo4os5divg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7505" y="3536315"/>
            <a:ext cx="6823710" cy="73660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10-09-16:35:24-d3jn7j0s8jdo4os5diug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537845" y="5898515"/>
            <a:ext cx="1703705" cy="37719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499889" y="2317433"/>
            <a:ext cx="1618942" cy="13128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500" dirty="0">
                <a:solidFill>
                  <a:srgbClr val="0439E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06</a:t>
            </a:r>
            <a:endParaRPr lang="en-US" sz="1600" dirty="0"/>
          </a:p>
        </p:txBody>
      </p:sp>
      <p:sp>
        <p:nvSpPr>
          <p:cNvPr id="6" name="Text 1"/>
          <p:cNvSpPr/>
          <p:nvPr/>
        </p:nvSpPr>
        <p:spPr>
          <a:xfrm>
            <a:off x="3005773" y="3643630"/>
            <a:ext cx="6607175" cy="521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34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超越彩票的人生幸运</a:t>
            </a:r>
            <a:endParaRPr lang="en-US" sz="1600" dirty="0"/>
          </a:p>
        </p:txBody>
      </p:sp>
      <p:sp>
        <p:nvSpPr>
          <p:cNvPr id="7" name="Shape 2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8" name="Shape 3"/>
          <p:cNvSpPr/>
          <p:nvPr/>
        </p:nvSpPr>
        <p:spPr>
          <a:xfrm>
            <a:off x="11459749" y="6039741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9" name="Shape 4"/>
          <p:cNvSpPr/>
          <p:nvPr/>
        </p:nvSpPr>
        <p:spPr>
          <a:xfrm>
            <a:off x="11459749" y="6136715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11459749" y="6233689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pic>
        <p:nvPicPr>
          <p:cNvPr id="11" name="Image 3" descr="https://kimi-img.moonshot.cn/pub/slides/slides_tmpl/image/25-10-09-16:35:24-d3jn7j0s8jdo4os5div0.png">    </p:cNvPr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flipV="1">
            <a:off x="851535" y="630555"/>
            <a:ext cx="762000" cy="76200"/>
          </a:xfrm>
          <a:prstGeom prst="rect">
            <a:avLst/>
          </a:prstGeom>
        </p:spPr>
      </p:pic>
      <p:pic>
        <p:nvPicPr>
          <p:cNvPr id="12" name="Image 4" descr="https://kimi-img.moonshot.cn/pub/slides/slides_tmpl/image/25-10-09-16:35:24-d3jn7j0s8jdo4os5div0.png">    </p:cNvPr>
          <p:cNvPicPr>
            <a:picLocks noChangeAspect="1"/>
          </p:cNvPicPr>
          <p:nvPr/>
        </p:nvPicPr>
        <p:blipFill>
          <a:blip r:embed="rId6">
            <a:alphaModFix amt="40000"/>
          </a:blip>
          <a:stretch>
            <a:fillRect/>
          </a:stretch>
        </p:blipFill>
        <p:spPr>
          <a:xfrm flipV="1">
            <a:off x="851535" y="761365"/>
            <a:ext cx="762000" cy="762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5-d3jn7j8s8jdo4os5dj2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6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54000" y="2438400"/>
            <a:ext cx="4457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007B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延伸思考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254000" y="3098800"/>
            <a:ext cx="4419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0056B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彩票之外的“幸运”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254000" y="3810000"/>
            <a:ext cx="4368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我们或许无法选择是否中彩票，但我们可以选择</a:t>
            </a:r>
            <a:pPr>
              <a:lnSpc>
                <a:spcPct val="130000"/>
              </a:lnSpc>
            </a:pPr>
            <a:r>
              <a:rPr lang="en-US" sz="1600" dirty="0">
                <a:solidFill>
                  <a:srgbClr val="333333"/>
                </a:solidFill>
                <a:highlight>
                  <a:srgbClr val="FFC107">
                    <a:alpha val="100000"/>
                  </a:srgbClr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成为怎样的人，过怎样的人生 </a:t>
            </a:r>
            <a:pPr>
              <a:lnSpc>
                <a:spcPct val="130000"/>
              </a:lnSpc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927600" y="2260600"/>
            <a:ext cx="3403600" cy="2336800"/>
          </a:xfrm>
          <a:custGeom>
            <a:avLst/>
            <a:gdLst/>
            <a:ahLst/>
            <a:cxnLst/>
            <a:rect l="l" t="t" r="r" b="b"/>
            <a:pathLst>
              <a:path w="3403600" h="2336800">
                <a:moveTo>
                  <a:pt x="101604" y="0"/>
                </a:moveTo>
                <a:lnTo>
                  <a:pt x="3301996" y="0"/>
                </a:lnTo>
                <a:cubicBezTo>
                  <a:pt x="3358110" y="0"/>
                  <a:pt x="3403600" y="45490"/>
                  <a:pt x="3403600" y="101604"/>
                </a:cubicBezTo>
                <a:lnTo>
                  <a:pt x="3403600" y="2235196"/>
                </a:lnTo>
                <a:cubicBezTo>
                  <a:pt x="3403600" y="2291310"/>
                  <a:pt x="3358110" y="2336800"/>
                  <a:pt x="3301996" y="2336800"/>
                </a:cubicBezTo>
                <a:lnTo>
                  <a:pt x="101604" y="2336800"/>
                </a:lnTo>
                <a:cubicBezTo>
                  <a:pt x="45490" y="2336800"/>
                  <a:pt x="0" y="2291310"/>
                  <a:pt x="0" y="2235196"/>
                </a:cubicBezTo>
                <a:lnTo>
                  <a:pt x="0" y="101604"/>
                </a:lnTo>
                <a:cubicBezTo>
                  <a:pt x="0" y="45527"/>
                  <a:pt x="45527" y="0"/>
                  <a:pt x="101604" y="0"/>
                </a:cubicBezTo>
                <a:close/>
              </a:path>
            </a:pathLst>
          </a:custGeom>
          <a:solidFill>
            <a:srgbClr val="007BFF">
              <a:alpha val="10196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5130800" y="2463800"/>
            <a:ext cx="3111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007B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真正的“大奖”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130800" y="2921000"/>
            <a:ext cx="3086100" cy="147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4000" indent="-25400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健康的身体</a:t>
            </a:r>
            <a:endParaRPr lang="en-US" sz="1600" dirty="0"/>
          </a:p>
          <a:p>
            <a:pPr marL="254000" indent="-25400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和睦的家庭</a:t>
            </a:r>
            <a:endParaRPr lang="en-US" sz="1600" dirty="0"/>
          </a:p>
          <a:p>
            <a:pPr marL="254000" indent="-25400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学习的能力</a:t>
            </a:r>
            <a:endParaRPr lang="en-US" sz="1600" dirty="0"/>
          </a:p>
          <a:p>
            <a:pPr marL="254000" indent="-25400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奋斗的机会</a:t>
            </a:r>
            <a:endParaRPr lang="en-US" sz="1600" dirty="0"/>
          </a:p>
          <a:p>
            <a:pPr marL="254000" indent="-25400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奉献的快乐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534400" y="2260600"/>
            <a:ext cx="3403600" cy="2336800"/>
          </a:xfrm>
          <a:custGeom>
            <a:avLst/>
            <a:gdLst/>
            <a:ahLst/>
            <a:cxnLst/>
            <a:rect l="l" t="t" r="r" b="b"/>
            <a:pathLst>
              <a:path w="3403600" h="2336800">
                <a:moveTo>
                  <a:pt x="101604" y="0"/>
                </a:moveTo>
                <a:lnTo>
                  <a:pt x="3301996" y="0"/>
                </a:lnTo>
                <a:cubicBezTo>
                  <a:pt x="3358110" y="0"/>
                  <a:pt x="3403600" y="45490"/>
                  <a:pt x="3403600" y="101604"/>
                </a:cubicBezTo>
                <a:lnTo>
                  <a:pt x="3403600" y="2235196"/>
                </a:lnTo>
                <a:cubicBezTo>
                  <a:pt x="3403600" y="2291310"/>
                  <a:pt x="3358110" y="2336800"/>
                  <a:pt x="3301996" y="2336800"/>
                </a:cubicBezTo>
                <a:lnTo>
                  <a:pt x="101604" y="2336800"/>
                </a:lnTo>
                <a:cubicBezTo>
                  <a:pt x="45490" y="2336800"/>
                  <a:pt x="0" y="2291310"/>
                  <a:pt x="0" y="2235196"/>
                </a:cubicBezTo>
                <a:lnTo>
                  <a:pt x="0" y="101604"/>
                </a:lnTo>
                <a:cubicBezTo>
                  <a:pt x="0" y="45527"/>
                  <a:pt x="45527" y="0"/>
                  <a:pt x="101604" y="0"/>
                </a:cubicBezTo>
                <a:close/>
              </a:path>
            </a:pathLst>
          </a:custGeom>
          <a:solidFill>
            <a:srgbClr val="0056B3">
              <a:alpha val="10196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8737600" y="2463800"/>
            <a:ext cx="3111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0056B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我们的日常“彩票”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737600" y="2921000"/>
            <a:ext cx="30861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4000" indent="-25400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努力后的进步</a:t>
            </a:r>
            <a:endParaRPr lang="en-US" sz="1600" dirty="0"/>
          </a:p>
          <a:p>
            <a:pPr marL="254000" indent="-25400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助人后的满足</a:t>
            </a:r>
            <a:endParaRPr lang="en-US" sz="1600" dirty="0"/>
          </a:p>
          <a:p>
            <a:pPr marL="254000" indent="-25400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学习后的成长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737600" y="3886200"/>
            <a:ext cx="30861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这些“小幸运”组成了有价值的人生。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6-d3jn7jgs8jdo4os5dj50.jpg">    </p:cNvPr>
          <p:cNvPicPr>
            <a:picLocks noChangeAspect="1"/>
          </p:cNvPicPr>
          <p:nvPr/>
        </p:nvPicPr>
        <p:blipFill>
          <a:blip r:embed="rId2">
            <a:alphaModFix amt="56000"/>
          </a:blip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09-16:35:24-d3jn7j0s8jdo4os5divg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7505" y="3536315"/>
            <a:ext cx="6823710" cy="73660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10-09-16:35:24-d3jn7j0s8jdo4os5diug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537845" y="5898515"/>
            <a:ext cx="1703705" cy="37719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499889" y="2317433"/>
            <a:ext cx="1618942" cy="13128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500" dirty="0">
                <a:solidFill>
                  <a:srgbClr val="0439E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07</a:t>
            </a:r>
            <a:endParaRPr lang="en-US" sz="1600" dirty="0"/>
          </a:p>
        </p:txBody>
      </p:sp>
      <p:sp>
        <p:nvSpPr>
          <p:cNvPr id="6" name="Text 1"/>
          <p:cNvSpPr/>
          <p:nvPr/>
        </p:nvSpPr>
        <p:spPr>
          <a:xfrm>
            <a:off x="3005773" y="3643630"/>
            <a:ext cx="6607175" cy="521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34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脚踏实地创造精彩</a:t>
            </a:r>
            <a:endParaRPr lang="en-US" sz="1600" dirty="0"/>
          </a:p>
        </p:txBody>
      </p:sp>
      <p:sp>
        <p:nvSpPr>
          <p:cNvPr id="7" name="Shape 2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8" name="Shape 3"/>
          <p:cNvSpPr/>
          <p:nvPr/>
        </p:nvSpPr>
        <p:spPr>
          <a:xfrm>
            <a:off x="11459749" y="6039741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9" name="Shape 4"/>
          <p:cNvSpPr/>
          <p:nvPr/>
        </p:nvSpPr>
        <p:spPr>
          <a:xfrm>
            <a:off x="11459749" y="6136715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11459749" y="6233689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pic>
        <p:nvPicPr>
          <p:cNvPr id="11" name="Image 3" descr="https://kimi-img.moonshot.cn/pub/slides/slides_tmpl/image/25-10-09-16:35:24-d3jn7j0s8jdo4os5div0.png">    </p:cNvPr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flipV="1">
            <a:off x="851535" y="630555"/>
            <a:ext cx="762000" cy="76200"/>
          </a:xfrm>
          <a:prstGeom prst="rect">
            <a:avLst/>
          </a:prstGeom>
        </p:spPr>
      </p:pic>
      <p:pic>
        <p:nvPicPr>
          <p:cNvPr id="12" name="Image 4" descr="https://kimi-img.moonshot.cn/pub/slides/slides_tmpl/image/25-10-09-16:35:24-d3jn7j0s8jdo4os5div0.png">    </p:cNvPr>
          <p:cNvPicPr>
            <a:picLocks noChangeAspect="1"/>
          </p:cNvPicPr>
          <p:nvPr/>
        </p:nvPicPr>
        <p:blipFill>
          <a:blip r:embed="rId6">
            <a:alphaModFix amt="40000"/>
          </a:blip>
          <a:stretch>
            <a:fillRect/>
          </a:stretch>
        </p:blipFill>
        <p:spPr>
          <a:xfrm flipV="1">
            <a:off x="851535" y="761365"/>
            <a:ext cx="762000" cy="762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5-d3jn7j8s8jdo4os5dj2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6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238500" y="1752600"/>
            <a:ext cx="5715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600" b="1" dirty="0">
                <a:solidFill>
                  <a:srgbClr val="007B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结语：创造属于自己的精彩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436033" y="3479800"/>
            <a:ext cx="2921000" cy="1625600"/>
          </a:xfrm>
          <a:custGeom>
            <a:avLst/>
            <a:gdLst/>
            <a:ahLst/>
            <a:cxnLst/>
            <a:rect l="l" t="t" r="r" b="b"/>
            <a:pathLst>
              <a:path w="2921000" h="1625600">
                <a:moveTo>
                  <a:pt x="101600" y="0"/>
                </a:moveTo>
                <a:lnTo>
                  <a:pt x="2819400" y="0"/>
                </a:lnTo>
                <a:cubicBezTo>
                  <a:pt x="2875475" y="0"/>
                  <a:pt x="2921000" y="45525"/>
                  <a:pt x="2921000" y="101600"/>
                </a:cubicBezTo>
                <a:lnTo>
                  <a:pt x="2921000" y="1524000"/>
                </a:lnTo>
                <a:cubicBezTo>
                  <a:pt x="2921000" y="1580075"/>
                  <a:pt x="2875475" y="1625600"/>
                  <a:pt x="2819400" y="1625600"/>
                </a:cubicBezTo>
                <a:lnTo>
                  <a:pt x="101600" y="1625600"/>
                </a:lnTo>
                <a:cubicBezTo>
                  <a:pt x="45525" y="1625600"/>
                  <a:pt x="0" y="1580075"/>
                  <a:pt x="0" y="15240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007BFF">
              <a:alpha val="10196"/>
            </a:srgbClr>
          </a:solidFill>
          <a:ln/>
          <a:effectLst>
            <a:outerShdw sx="100000" sy="100000" kx="0" ky="0" algn="bl" rotWithShape="0" blurRad="76200" dist="50800" dir="5400000">
              <a:srgbClr val="000000">
                <a:alpha val="10196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582083" y="3962400"/>
            <a:ext cx="2628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007B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彩票中奖是极小概率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94783" y="4368800"/>
            <a:ext cx="2603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认真生活是100%可能的选择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661833" y="3073400"/>
            <a:ext cx="3898900" cy="2032000"/>
          </a:xfrm>
          <a:custGeom>
            <a:avLst/>
            <a:gdLst/>
            <a:ahLst/>
            <a:cxnLst/>
            <a:rect l="l" t="t" r="r" b="b"/>
            <a:pathLst>
              <a:path w="3898900" h="2032000">
                <a:moveTo>
                  <a:pt x="101600" y="0"/>
                </a:moveTo>
                <a:lnTo>
                  <a:pt x="3797300" y="0"/>
                </a:lnTo>
                <a:cubicBezTo>
                  <a:pt x="3853375" y="0"/>
                  <a:pt x="3898900" y="45525"/>
                  <a:pt x="3898900" y="101600"/>
                </a:cubicBezTo>
                <a:lnTo>
                  <a:pt x="3898900" y="1930400"/>
                </a:lnTo>
                <a:cubicBezTo>
                  <a:pt x="3898900" y="1986475"/>
                  <a:pt x="3853375" y="2032000"/>
                  <a:pt x="3797300" y="2032000"/>
                </a:cubicBezTo>
                <a:lnTo>
                  <a:pt x="101600" y="2032000"/>
                </a:lnTo>
                <a:cubicBezTo>
                  <a:pt x="45525" y="2032000"/>
                  <a:pt x="0" y="1986475"/>
                  <a:pt x="0" y="1930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0056B3">
              <a:alpha val="20000"/>
            </a:srgbClr>
          </a:solidFill>
          <a:ln/>
          <a:effectLst>
            <a:outerShdw sx="100000" sy="100000" kx="0" ky="0" algn="bl" rotWithShape="0" blurRad="190500" dist="127000" dir="5400000">
              <a:srgbClr val="000000">
                <a:alpha val="10196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3852333" y="3708400"/>
            <a:ext cx="3517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0056B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与其等待天降横财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865033" y="4165600"/>
            <a:ext cx="349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不如脚踏实地创造价值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861300" y="2667000"/>
            <a:ext cx="3898900" cy="2438400"/>
          </a:xfrm>
          <a:custGeom>
            <a:avLst/>
            <a:gdLst/>
            <a:ahLst/>
            <a:cxnLst/>
            <a:rect l="l" t="t" r="r" b="b"/>
            <a:pathLst>
              <a:path w="3898900" h="2438400">
                <a:moveTo>
                  <a:pt x="101608" y="0"/>
                </a:moveTo>
                <a:lnTo>
                  <a:pt x="3797292" y="0"/>
                </a:lnTo>
                <a:cubicBezTo>
                  <a:pt x="3853408" y="0"/>
                  <a:pt x="3898900" y="45492"/>
                  <a:pt x="3898900" y="101608"/>
                </a:cubicBezTo>
                <a:lnTo>
                  <a:pt x="3898900" y="2336792"/>
                </a:lnTo>
                <a:cubicBezTo>
                  <a:pt x="3898900" y="2392908"/>
                  <a:pt x="3853408" y="2438400"/>
                  <a:pt x="3797292" y="2438400"/>
                </a:cubicBezTo>
                <a:lnTo>
                  <a:pt x="101608" y="2438400"/>
                </a:lnTo>
                <a:cubicBezTo>
                  <a:pt x="45492" y="2438400"/>
                  <a:pt x="0" y="2392908"/>
                  <a:pt x="0" y="2336792"/>
                </a:cubicBezTo>
                <a:lnTo>
                  <a:pt x="0" y="101608"/>
                </a:lnTo>
                <a:cubicBezTo>
                  <a:pt x="0" y="45529"/>
                  <a:pt x="45529" y="0"/>
                  <a:pt x="101608" y="0"/>
                </a:cubicBezTo>
                <a:close/>
              </a:path>
            </a:pathLst>
          </a:custGeom>
          <a:solidFill>
            <a:srgbClr val="FFC107">
              <a:alpha val="30196"/>
            </a:srgbClr>
          </a:solidFill>
          <a:ln/>
          <a:effectLst>
            <a:outerShdw sx="100000" sy="100000" kx="0" ky="0" algn="bl" rotWithShape="0" blurRad="317500" dist="254000" dir="5400000">
              <a:srgbClr val="000000">
                <a:alpha val="10196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089900" y="3454400"/>
            <a:ext cx="34417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FFC10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最大的幸运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108950" y="3962400"/>
            <a:ext cx="3403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是拥有掌控财富的智慧与善良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6-d3jn7jgs8jdo4os5dj50.jpg">    </p:cNvPr>
          <p:cNvPicPr>
            <a:picLocks noChangeAspect="1"/>
          </p:cNvPicPr>
          <p:nvPr/>
        </p:nvPicPr>
        <p:blipFill>
          <a:blip r:embed="rId2"/>
          <a:srcRect l="0" r="0" t="104" b="104"/>
          <a:stretch/>
        </p:blipFill>
        <p:spPr>
          <a:xfrm>
            <a:off x="0" y="2540"/>
            <a:ext cx="12192000" cy="68554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9100" y="2440940"/>
            <a:ext cx="7735570" cy="1804670"/>
          </a:xfrm>
          <a:prstGeom prst="rect">
            <a:avLst/>
          </a:prstGeom>
          <a:gradFill rotWithShape="1" flip="none">
            <a:gsLst>
              <a:gs pos="0">
                <a:srgbClr val="FFFFFF">
                  <a:alpha val="46000"/>
                </a:srgbClr>
              </a:gs>
              <a:gs pos="30000">
                <a:srgbClr val="F9FBFD">
                  <a:alpha val="69000"/>
                </a:srgbClr>
              </a:gs>
              <a:gs pos="8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626745" y="3177540"/>
            <a:ext cx="11033760" cy="89344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626745" y="3177540"/>
            <a:ext cx="11033760" cy="89344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b"/>
          <a:lstStyle/>
          <a:p>
            <a:pPr>
              <a:lnSpc>
                <a:spcPct val="130000"/>
              </a:lnSpc>
            </a:pPr>
            <a:r>
              <a:rPr lang="en-US" sz="5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感谢您的观看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26745" y="2440305"/>
            <a:ext cx="9281795" cy="70929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626745" y="2440305"/>
            <a:ext cx="9281795" cy="7092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b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0439E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THANK YOU FOR READING！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26745" y="6134418"/>
            <a:ext cx="4345305" cy="33147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626745" y="6134418"/>
            <a:ext cx="4345305" cy="3314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>
              <a:lnSpc>
                <a:spcPct val="90000"/>
              </a:lnSpc>
            </a:pPr>
            <a:r>
              <a:rPr lang="en-US" sz="16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汇报人：Kimi AI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240270" y="6099810"/>
            <a:ext cx="3091815" cy="36639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r">
              <a:lnSpc>
                <a:spcPct val="90000"/>
              </a:lnSpc>
            </a:pPr>
            <a:r>
              <a:rPr lang="en-US" sz="16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汇报日期：2025/</a:t>
            </a:r>
            <a:pPr algn="r">
              <a:lnSpc>
                <a:spcPct val="90000"/>
              </a:lnSpc>
            </a:pPr>
            <a:r>
              <a:rPr lang="en-US" sz="16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05</a:t>
            </a:r>
            <a:pPr algn="r">
              <a:lnSpc>
                <a:spcPct val="90000"/>
              </a:lnSpc>
            </a:pPr>
            <a:r>
              <a:rPr lang="en-US" sz="16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/05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1381644" y="559691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1381644" y="656665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1381644" y="753639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 flipV="1">
            <a:off x="2304972" y="6281738"/>
            <a:ext cx="5746750" cy="1905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pic>
        <p:nvPicPr>
          <p:cNvPr id="15" name="Image 1" descr="https://kimi-img.moonshot.cn/pub/slides/slides_tmpl/image/25-10-09-16:35:24-d3jn7j0s8jdo4os5diug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0291445" y="5408930"/>
            <a:ext cx="2170430" cy="728980"/>
          </a:xfrm>
          <a:prstGeom prst="rect">
            <a:avLst/>
          </a:prstGeom>
        </p:spPr>
      </p:pic>
      <p:pic>
        <p:nvPicPr>
          <p:cNvPr id="16" name="Image 2" descr="https://kimi-img.moonshot.cn/pub/slides/slides_tmpl/image/25-10-09-16:35:24-d3jn7j0s8jdo4os5div0.png">    </p:cNvPr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flipV="1">
            <a:off x="772795" y="534035"/>
            <a:ext cx="762000" cy="76200"/>
          </a:xfrm>
          <a:prstGeom prst="rect">
            <a:avLst/>
          </a:prstGeom>
        </p:spPr>
      </p:pic>
      <p:pic>
        <p:nvPicPr>
          <p:cNvPr id="17" name="Image 3" descr="https://kimi-img.moonshot.cn/pub/slides/slides_tmpl/image/25-10-09-16:35:24-d3jn7j0s8jdo4os5div0.png">    </p:cNvPr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flipV="1">
            <a:off x="772795" y="664845"/>
            <a:ext cx="762000" cy="762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彩票中奖：从天降横财到人生责任</dc:title>
  <dc:subject>彩票中奖：从天降横财到人生责任</dc:subject>
  <dc:creator>Kimi</dc:creator>
  <cp:lastModifiedBy>Kimi</cp:lastModifiedBy>
  <cp:revision>1</cp:revision>
  <dcterms:created xsi:type="dcterms:W3CDTF">2026-01-07T11:31:53Z</dcterms:created>
  <dcterms:modified xsi:type="dcterms:W3CDTF">2026-01-07T11:31:53Z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{"Label":"彩票中奖：从天降横财到人生责任","ContentProducer":"001191110108MACG2KBH8F10000","ProduceID":"d5f44te4t3on2aggng7g","ReservedCode1":"","ContentPropagator":"001191110108MACG2KBH8F20000","PropagateID":"d5f44te4t3on2aggng7g","ReservedCode2":""}</vt:lpwstr>
  </property>
</Properties>
</file>