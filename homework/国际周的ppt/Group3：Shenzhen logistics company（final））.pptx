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2" r:id="rId18"/>
    <p:sldId id="273" r:id="rId19"/>
  </p:sldIdLst>
  <p:sldSz cx="12192000" cy="6858000" type="screen16x9"/>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7" name=""/>
        <p:cNvGrpSpPr/>
        <p:nvPr/>
      </p:nvGrpSpPr>
      <p:grpSpPr>
        <a:xfrm>
          <a:off x="0" y="0"/>
          <a:ext cx="0" cy="0"/>
          <a:chOff x="0" y="0"/>
          <a:chExt cx="0" cy="0"/>
        </a:xfrm>
      </p:grpSpPr>
      <p:sp>
        <p:nvSpPr>
          <p:cNvPr id="8" name="标题 1"/>
          <p:cNvSpPr>
            <a:spLocks noGrp="1"/>
          </p:cNvSpPr>
          <p:nvPr>
            <p:ph type="title"/>
          </p:nvPr>
        </p:nvSpPr>
        <p:spPr/>
        <p:txBody>
          <a:bodyPr/>
          <a:lstStyle/>
          <a:p>
            <a:r>
              <a:rPr lang="zh-CN" altLang="en-US"/>
              <a:t>单击此处编辑母版标题样式</a:t>
            </a:r>
            <a:endParaRPr lang="zh-CN" altLang="en-US"/>
          </a:p>
        </p:txBody>
      </p:sp>
      <p:sp>
        <p:nvSpPr>
          <p:cNvPr id="9"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11" name="页脚占位符 4"/>
          <p:cNvSpPr>
            <a:spLocks noGrp="1"/>
          </p:cNvSpPr>
          <p:nvPr>
            <p:ph type="ftr" sz="quarter" idx="11"/>
          </p:nvPr>
        </p:nvSpPr>
        <p:spPr/>
        <p:txBody>
          <a:bodyPr/>
          <a:lstStyle/>
          <a:p>
            <a:endParaRPr lang="zh-CN" altLang="en-US"/>
          </a:p>
        </p:txBody>
      </p:sp>
      <p:sp>
        <p:nvSpPr>
          <p:cNvPr id="12"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节标题">
    <p:spTree>
      <p:nvGrpSpPr>
        <p:cNvPr id="19" name=""/>
        <p:cNvGrpSpPr/>
        <p:nvPr/>
      </p:nvGrpSpPr>
      <p:grpSpPr>
        <a:xfrm>
          <a:off x="0" y="0"/>
          <a:ext cx="0" cy="0"/>
          <a:chOff x="0" y="0"/>
          <a:chExt cx="0" cy="0"/>
        </a:xfrm>
      </p:grpSpPr>
      <p:sp>
        <p:nvSpPr>
          <p:cNvPr id="20"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21"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22"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23" name="页脚占位符 4"/>
          <p:cNvSpPr>
            <a:spLocks noGrp="1"/>
          </p:cNvSpPr>
          <p:nvPr>
            <p:ph type="ftr" sz="quarter" idx="11"/>
          </p:nvPr>
        </p:nvSpPr>
        <p:spPr/>
        <p:txBody>
          <a:bodyPr/>
          <a:lstStyle/>
          <a:p>
            <a:endParaRPr lang="zh-CN" altLang="en-US"/>
          </a:p>
        </p:txBody>
      </p:sp>
      <p:sp>
        <p:nvSpPr>
          <p:cNvPr id="24"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spTree>
      <p:nvGrpSpPr>
        <p:cNvPr id="25" name=""/>
        <p:cNvGrpSpPr/>
        <p:nvPr/>
      </p:nvGrpSpPr>
      <p:grpSpPr>
        <a:xfrm>
          <a:off x="0" y="0"/>
          <a:ext cx="0" cy="0"/>
          <a:chOff x="0" y="0"/>
          <a:chExt cx="0" cy="0"/>
        </a:xfrm>
      </p:grpSpPr>
      <p:sp>
        <p:nvSpPr>
          <p:cNvPr id="26" name="标题 1"/>
          <p:cNvSpPr>
            <a:spLocks noGrp="1"/>
          </p:cNvSpPr>
          <p:nvPr>
            <p:ph type="title"/>
          </p:nvPr>
        </p:nvSpPr>
        <p:spPr/>
        <p:txBody>
          <a:bodyPr/>
          <a:lstStyle/>
          <a:p>
            <a:r>
              <a:rPr lang="zh-CN" altLang="en-US"/>
              <a:t>单击此处编辑母版标题样式</a:t>
            </a:r>
            <a:endParaRPr lang="zh-CN" altLang="en-US"/>
          </a:p>
        </p:txBody>
      </p:sp>
      <p:sp>
        <p:nvSpPr>
          <p:cNvPr id="27"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8"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9"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0" name="页脚占位符 5"/>
          <p:cNvSpPr>
            <a:spLocks noGrp="1"/>
          </p:cNvSpPr>
          <p:nvPr>
            <p:ph type="ftr" sz="quarter" idx="11"/>
          </p:nvPr>
        </p:nvSpPr>
        <p:spPr/>
        <p:txBody>
          <a:bodyPr/>
          <a:lstStyle/>
          <a:p>
            <a:endParaRPr lang="zh-CN" altLang="en-US"/>
          </a:p>
        </p:txBody>
      </p:sp>
      <p:sp>
        <p:nvSpPr>
          <p:cNvPr id="31"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较">
    <p:spTree>
      <p:nvGrpSpPr>
        <p:cNvPr id="32" name=""/>
        <p:cNvGrpSpPr/>
        <p:nvPr/>
      </p:nvGrpSpPr>
      <p:grpSpPr>
        <a:xfrm>
          <a:off x="0" y="0"/>
          <a:ext cx="0" cy="0"/>
          <a:chOff x="0" y="0"/>
          <a:chExt cx="0" cy="0"/>
        </a:xfrm>
      </p:grpSpPr>
      <p:sp>
        <p:nvSpPr>
          <p:cNvPr id="33"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4"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35"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6"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37"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8"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9" name="页脚占位符 7"/>
          <p:cNvSpPr>
            <a:spLocks noGrp="1"/>
          </p:cNvSpPr>
          <p:nvPr>
            <p:ph type="ftr" sz="quarter" idx="11"/>
          </p:nvPr>
        </p:nvSpPr>
        <p:spPr/>
        <p:txBody>
          <a:bodyPr/>
          <a:lstStyle/>
          <a:p>
            <a:endParaRPr lang="zh-CN" altLang="en-US"/>
          </a:p>
        </p:txBody>
      </p:sp>
      <p:sp>
        <p:nvSpPr>
          <p:cNvPr id="40"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41" name=""/>
        <p:cNvGrpSpPr/>
        <p:nvPr/>
      </p:nvGrpSpPr>
      <p:grpSpPr>
        <a:xfrm>
          <a:off x="0" y="0"/>
          <a:ext cx="0" cy="0"/>
          <a:chOff x="0" y="0"/>
          <a:chExt cx="0" cy="0"/>
        </a:xfrm>
      </p:grpSpPr>
      <p:sp>
        <p:nvSpPr>
          <p:cNvPr id="42" name="标题 1"/>
          <p:cNvSpPr>
            <a:spLocks noGrp="1"/>
          </p:cNvSpPr>
          <p:nvPr>
            <p:ph type="title"/>
          </p:nvPr>
        </p:nvSpPr>
        <p:spPr/>
        <p:txBody>
          <a:bodyPr/>
          <a:lstStyle/>
          <a:p>
            <a:r>
              <a:rPr lang="zh-CN" altLang="en-US"/>
              <a:t>单击此处编辑母版标题样式</a:t>
            </a:r>
            <a:endParaRPr lang="zh-CN" altLang="en-US"/>
          </a:p>
        </p:txBody>
      </p:sp>
      <p:sp>
        <p:nvSpPr>
          <p:cNvPr id="4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4" name="页脚占位符 3"/>
          <p:cNvSpPr>
            <a:spLocks noGrp="1"/>
          </p:cNvSpPr>
          <p:nvPr>
            <p:ph type="ftr" sz="quarter" idx="11"/>
          </p:nvPr>
        </p:nvSpPr>
        <p:spPr/>
        <p:txBody>
          <a:bodyPr/>
          <a:lstStyle/>
          <a:p>
            <a:endParaRPr lang="zh-CN" altLang="en-US"/>
          </a:p>
        </p:txBody>
      </p:sp>
      <p:sp>
        <p:nvSpPr>
          <p:cNvPr id="4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46" name=""/>
        <p:cNvGrpSpPr/>
        <p:nvPr/>
      </p:nvGrpSpPr>
      <p:grpSpPr>
        <a:xfrm>
          <a:off x="0" y="0"/>
          <a:ext cx="0" cy="0"/>
          <a:chOff x="0" y="0"/>
          <a:chExt cx="0" cy="0"/>
        </a:xfrm>
      </p:grpSpPr>
      <p:sp>
        <p:nvSpPr>
          <p:cNvPr id="47"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8" name="页脚占位符 2"/>
          <p:cNvSpPr>
            <a:spLocks noGrp="1"/>
          </p:cNvSpPr>
          <p:nvPr>
            <p:ph type="ftr" sz="quarter" idx="11"/>
          </p:nvPr>
        </p:nvSpPr>
        <p:spPr/>
        <p:txBody>
          <a:bodyPr/>
          <a:lstStyle/>
          <a:p>
            <a:endParaRPr lang="zh-CN" altLang="en-US"/>
          </a:p>
        </p:txBody>
      </p:sp>
      <p:sp>
        <p:nvSpPr>
          <p:cNvPr id="49"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内容与标题">
    <p:spTree>
      <p:nvGrpSpPr>
        <p:cNvPr id="50" name=""/>
        <p:cNvGrpSpPr/>
        <p:nvPr/>
      </p:nvGrpSpPr>
      <p:grpSpPr>
        <a:xfrm>
          <a:off x="0" y="0"/>
          <a:ext cx="0" cy="0"/>
          <a:chOff x="0" y="0"/>
          <a:chExt cx="0" cy="0"/>
        </a:xfrm>
      </p:grpSpPr>
      <p:sp>
        <p:nvSpPr>
          <p:cNvPr id="51"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52"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3"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4"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5" name="页脚占位符 5"/>
          <p:cNvSpPr>
            <a:spLocks noGrp="1"/>
          </p:cNvSpPr>
          <p:nvPr>
            <p:ph type="ftr" sz="quarter" idx="11"/>
          </p:nvPr>
        </p:nvSpPr>
        <p:spPr/>
        <p:txBody>
          <a:bodyPr/>
          <a:lstStyle/>
          <a:p>
            <a:endParaRPr lang="zh-CN" altLang="en-US"/>
          </a:p>
        </p:txBody>
      </p:sp>
      <p:sp>
        <p:nvSpPr>
          <p:cNvPr id="56"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图片与标题">
    <p:spTree>
      <p:nvGrpSpPr>
        <p:cNvPr id="57" name=""/>
        <p:cNvGrpSpPr/>
        <p:nvPr/>
      </p:nvGrpSpPr>
      <p:grpSpPr>
        <a:xfrm>
          <a:off x="0" y="0"/>
          <a:ext cx="0" cy="0"/>
          <a:chOff x="0" y="0"/>
          <a:chExt cx="0" cy="0"/>
        </a:xfrm>
      </p:grpSpPr>
      <p:sp>
        <p:nvSpPr>
          <p:cNvPr id="58"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59"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60"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61"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2" name="页脚占位符 5"/>
          <p:cNvSpPr>
            <a:spLocks noGrp="1"/>
          </p:cNvSpPr>
          <p:nvPr>
            <p:ph type="ftr" sz="quarter" idx="11"/>
          </p:nvPr>
        </p:nvSpPr>
        <p:spPr/>
        <p:txBody>
          <a:bodyPr/>
          <a:lstStyle/>
          <a:p>
            <a:endParaRPr lang="zh-CN" altLang="en-US"/>
          </a:p>
        </p:txBody>
      </p:sp>
      <p:sp>
        <p:nvSpPr>
          <p:cNvPr id="63"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标题和竖排文字">
    <p:spTree>
      <p:nvGrpSpPr>
        <p:cNvPr id="64" name=""/>
        <p:cNvGrpSpPr/>
        <p:nvPr/>
      </p:nvGrpSpPr>
      <p:grpSpPr>
        <a:xfrm>
          <a:off x="0" y="0"/>
          <a:ext cx="0" cy="0"/>
          <a:chOff x="0" y="0"/>
          <a:chExt cx="0" cy="0"/>
        </a:xfrm>
      </p:grpSpPr>
      <p:sp>
        <p:nvSpPr>
          <p:cNvPr id="65" name="标题 1"/>
          <p:cNvSpPr>
            <a:spLocks noGrp="1"/>
          </p:cNvSpPr>
          <p:nvPr>
            <p:ph type="title"/>
          </p:nvPr>
        </p:nvSpPr>
        <p:spPr/>
        <p:txBody>
          <a:bodyPr/>
          <a:lstStyle/>
          <a:p>
            <a:r>
              <a:rPr lang="zh-CN" altLang="en-US"/>
              <a:t>单击此处编辑母版标题样式</a:t>
            </a:r>
            <a:endParaRPr lang="zh-CN" altLang="en-US"/>
          </a:p>
        </p:txBody>
      </p:sp>
      <p:sp>
        <p:nvSpPr>
          <p:cNvPr id="66"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7"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8" name="页脚占位符 4"/>
          <p:cNvSpPr>
            <a:spLocks noGrp="1"/>
          </p:cNvSpPr>
          <p:nvPr>
            <p:ph type="ftr" sz="quarter" idx="11"/>
          </p:nvPr>
        </p:nvSpPr>
        <p:spPr/>
        <p:txBody>
          <a:bodyPr/>
          <a:lstStyle/>
          <a:p>
            <a:endParaRPr lang="zh-CN" altLang="en-US"/>
          </a:p>
        </p:txBody>
      </p:sp>
      <p:sp>
        <p:nvSpPr>
          <p:cNvPr id="69"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垂直排列标题与 文本">
    <p:spTree>
      <p:nvGrpSpPr>
        <p:cNvPr id="13" name=""/>
        <p:cNvGrpSpPr/>
        <p:nvPr/>
      </p:nvGrpSpPr>
      <p:grpSpPr>
        <a:xfrm>
          <a:off x="0" y="0"/>
          <a:ext cx="0" cy="0"/>
          <a:chOff x="0" y="0"/>
          <a:chExt cx="0" cy="0"/>
        </a:xfrm>
      </p:grpSpPr>
      <p:sp>
        <p:nvSpPr>
          <p:cNvPr id="14"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15"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6"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17" name="页脚占位符 4"/>
          <p:cNvSpPr>
            <a:spLocks noGrp="1"/>
          </p:cNvSpPr>
          <p:nvPr>
            <p:ph type="ftr" sz="quarter" idx="11"/>
          </p:nvPr>
        </p:nvSpPr>
        <p:spPr/>
        <p:txBody>
          <a:bodyPr/>
          <a:lstStyle/>
          <a:p>
            <a:endParaRPr lang="zh-CN" altLang="en-US"/>
          </a:p>
        </p:txBody>
      </p:sp>
      <p:sp>
        <p:nvSpPr>
          <p:cNvPr id="18"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9.png"/><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2.png"/><Relationship Id="rId3" Type="http://schemas.openxmlformats.org/officeDocument/2006/relationships/hyperlink" Target="https://www.imf.org/zh/News/Articles/2025/04/17/sp041725-spring-meetings-2025-curtain-raiser" TargetMode="External"/><Relationship Id="rId2" Type="http://schemas.openxmlformats.org/officeDocument/2006/relationships/image" Target="../media/image11.pn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13.GIF"/><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hyperlink" Target="https://www.jianshu.com/p/0b96424c69f6" TargetMode="External"/><Relationship Id="rId2" Type="http://schemas.openxmlformats.org/officeDocument/2006/relationships/image" Target="../media/image10.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7.jpeg"/><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8.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9.jpe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0.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0.png"/><Relationship Id="rId3" Type="http://schemas.openxmlformats.org/officeDocument/2006/relationships/hyperlink" Target="http://eng.yidaiyilu.gov.cn/" TargetMode="External"/><Relationship Id="rId2" Type="http://schemas.openxmlformats.org/officeDocument/2006/relationships/image" Target="../media/image22.jpeg"/><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1" descr="卡通人物  AI 生成的内容可能不正确。"/>
          <p:cNvPicPr>
            <a:picLocks noChangeAspect="1"/>
          </p:cNvPicPr>
          <p:nvPr/>
        </p:nvPicPr>
        <p:blipFill>
          <a:blip r:embed="rId1"/>
          <a:stretch>
            <a:fillRect/>
          </a:stretch>
        </p:blipFill>
        <p:spPr>
          <a:xfrm>
            <a:off x="-2" y="248"/>
            <a:ext cx="14492331" cy="6859021"/>
          </a:xfrm>
          <a:prstGeom prst="rect">
            <a:avLst/>
          </a:prstGeom>
        </p:spPr>
      </p:pic>
      <p:sp>
        <p:nvSpPr>
          <p:cNvPr id="3" name="矩形 5"/>
          <p:cNvSpPr/>
          <p:nvPr/>
        </p:nvSpPr>
        <p:spPr>
          <a:xfrm>
            <a:off x="1187450" y="1993900"/>
            <a:ext cx="9331325" cy="2063750"/>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框 6"/>
          <p:cNvSpPr txBox="1"/>
          <p:nvPr/>
        </p:nvSpPr>
        <p:spPr>
          <a:xfrm>
            <a:off x="1157288" y="2644775"/>
            <a:ext cx="9391650" cy="762000"/>
          </a:xfrm>
          <a:prstGeom prst="rect">
            <a:avLst/>
          </a:prstGeom>
          <a:noFill/>
        </p:spPr>
        <p:txBody>
          <a:bodyPr wrap="square" rtlCol="0">
            <a:spAutoFit/>
          </a:bodyPr>
          <a:lstStyle/>
          <a:p>
            <a:pPr algn="ctr"/>
            <a:r>
              <a:rPr lang="en-US" sz="4400">
                <a:latin typeface="阿里汉仪智能黑体"/>
                <a:ea typeface="阿里汉仪智能黑体"/>
                <a:cs typeface="+mn-cs"/>
              </a:rPr>
              <a:t>Welcome to Shenzhen logistics company  </a:t>
            </a:r>
            <a:endParaRPr lang="en-US" sz="4400">
              <a:latin typeface="阿里汉仪智能黑体"/>
              <a:ea typeface="阿里汉仪智能黑体"/>
              <a:cs typeface="+mn-cs"/>
            </a:endParaRPr>
          </a:p>
        </p:txBody>
      </p:sp>
      <p:sp>
        <p:nvSpPr>
          <p:cNvPr id="5" name="AutoShape 2" descr="清明上河图 的图像结果"/>
          <p:cNvSpPr>
            <a:spLocks noChangeAspect="1" noChangeArrowheads="1"/>
          </p:cNvSpPr>
          <p:nvPr/>
        </p:nvSpPr>
        <p:spPr bwMode="auto">
          <a:xfrm>
            <a:off x="5943600" y="3276600"/>
            <a:ext cx="304800" cy="304800"/>
          </a:xfrm>
          <a:prstGeom prst="rect">
            <a:avLst/>
          </a:prstGeom>
          <a:noFill/>
        </p:spPr>
        <p:txBody>
          <a:bodyPr vert="horz" wrap="square" lIns="91440" tIns="45720" rIns="91440" bIns="45720" numCol="1" anchor="t" anchorCtr="0" compatLnSpc="1"/>
          <a:lstStyle/>
          <a:p>
            <a:endParaRPr lang="zh-CN" altLang="en-US"/>
          </a:p>
        </p:txBody>
      </p:sp>
    </p:spTree>
  </p:cSld>
  <p:clrMapOvr>
    <a:masterClrMapping/>
  </p:clrMapOvr>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FAF2"/>
        </a:solidFill>
        <a:effectLst/>
      </p:bgPr>
    </p:bg>
    <p:spTree>
      <p:nvGrpSpPr>
        <p:cNvPr id="95" name=""/>
        <p:cNvGrpSpPr/>
        <p:nvPr/>
      </p:nvGrpSpPr>
      <p:grpSpPr>
        <a:xfrm>
          <a:off x="0" y="0"/>
          <a:ext cx="0" cy="0"/>
          <a:chOff x="0" y="0"/>
          <a:chExt cx="0" cy="0"/>
        </a:xfrm>
      </p:grpSpPr>
      <p:sp>
        <p:nvSpPr>
          <p:cNvPr id="96" name="矩形: 圆角 4"/>
          <p:cNvSpPr/>
          <p:nvPr/>
        </p:nvSpPr>
        <p:spPr>
          <a:xfrm>
            <a:off x="1458270" y="2194014"/>
            <a:ext cx="3909580" cy="467116"/>
          </a:xfrm>
          <a:prstGeom prst="roundRect">
            <a:avLst>
              <a:gd name="adj" fmla="val 30941"/>
            </a:avLst>
          </a:prstGeom>
          <a:solidFill>
            <a:srgbClr val="E9E1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latin typeface="汉仪玄宋 95S"/>
              <a:ea typeface="汉仪玄宋 95S"/>
              <a:cs typeface="+mj-cs"/>
            </a:endParaRPr>
          </a:p>
        </p:txBody>
      </p:sp>
      <p:sp>
        <p:nvSpPr>
          <p:cNvPr id="97" name="文本框 2"/>
          <p:cNvSpPr txBox="1"/>
          <p:nvPr/>
        </p:nvSpPr>
        <p:spPr>
          <a:xfrm>
            <a:off x="1642466" y="3028890"/>
            <a:ext cx="8604250" cy="1876425"/>
          </a:xfrm>
          <a:prstGeom prst="rect">
            <a:avLst/>
          </a:prstGeom>
          <a:noFill/>
        </p:spPr>
        <p:txBody>
          <a:bodyPr wrap="square" rtlCol="0">
            <a:spAutoFit/>
          </a:bodyPr>
          <a:lstStyle/>
          <a:p>
            <a:r>
              <a:rPr lang="en-US" sz="2800">
                <a:latin typeface="阿里汉仪智能黑体"/>
                <a:ea typeface="阿里汉仪智能黑体"/>
                <a:cs typeface="+mn-cs"/>
              </a:rPr>
              <a:t>we are a logistic company that :</a:t>
            </a:r>
            <a:endParaRPr lang="en-US" sz="2800">
              <a:latin typeface="阿里汉仪智能黑体"/>
              <a:ea typeface="阿里汉仪智能黑体"/>
              <a:cs typeface="+mn-cs"/>
            </a:endParaRPr>
          </a:p>
          <a:p>
            <a:r>
              <a:rPr lang="en-US" sz="4400">
                <a:highlight>
                  <a:srgbClr val="319B62">
                    <a:alpha val="100000"/>
                  </a:srgbClr>
                </a:highlight>
                <a:latin typeface="阿里汉仪智能黑体"/>
                <a:ea typeface="阿里汉仪智能黑体"/>
                <a:cs typeface="+mn-cs"/>
              </a:rPr>
              <a:t>shipping goods</a:t>
            </a:r>
            <a:r>
              <a:rPr lang="en-US" sz="4400">
                <a:latin typeface="阿里汉仪智能黑体"/>
                <a:ea typeface="阿里汉仪智能黑体"/>
                <a:cs typeface="+mn-cs"/>
              </a:rPr>
              <a:t> to all over the world,</a:t>
            </a:r>
            <a:r>
              <a:rPr lang="en-US" sz="2000">
                <a:latin typeface="字体家AI造字剑客"/>
                <a:ea typeface="字体家AI造字剑客"/>
                <a:cs typeface="+mn-cs"/>
              </a:rPr>
              <a:t>                      </a:t>
            </a:r>
            <a:endParaRPr lang="en-US" sz="2000">
              <a:latin typeface="字体家AI造字剑客"/>
              <a:ea typeface="字体家AI造字剑客"/>
              <a:cs typeface="+mn-cs"/>
            </a:endParaRPr>
          </a:p>
        </p:txBody>
      </p:sp>
      <p:pic>
        <p:nvPicPr>
          <p:cNvPr id="98" name="图片 7" descr="图片包含 台球, 游戏机, 桌子  AI 生成的内容可能不正确。"/>
          <p:cNvPicPr>
            <a:picLocks noChangeAspect="1"/>
          </p:cNvPicPr>
          <p:nvPr/>
        </p:nvPicPr>
        <p:blipFill>
          <a:blip r:embed="rId1" cstate="print"/>
          <a:stretch>
            <a:fillRect/>
          </a:stretch>
        </p:blipFill>
        <p:spPr>
          <a:xfrm flipH="1">
            <a:off x="704853" y="4463990"/>
            <a:ext cx="1168701" cy="1168701"/>
          </a:xfrm>
          <a:prstGeom prst="rect">
            <a:avLst/>
          </a:prstGeom>
        </p:spPr>
      </p:pic>
      <p:pic>
        <p:nvPicPr>
          <p:cNvPr id="99" name="图片 9" descr="徽标  AI 生成的内容可能不正确。"/>
          <p:cNvPicPr>
            <a:picLocks noChangeAspect="1"/>
          </p:cNvPicPr>
          <p:nvPr/>
        </p:nvPicPr>
        <p:blipFill>
          <a:blip r:embed="rId2" cstate="print"/>
          <a:stretch>
            <a:fillRect/>
          </a:stretch>
        </p:blipFill>
        <p:spPr>
          <a:xfrm>
            <a:off x="704610" y="3573231"/>
            <a:ext cx="1106714" cy="1106714"/>
          </a:xfrm>
          <a:prstGeom prst="rect">
            <a:avLst/>
          </a:prstGeom>
        </p:spPr>
      </p:pic>
      <p:sp>
        <p:nvSpPr>
          <p:cNvPr id="100" name="文本框 99"/>
          <p:cNvSpPr txBox="1"/>
          <p:nvPr/>
        </p:nvSpPr>
        <p:spPr>
          <a:xfrm>
            <a:off x="1635125" y="4711060"/>
            <a:ext cx="8731250" cy="762000"/>
          </a:xfrm>
          <a:prstGeom prst="rect">
            <a:avLst/>
          </a:prstGeom>
          <a:ln w="6350">
            <a:prstDash val="solid"/>
          </a:ln>
        </p:spPr>
        <p:txBody>
          <a:bodyPr wrap="none">
            <a:spAutoFit/>
          </a:bodyPr>
          <a:p>
            <a:r>
              <a:rPr lang="en-US" sz="4400">
                <a:highlight>
                  <a:srgbClr val="319B62">
                    <a:alpha val="100000"/>
                  </a:srgbClr>
                </a:highlight>
              </a:rPr>
              <a:t>store the goods</a:t>
            </a:r>
            <a:r>
              <a:rPr lang="en-US" sz="4400"/>
              <a:t> for all over the world.</a:t>
            </a:r>
            <a:endParaRPr lang="en-US" sz="4400"/>
          </a:p>
        </p:txBody>
      </p:sp>
      <p:sp>
        <p:nvSpPr>
          <p:cNvPr id="101" name="标题 1"/>
          <p:cNvSpPr>
            <a:spLocks noGrp="1"/>
          </p:cNvSpPr>
          <p:nvPr>
            <p:ph type="ctrTitle"/>
          </p:nvPr>
        </p:nvSpPr>
        <p:spPr>
          <a:xfrm>
            <a:off x="1511453" y="2207139"/>
            <a:ext cx="3909567" cy="540986"/>
          </a:xfrm>
        </p:spPr>
        <p:txBody>
          <a:bodyPr>
            <a:normAutofit fontScale="90000"/>
          </a:bodyPr>
          <a:lstStyle/>
          <a:p>
            <a:pPr>
              <a:buNone/>
            </a:pPr>
            <a:r>
              <a:rPr lang="en-US" sz="4400">
                <a:latin typeface="阿里汉仪智能黑体"/>
                <a:ea typeface="阿里汉仪智能黑体"/>
                <a:cs typeface="+mn-cs"/>
              </a:rPr>
              <a:t>What do we do?</a:t>
            </a:r>
            <a:endParaRPr lang="en-US" sz="4400">
              <a:latin typeface="阿里汉仪智能黑体"/>
              <a:ea typeface="阿里汉仪智能黑体"/>
              <a:cs typeface="+mn-cs"/>
            </a:endParaRPr>
          </a:p>
        </p:txBody>
      </p:sp>
      <p:sp>
        <p:nvSpPr>
          <p:cNvPr id="105" name="矩形: 圆角 4"/>
          <p:cNvSpPr/>
          <p:nvPr/>
        </p:nvSpPr>
        <p:spPr>
          <a:xfrm>
            <a:off x="1415725" y="765171"/>
            <a:ext cx="3909580" cy="467106"/>
          </a:xfrm>
          <a:prstGeom prst="roundRect">
            <a:avLst>
              <a:gd name="adj" fmla="val 30941"/>
            </a:avLst>
          </a:prstGeom>
          <a:solidFill>
            <a:srgbClr val="E9E1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lvl="0" indent="0" algn="ctr" defTabSz="914400">
              <a:lnSpc>
                <a:spcPct val="90000"/>
              </a:lnSpc>
              <a:buNone/>
              <a:defRPr sz="1800">
                <a:solidFill>
                  <a:schemeClr val="lt1">
                    <a:alpha val="100000"/>
                  </a:schemeClr>
                </a:solidFill>
                <a:latin typeface="Calibri" panose="020F0502020204030204"/>
                <a:ea typeface="微软雅黑" panose="020B0503020204020204" charset="-122"/>
                <a:cs typeface="+mn-cs"/>
              </a:defRPr>
            </a:pPr>
            <a:r>
              <a:rPr lang="en-US" sz="4400" b="0" i="0" u="none" strike="noStrike">
                <a:solidFill>
                  <a:schemeClr val="tx1"/>
                </a:solidFill>
                <a:latin typeface="阿里汉仪智能黑体"/>
                <a:ea typeface="阿里汉仪智能黑体"/>
              </a:rPr>
              <a:t>What are we?</a:t>
            </a:r>
            <a:endParaRPr lang="en-US" sz="4400">
              <a:solidFill>
                <a:schemeClr val="tx1"/>
              </a:solidFill>
              <a:latin typeface="阿里汉仪智能黑体"/>
              <a:ea typeface="阿里汉仪智能黑体"/>
              <a:cs typeface="+mn-cs"/>
            </a:endParaRPr>
          </a:p>
        </p:txBody>
      </p:sp>
      <p:sp>
        <p:nvSpPr>
          <p:cNvPr id="107" name="文本框 106"/>
          <p:cNvSpPr txBox="1"/>
          <p:nvPr/>
        </p:nvSpPr>
        <p:spPr>
          <a:xfrm>
            <a:off x="1642466" y="1322938"/>
            <a:ext cx="6667500" cy="762000"/>
          </a:xfrm>
          <a:prstGeom prst="rect">
            <a:avLst/>
          </a:prstGeom>
          <a:ln w="6350">
            <a:prstDash val="solid"/>
          </a:ln>
        </p:spPr>
        <p:txBody>
          <a:bodyPr wrap="square">
            <a:spAutoFit/>
          </a:bodyPr>
          <a:lstStyle/>
          <a:p>
            <a:pPr marL="0" lvl="0" indent="0" algn="l" defTabSz="914400">
              <a:lnSpc>
                <a:spcPct val="100000"/>
              </a:lnSpc>
              <a:defRPr sz="1800">
                <a:solidFill>
                  <a:schemeClr val="tx1">
                    <a:alpha val="100000"/>
                  </a:schemeClr>
                </a:solidFill>
                <a:latin typeface="Calibri" panose="020F0502020204030204"/>
                <a:ea typeface="微软雅黑" panose="020B0503020204020204" charset="-122"/>
                <a:cs typeface="+mn-cs"/>
              </a:defRPr>
            </a:pPr>
            <a:r>
              <a:rPr lang="en-US" sz="4400" b="0" i="0" u="none" strike="noStrike">
                <a:solidFill>
                  <a:schemeClr val="tx1">
                    <a:alpha val="100000"/>
                  </a:schemeClr>
                </a:solidFill>
                <a:latin typeface="阿里汉仪智能黑体"/>
                <a:ea typeface="阿里汉仪智能黑体"/>
                <a:cs typeface="+mn-cs"/>
              </a:rPr>
              <a:t>We are in </a:t>
            </a:r>
            <a:r>
              <a:rPr lang="en-US" sz="4400" b="0" i="0" u="none" strike="noStrike">
                <a:solidFill>
                  <a:schemeClr val="tx1">
                    <a:alpha val="100000"/>
                  </a:schemeClr>
                </a:solidFill>
                <a:highlight>
                  <a:srgbClr val="319B62">
                    <a:alpha val="100000"/>
                  </a:srgbClr>
                </a:highlight>
                <a:latin typeface="阿里汉仪智能黑体"/>
                <a:ea typeface="阿里汉仪智能黑体"/>
                <a:cs typeface="+mn-cs"/>
              </a:rPr>
              <a:t>Shenzhen</a:t>
            </a:r>
            <a:endParaRPr lang="en-US" sz="4400" b="0" i="0" u="none" strike="noStrike">
              <a:solidFill>
                <a:schemeClr val="tx1">
                  <a:alpha val="100000"/>
                </a:schemeClr>
              </a:solidFill>
              <a:highlight>
                <a:srgbClr val="319B62">
                  <a:alpha val="100000"/>
                </a:srgbClr>
              </a:highlight>
              <a:latin typeface="阿里汉仪智能黑体"/>
              <a:ea typeface="阿里汉仪智能黑体"/>
              <a:cs typeface="+mn-cs"/>
            </a:endParaRPr>
          </a:p>
        </p:txBody>
      </p:sp>
      <p:pic>
        <p:nvPicPr>
          <p:cNvPr id="1" name="图片 0"/>
          <p:cNvPicPr>
            <a:picLocks noChangeAspect="1"/>
          </p:cNvPicPr>
          <p:nvPr/>
        </p:nvPicPr>
        <p:blipFill>
          <a:blip r:embed="rId3"/>
          <a:srcRect t="9661"/>
          <a:stretch>
            <a:fillRect/>
          </a:stretch>
        </p:blipFill>
        <p:spPr>
          <a:xfrm>
            <a:off x="623570" y="692785"/>
            <a:ext cx="720090" cy="575945"/>
          </a:xfrm>
          <a:prstGeom prst="rect">
            <a:avLst/>
          </a:prstGeom>
        </p:spPr>
      </p:pic>
      <p:pic>
        <p:nvPicPr>
          <p:cNvPr id="2" name="图片 1"/>
          <p:cNvPicPr>
            <a:picLocks noChangeAspect="1"/>
          </p:cNvPicPr>
          <p:nvPr/>
        </p:nvPicPr>
        <p:blipFill>
          <a:blip r:embed="rId3"/>
          <a:srcRect t="10392" r="176"/>
          <a:stretch>
            <a:fillRect/>
          </a:stretch>
        </p:blipFill>
        <p:spPr>
          <a:xfrm>
            <a:off x="623570" y="2128520"/>
            <a:ext cx="720090" cy="580390"/>
          </a:xfrm>
          <a:prstGeom prst="rect">
            <a:avLst/>
          </a:prstGeom>
        </p:spPr>
      </p:pic>
      <p:pic>
        <p:nvPicPr>
          <p:cNvPr id="3" name="图片 2"/>
          <p:cNvPicPr>
            <a:picLocks noChangeAspect="1"/>
          </p:cNvPicPr>
          <p:nvPr/>
        </p:nvPicPr>
        <p:blipFill>
          <a:blip r:embed="rId4"/>
          <a:stretch>
            <a:fillRect/>
          </a:stretch>
        </p:blipFill>
        <p:spPr>
          <a:xfrm>
            <a:off x="10436225" y="3429000"/>
            <a:ext cx="1068070" cy="1795145"/>
          </a:xfrm>
          <a:prstGeom prst="rect">
            <a:avLst/>
          </a:prstGeom>
        </p:spPr>
      </p:pic>
    </p:spTree>
  </p:cSld>
  <p:clrMapOvr>
    <a:masterClrMapping/>
  </p:clrMapOvr>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
                                        </p:tgtEl>
                                        <p:attrNameLst>
                                          <p:attrName>style.visibility</p:attrName>
                                        </p:attrNameLst>
                                      </p:cBhvr>
                                      <p:to>
                                        <p:strVal val="visible"/>
                                      </p:to>
                                    </p:set>
                                    <p:animEffect transition="in" filter="blinds(horizontal)">
                                      <p:cBhvr>
                                        <p:cTn id="7" dur="500"/>
                                        <p:tgtEl>
                                          <p:spTgt spid="1"/>
                                        </p:tgtEl>
                                      </p:cBhvr>
                                    </p:animEffect>
                                  </p:childTnLst>
                                </p:cTn>
                              </p:par>
                              <p:par>
                                <p:cTn id="8" presetID="23" presetClass="entr" presetSubtype="16" fill="hold" nodeType="withEffect">
                                  <p:stCondLst>
                                    <p:cond delay="0"/>
                                  </p:stCondLst>
                                  <p:childTnLst>
                                    <p:set>
                                      <p:cBhvr>
                                        <p:cTn id="9" dur="1" fill="hold">
                                          <p:stCondLst>
                                            <p:cond delay="0"/>
                                          </p:stCondLst>
                                        </p:cTn>
                                        <p:tgtEl>
                                          <p:spTgt spid="105"/>
                                        </p:tgtEl>
                                        <p:attrNameLst>
                                          <p:attrName>style.visibility</p:attrName>
                                        </p:attrNameLst>
                                      </p:cBhvr>
                                      <p:to>
                                        <p:strVal val="visible"/>
                                      </p:to>
                                    </p:set>
                                    <p:anim calcmode="lin" valueType="num">
                                      <p:cBhvr>
                                        <p:cTn id="10" dur="500" fill="hold"/>
                                        <p:tgtEl>
                                          <p:spTgt spid="105"/>
                                        </p:tgtEl>
                                        <p:attrNameLst>
                                          <p:attrName>ppt_w</p:attrName>
                                        </p:attrNameLst>
                                      </p:cBhvr>
                                      <p:tavLst>
                                        <p:tav tm="0">
                                          <p:val>
                                            <p:fltVal val="0"/>
                                          </p:val>
                                        </p:tav>
                                        <p:tav tm="100000">
                                          <p:val>
                                            <p:strVal val="#ppt_w"/>
                                          </p:val>
                                        </p:tav>
                                      </p:tavLst>
                                    </p:anim>
                                    <p:anim calcmode="lin" valueType="num">
                                      <p:cBhvr>
                                        <p:cTn id="11" dur="500" fill="hold"/>
                                        <p:tgtEl>
                                          <p:spTgt spid="105"/>
                                        </p:tgtEl>
                                        <p:attrNameLst>
                                          <p:attrName>ppt_h</p:attrName>
                                        </p:attrNameLst>
                                      </p:cBhvr>
                                      <p:tavLst>
                                        <p:tav tm="0">
                                          <p:val>
                                            <p:fltVal val="0"/>
                                          </p:val>
                                        </p:tav>
                                        <p:tav tm="100000">
                                          <p:val>
                                            <p:strVal val="#ppt_h"/>
                                          </p:val>
                                        </p:tav>
                                      </p:tavLst>
                                    </p:anim>
                                  </p:childTnLst>
                                </p:cTn>
                              </p:par>
                            </p:childTnLst>
                          </p:cTn>
                        </p:par>
                      </p:childTnLst>
                    </p:cTn>
                  </p:par>
                  <p:par>
                    <p:cTn id="12" fill="hold">
                      <p:stCondLst>
                        <p:cond delay="indefinite"/>
                      </p:stCondLst>
                      <p:childTnLst>
                        <p:par>
                          <p:cTn id="13" fill="hold">
                            <p:stCondLst>
                              <p:cond delay="0"/>
                            </p:stCondLst>
                            <p:childTnLst>
                              <p:par>
                                <p:cTn id="14" presetID="23" presetClass="entr" presetSubtype="16" fill="hold" nodeType="clickEffect">
                                  <p:stCondLst>
                                    <p:cond delay="0"/>
                                  </p:stCondLst>
                                  <p:childTnLst>
                                    <p:set>
                                      <p:cBhvr>
                                        <p:cTn id="15" dur="1" fill="hold">
                                          <p:stCondLst>
                                            <p:cond delay="0"/>
                                          </p:stCondLst>
                                        </p:cTn>
                                        <p:tgtEl>
                                          <p:spTgt spid="107"/>
                                        </p:tgtEl>
                                        <p:attrNameLst>
                                          <p:attrName>style.visibility</p:attrName>
                                        </p:attrNameLst>
                                      </p:cBhvr>
                                      <p:to>
                                        <p:strVal val="visible"/>
                                      </p:to>
                                    </p:set>
                                    <p:anim calcmode="lin" valueType="num">
                                      <p:cBhvr>
                                        <p:cTn id="16" dur="500" fill="hold"/>
                                        <p:tgtEl>
                                          <p:spTgt spid="107"/>
                                        </p:tgtEl>
                                        <p:attrNameLst>
                                          <p:attrName>ppt_w</p:attrName>
                                        </p:attrNameLst>
                                      </p:cBhvr>
                                      <p:tavLst>
                                        <p:tav tm="0">
                                          <p:val>
                                            <p:fltVal val="0"/>
                                          </p:val>
                                        </p:tav>
                                        <p:tav tm="100000">
                                          <p:val>
                                            <p:strVal val="#ppt_w"/>
                                          </p:val>
                                        </p:tav>
                                      </p:tavLst>
                                    </p:anim>
                                    <p:anim calcmode="lin" valueType="num">
                                      <p:cBhvr>
                                        <p:cTn id="17" dur="500" fill="hold"/>
                                        <p:tgtEl>
                                          <p:spTgt spid="107"/>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par>
                                <p:cTn id="23" presetID="23" presetClass="entr" presetSubtype="16" fill="hold" nodeType="withEffect">
                                  <p:stCondLst>
                                    <p:cond delay="0"/>
                                  </p:stCondLst>
                                  <p:childTnLst>
                                    <p:set>
                                      <p:cBhvr>
                                        <p:cTn id="24" dur="1" fill="hold">
                                          <p:stCondLst>
                                            <p:cond delay="0"/>
                                          </p:stCondLst>
                                        </p:cTn>
                                        <p:tgtEl>
                                          <p:spTgt spid="101"/>
                                        </p:tgtEl>
                                        <p:attrNameLst>
                                          <p:attrName>style.visibility</p:attrName>
                                        </p:attrNameLst>
                                      </p:cBhvr>
                                      <p:to>
                                        <p:strVal val="visible"/>
                                      </p:to>
                                    </p:set>
                                    <p:anim calcmode="lin" valueType="num">
                                      <p:cBhvr>
                                        <p:cTn id="25" dur="500" fill="hold"/>
                                        <p:tgtEl>
                                          <p:spTgt spid="101"/>
                                        </p:tgtEl>
                                        <p:attrNameLst>
                                          <p:attrName>ppt_w</p:attrName>
                                        </p:attrNameLst>
                                      </p:cBhvr>
                                      <p:tavLst>
                                        <p:tav tm="0">
                                          <p:val>
                                            <p:fltVal val="0"/>
                                          </p:val>
                                        </p:tav>
                                        <p:tav tm="100000">
                                          <p:val>
                                            <p:strVal val="#ppt_w"/>
                                          </p:val>
                                        </p:tav>
                                      </p:tavLst>
                                    </p:anim>
                                    <p:anim calcmode="lin" valueType="num">
                                      <p:cBhvr>
                                        <p:cTn id="26" dur="500" fill="hold"/>
                                        <p:tgtEl>
                                          <p:spTgt spid="101"/>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99"/>
                                        </p:tgtEl>
                                        <p:attrNameLst>
                                          <p:attrName>style.visibility</p:attrName>
                                        </p:attrNameLst>
                                      </p:cBhvr>
                                      <p:to>
                                        <p:strVal val="visible"/>
                                      </p:to>
                                    </p:set>
                                    <p:animEffect transition="in" filter="blinds(horizontal)">
                                      <p:cBhvr>
                                        <p:cTn id="31" dur="500"/>
                                        <p:tgtEl>
                                          <p:spTgt spid="99"/>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97"/>
                                        </p:tgtEl>
                                        <p:attrNameLst>
                                          <p:attrName>style.visibility</p:attrName>
                                        </p:attrNameLst>
                                      </p:cBhvr>
                                      <p:to>
                                        <p:strVal val="visible"/>
                                      </p:to>
                                    </p:set>
                                    <p:animEffect transition="in" filter="blinds(horizontal)">
                                      <p:cBhvr>
                                        <p:cTn id="36" dur="500"/>
                                        <p:tgtEl>
                                          <p:spTgt spid="97"/>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98"/>
                                        </p:tgtEl>
                                        <p:attrNameLst>
                                          <p:attrName>style.visibility</p:attrName>
                                        </p:attrNameLst>
                                      </p:cBhvr>
                                      <p:to>
                                        <p:strVal val="visible"/>
                                      </p:to>
                                    </p:set>
                                    <p:animEffect transition="in" filter="blinds(horizontal)">
                                      <p:cBhvr>
                                        <p:cTn id="41" dur="500"/>
                                        <p:tgtEl>
                                          <p:spTgt spid="98"/>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100"/>
                                        </p:tgtEl>
                                        <p:attrNameLst>
                                          <p:attrName>style.visibility</p:attrName>
                                        </p:attrNameLst>
                                      </p:cBhvr>
                                      <p:to>
                                        <p:strVal val="visible"/>
                                      </p:to>
                                    </p:set>
                                    <p:animEffect transition="in" filter="blinds(horizontal)">
                                      <p:cBhvr>
                                        <p:cTn id="46" dur="500"/>
                                        <p:tgtEl>
                                          <p:spTgt spid="10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wipe(down)">
                                      <p:cBhvr>
                                        <p:cTn id="51" dur="500"/>
                                        <p:tgtEl>
                                          <p:spTgt spid="3"/>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E6C0">
            <a:alpha val="100000"/>
          </a:srgbClr>
        </a:solidFill>
        <a:effectLst/>
      </p:bgPr>
    </p:bg>
    <p:spTree>
      <p:nvGrpSpPr>
        <p:cNvPr id="108" name=""/>
        <p:cNvGrpSpPr/>
        <p:nvPr/>
      </p:nvGrpSpPr>
      <p:grpSpPr>
        <a:xfrm>
          <a:off x="0" y="0"/>
          <a:ext cx="0" cy="0"/>
          <a:chOff x="0" y="0"/>
          <a:chExt cx="0" cy="0"/>
        </a:xfrm>
      </p:grpSpPr>
      <p:sp>
        <p:nvSpPr>
          <p:cNvPr id="109" name="矩形: 圆角 4"/>
          <p:cNvSpPr/>
          <p:nvPr/>
        </p:nvSpPr>
        <p:spPr>
          <a:xfrm>
            <a:off x="1775840" y="359664"/>
            <a:ext cx="7202106" cy="855597"/>
          </a:xfrm>
          <a:prstGeom prst="roundRect">
            <a:avLst>
              <a:gd name="adj" fmla="val 30941"/>
            </a:avLst>
          </a:prstGeom>
          <a:solidFill>
            <a:srgbClr val="E9E1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标题 1"/>
          <p:cNvSpPr>
            <a:spLocks noGrp="1"/>
          </p:cNvSpPr>
          <p:nvPr>
            <p:ph type="ctrTitle"/>
          </p:nvPr>
        </p:nvSpPr>
        <p:spPr>
          <a:xfrm>
            <a:off x="1701140" y="242021"/>
            <a:ext cx="7202128" cy="973240"/>
          </a:xfrm>
        </p:spPr>
        <p:txBody>
          <a:bodyPr>
            <a:noAutofit/>
          </a:bodyPr>
          <a:lstStyle/>
          <a:p>
            <a:pPr>
              <a:buNone/>
            </a:pPr>
            <a:r>
              <a:rPr lang="en-US" sz="2400">
                <a:latin typeface="Arial" panose="020B0604020202020204"/>
                <a:ea typeface="Arial" panose="020B0604020202020204"/>
                <a:cs typeface="+mj-cs"/>
              </a:rPr>
              <a:t>But now, we have to face some problem that could make difference to our fate</a:t>
            </a:r>
            <a:endParaRPr lang="zh-CN">
              <a:latin typeface="江西拙楷"/>
              <a:ea typeface="江西拙楷"/>
              <a:cs typeface="+mj-cs"/>
            </a:endParaRPr>
          </a:p>
        </p:txBody>
      </p:sp>
      <p:pic>
        <p:nvPicPr>
          <p:cNvPr id="111" name="图片 14"/>
          <p:cNvPicPr>
            <a:picLocks noChangeAspect="1"/>
          </p:cNvPicPr>
          <p:nvPr/>
        </p:nvPicPr>
        <p:blipFill>
          <a:blip r:embed="rId1"/>
          <a:stretch>
            <a:fillRect/>
          </a:stretch>
        </p:blipFill>
        <p:spPr>
          <a:xfrm>
            <a:off x="575853" y="359664"/>
            <a:ext cx="917481" cy="973240"/>
          </a:xfrm>
          <a:prstGeom prst="rect">
            <a:avLst/>
          </a:prstGeom>
        </p:spPr>
      </p:pic>
      <p:pic>
        <p:nvPicPr>
          <p:cNvPr id="112" name="图片 111"/>
          <p:cNvPicPr>
            <a:picLocks noChangeAspect="1"/>
          </p:cNvPicPr>
          <p:nvPr/>
        </p:nvPicPr>
        <p:blipFill>
          <a:blip r:embed="rId2"/>
          <a:stretch>
            <a:fillRect/>
          </a:stretch>
        </p:blipFill>
        <p:spPr>
          <a:xfrm>
            <a:off x="0" y="1625600"/>
            <a:ext cx="3983354" cy="2239010"/>
          </a:xfrm>
          <a:prstGeom prst="rect">
            <a:avLst/>
          </a:prstGeom>
        </p:spPr>
      </p:pic>
      <p:pic>
        <p:nvPicPr>
          <p:cNvPr id="113" name="图片 112"/>
          <p:cNvPicPr>
            <a:picLocks noChangeAspect="1"/>
          </p:cNvPicPr>
          <p:nvPr/>
        </p:nvPicPr>
        <p:blipFill>
          <a:blip r:embed="rId3"/>
          <a:stretch>
            <a:fillRect/>
          </a:stretch>
        </p:blipFill>
        <p:spPr>
          <a:xfrm>
            <a:off x="4662746" y="1411631"/>
            <a:ext cx="2141505" cy="2666948"/>
          </a:xfrm>
          <a:prstGeom prst="rect">
            <a:avLst/>
          </a:prstGeom>
        </p:spPr>
      </p:pic>
      <p:pic>
        <p:nvPicPr>
          <p:cNvPr id="114" name="图片 113"/>
          <p:cNvPicPr>
            <a:picLocks noChangeAspect="1"/>
          </p:cNvPicPr>
          <p:nvPr/>
        </p:nvPicPr>
        <p:blipFill>
          <a:blip r:embed="rId4"/>
          <a:stretch>
            <a:fillRect/>
          </a:stretch>
        </p:blipFill>
        <p:spPr>
          <a:xfrm>
            <a:off x="7698105" y="1617663"/>
            <a:ext cx="4493895" cy="2246947"/>
          </a:xfrm>
          <a:prstGeom prst="rect">
            <a:avLst/>
          </a:prstGeom>
        </p:spPr>
      </p:pic>
      <p:sp>
        <p:nvSpPr>
          <p:cNvPr id="115" name="文本框 114"/>
          <p:cNvSpPr txBox="1"/>
          <p:nvPr/>
        </p:nvSpPr>
        <p:spPr>
          <a:xfrm>
            <a:off x="-200577" y="4157306"/>
            <a:ext cx="11868150" cy="398780"/>
          </a:xfrm>
          <a:prstGeom prst="rect">
            <a:avLst/>
          </a:prstGeom>
          <a:ln w="12700">
            <a:prstDash val="solid"/>
          </a:ln>
        </p:spPr>
        <p:txBody>
          <a:bodyPr>
            <a:spAutoFit/>
          </a:bodyPr>
          <a:p>
            <a:r>
              <a:rPr lang="en-US"/>
              <a:t>            </a:t>
            </a:r>
            <a:r>
              <a:rPr lang="en-US" sz="2000"/>
              <a:t> traffic blockade(tax)                                     enterprise competition                                 material price  </a:t>
            </a:r>
            <a:r>
              <a:rPr lang="en-US" sz="2000">
                <a:sym typeface="+mn-ea"/>
              </a:rPr>
              <a:t>increace</a:t>
            </a:r>
            <a:r>
              <a:rPr lang="en-US" sz="2000"/>
              <a:t>     </a:t>
            </a:r>
            <a:r>
              <a:rPr lang="en-US"/>
              <a:t>                         </a:t>
            </a:r>
            <a:endParaRPr lang="en-US"/>
          </a:p>
        </p:txBody>
      </p:sp>
      <p:sp>
        <p:nvSpPr>
          <p:cNvPr id="116" name="矩形: 圆角 3"/>
          <p:cNvSpPr/>
          <p:nvPr/>
        </p:nvSpPr>
        <p:spPr>
          <a:xfrm>
            <a:off x="3651360" y="1105552"/>
            <a:ext cx="3301687" cy="109709"/>
          </a:xfrm>
          <a:prstGeom prst="roundRect">
            <a:avLst>
              <a:gd name="adj" fmla="val 50000"/>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blinds(horizontal)">
                                      <p:cBhvr>
                                        <p:cTn id="7" dur="500"/>
                                        <p:tgtEl>
                                          <p:spTgt spid="1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2"/>
                                        </p:tgtEl>
                                        <p:attrNameLst>
                                          <p:attrName>style.visibility</p:attrName>
                                        </p:attrNameLst>
                                      </p:cBhvr>
                                      <p:to>
                                        <p:strVal val="visible"/>
                                      </p:to>
                                    </p:set>
                                    <p:animEffect transition="in" filter="blinds(horizontal)">
                                      <p:cBhvr>
                                        <p:cTn id="12" dur="500"/>
                                        <p:tgtEl>
                                          <p:spTgt spid="112"/>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13"/>
                                        </p:tgtEl>
                                        <p:attrNameLst>
                                          <p:attrName>style.visibility</p:attrName>
                                        </p:attrNameLst>
                                      </p:cBhvr>
                                      <p:to>
                                        <p:strVal val="visible"/>
                                      </p:to>
                                    </p:set>
                                    <p:animEffect transition="in" filter="checkerboard(across)">
                                      <p:cBhvr>
                                        <p:cTn id="17" dur="500"/>
                                        <p:tgtEl>
                                          <p:spTgt spid="11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14"/>
                                        </p:tgtEl>
                                        <p:attrNameLst>
                                          <p:attrName>style.visibility</p:attrName>
                                        </p:attrNameLst>
                                      </p:cBhvr>
                                      <p:to>
                                        <p:strVal val="visible"/>
                                      </p:to>
                                    </p:set>
                                    <p:animEffect transition="in" filter="blinds(horizontal)">
                                      <p:cBhvr>
                                        <p:cTn id="22" dur="500"/>
                                        <p:tgtEl>
                                          <p:spTgt spid="11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15"/>
                                        </p:tgtEl>
                                        <p:attrNameLst>
                                          <p:attrName>style.visibility</p:attrName>
                                        </p:attrNameLst>
                                      </p:cBhvr>
                                      <p:to>
                                        <p:strVal val="visible"/>
                                      </p:to>
                                    </p:set>
                                    <p:animEffect transition="in" filter="blinds(horizontal)">
                                      <p:cBhvr>
                                        <p:cTn id="27" dur="500"/>
                                        <p:tgtEl>
                                          <p:spTgt spid="115"/>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EFAF2"/>
        </a:solidFill>
        <a:effectLst/>
      </p:bgPr>
    </p:bg>
    <p:spTree>
      <p:nvGrpSpPr>
        <p:cNvPr id="117" name=""/>
        <p:cNvGrpSpPr/>
        <p:nvPr/>
      </p:nvGrpSpPr>
      <p:grpSpPr>
        <a:xfrm>
          <a:off x="0" y="0"/>
          <a:ext cx="0" cy="0"/>
          <a:chOff x="0" y="0"/>
          <a:chExt cx="0" cy="0"/>
        </a:xfrm>
      </p:grpSpPr>
      <p:sp>
        <p:nvSpPr>
          <p:cNvPr id="118" name="文本框 7"/>
          <p:cNvSpPr txBox="1"/>
          <p:nvPr/>
        </p:nvSpPr>
        <p:spPr>
          <a:xfrm>
            <a:off x="325755" y="2100580"/>
            <a:ext cx="3925215" cy="457200"/>
          </a:xfrm>
          <a:prstGeom prst="rect">
            <a:avLst/>
          </a:prstGeom>
          <a:noFill/>
        </p:spPr>
        <p:txBody>
          <a:bodyPr wrap="square" rtlCol="0">
            <a:spAutoFit/>
          </a:bodyPr>
          <a:lstStyle/>
          <a:p>
            <a:r>
              <a:rPr lang="en-US" sz="2400" b="1">
                <a:solidFill>
                  <a:schemeClr val="tx1">
                    <a:alpha val="100000"/>
                  </a:schemeClr>
                </a:solidFill>
                <a:highlight>
                  <a:srgbClr val="D7DDF2">
                    <a:alpha val="100000"/>
                  </a:srgbClr>
                </a:highlight>
                <a:latin typeface="Arial" panose="020B0604020202020204"/>
                <a:ea typeface="Arial" panose="020B0604020202020204"/>
                <a:cs typeface="+mn-cs"/>
              </a:rPr>
              <a:t>Trade policy uncertainty</a:t>
            </a:r>
            <a:endParaRPr lang="en-US" sz="2400" b="1">
              <a:solidFill>
                <a:schemeClr val="tx1">
                  <a:alpha val="100000"/>
                </a:schemeClr>
              </a:solidFill>
              <a:highlight>
                <a:srgbClr val="D7DDF2">
                  <a:alpha val="100000"/>
                </a:srgbClr>
              </a:highlight>
              <a:latin typeface="Arial" panose="020B0604020202020204"/>
              <a:ea typeface="Arial" panose="020B0604020202020204"/>
              <a:cs typeface="+mn-cs"/>
            </a:endParaRPr>
          </a:p>
        </p:txBody>
      </p:sp>
      <p:pic>
        <p:nvPicPr>
          <p:cNvPr id="119" name="图片 4"/>
          <p:cNvPicPr>
            <a:picLocks noChangeAspect="1"/>
          </p:cNvPicPr>
          <p:nvPr/>
        </p:nvPicPr>
        <p:blipFill>
          <a:blip r:embed="rId1"/>
          <a:srcRect l="33410" t="28272" r="60000" b="28878"/>
          <a:stretch>
            <a:fillRect/>
          </a:stretch>
        </p:blipFill>
        <p:spPr>
          <a:xfrm rot="5400000">
            <a:off x="5298104" y="-79864"/>
            <a:ext cx="917248" cy="3352704"/>
          </a:xfrm>
          <a:prstGeom prst="rect">
            <a:avLst/>
          </a:prstGeom>
        </p:spPr>
      </p:pic>
      <p:sp>
        <p:nvSpPr>
          <p:cNvPr id="120" name="矩形: 圆角 4"/>
          <p:cNvSpPr/>
          <p:nvPr/>
        </p:nvSpPr>
        <p:spPr>
          <a:xfrm>
            <a:off x="1556657" y="453033"/>
            <a:ext cx="8400142" cy="596773"/>
          </a:xfrm>
          <a:prstGeom prst="roundRect">
            <a:avLst>
              <a:gd name="adj" fmla="val 30941"/>
            </a:avLst>
          </a:prstGeom>
          <a:solidFill>
            <a:srgbClr val="E9E1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标题 1"/>
          <p:cNvSpPr>
            <a:spLocks noGrp="1"/>
          </p:cNvSpPr>
          <p:nvPr>
            <p:ph type="ctrTitle"/>
          </p:nvPr>
        </p:nvSpPr>
        <p:spPr>
          <a:xfrm>
            <a:off x="1905020" y="405292"/>
            <a:ext cx="7690695" cy="596762"/>
          </a:xfrm>
        </p:spPr>
        <p:txBody>
          <a:bodyPr>
            <a:normAutofit/>
          </a:bodyPr>
          <a:lstStyle/>
          <a:p>
            <a:pPr>
              <a:buNone/>
            </a:pPr>
            <a:r>
              <a:rPr sz="3200">
                <a:cs typeface="+mj-cs"/>
              </a:rPr>
              <a:t>1.Globalization and economic fluctuations</a:t>
            </a:r>
            <a:endParaRPr sz="3200">
              <a:cs typeface="+mj-cs"/>
            </a:endParaRPr>
          </a:p>
        </p:txBody>
      </p:sp>
      <p:sp>
        <p:nvSpPr>
          <p:cNvPr id="122" name="椭圆 8"/>
          <p:cNvSpPr/>
          <p:nvPr/>
        </p:nvSpPr>
        <p:spPr>
          <a:xfrm>
            <a:off x="8913812" y="6244067"/>
            <a:ext cx="167943" cy="171450"/>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3" name="图片 10" descr="图标  AI 生成的内容可能不正确。"/>
          <p:cNvPicPr>
            <a:picLocks noChangeAspect="1"/>
          </p:cNvPicPr>
          <p:nvPr/>
        </p:nvPicPr>
        <p:blipFill>
          <a:blip r:embed="rId2" cstate="print"/>
          <a:stretch>
            <a:fillRect/>
          </a:stretch>
        </p:blipFill>
        <p:spPr>
          <a:xfrm>
            <a:off x="0" y="-74656"/>
            <a:ext cx="1556657" cy="1556657"/>
          </a:xfrm>
          <a:prstGeom prst="rect">
            <a:avLst/>
          </a:prstGeom>
        </p:spPr>
      </p:pic>
      <p:sp>
        <p:nvSpPr>
          <p:cNvPr id="124" name="文本框 123"/>
          <p:cNvSpPr txBox="1"/>
          <p:nvPr/>
        </p:nvSpPr>
        <p:spPr>
          <a:xfrm>
            <a:off x="4250872" y="2120900"/>
            <a:ext cx="3512314" cy="457200"/>
          </a:xfrm>
          <a:prstGeom prst="rect">
            <a:avLst/>
          </a:prstGeom>
          <a:ln w="6350">
            <a:prstDash val="solid"/>
          </a:ln>
        </p:spPr>
        <p:txBody>
          <a:bodyPr wrap="square">
            <a:spAutoFit/>
          </a:bodyPr>
          <a:lstStyle/>
          <a:p>
            <a:r>
              <a:rPr lang="en-US" sz="2400" b="1">
                <a:solidFill>
                  <a:schemeClr val="tx1">
                    <a:alpha val="100000"/>
                  </a:schemeClr>
                </a:solidFill>
                <a:highlight>
                  <a:srgbClr val="F0F3FF">
                    <a:alpha val="100000"/>
                  </a:srgbClr>
                </a:highlight>
                <a:latin typeface="Arial" panose="020B0604020202020204"/>
                <a:ea typeface="Arial" panose="020B0604020202020204"/>
                <a:cs typeface="+mn-cs"/>
              </a:rPr>
              <a:t>A test of coping ability</a:t>
            </a:r>
            <a:endParaRPr lang="en-US" sz="2400" b="1">
              <a:solidFill>
                <a:schemeClr val="tx1">
                  <a:alpha val="100000"/>
                </a:schemeClr>
              </a:solidFill>
              <a:highlight>
                <a:srgbClr val="F0F3FF">
                  <a:alpha val="100000"/>
                </a:srgbClr>
              </a:highlight>
              <a:latin typeface="Arial" panose="020B0604020202020204"/>
              <a:ea typeface="Arial" panose="020B0604020202020204"/>
              <a:cs typeface="+mn-cs"/>
            </a:endParaRPr>
          </a:p>
        </p:txBody>
      </p:sp>
      <p:sp>
        <p:nvSpPr>
          <p:cNvPr id="125" name="文本框 124"/>
          <p:cNvSpPr txBox="1"/>
          <p:nvPr/>
        </p:nvSpPr>
        <p:spPr>
          <a:xfrm>
            <a:off x="4356212" y="2586467"/>
            <a:ext cx="2533650" cy="3657600"/>
          </a:xfrm>
          <a:prstGeom prst="rect">
            <a:avLst/>
          </a:prstGeom>
        </p:spPr>
        <p:txBody>
          <a:bodyPr>
            <a:spAutoFit/>
          </a:bodyPr>
          <a:p>
            <a:r>
              <a:rPr lang="en-US" sz="1800" u="none">
                <a:solidFill>
                  <a:schemeClr val="accent6">
                    <a:alpha val="100000"/>
                  </a:schemeClr>
                </a:solidFill>
                <a:highlight>
                  <a:srgbClr val="F0F3FF">
                    <a:alpha val="100000"/>
                  </a:srgbClr>
                </a:highlight>
                <a:latin typeface="Arial" panose="020B0604020202020204"/>
                <a:ea typeface="Arial" panose="020B0604020202020204"/>
                <a:cs typeface="+mn-cs"/>
              </a:rPr>
              <a:t>Trade tensions and financial market fluctuations are testing the coping capabilities of logistics companies in various countries (including our company), and the damage to international trust has exacerbated the uneven impact of economic integration.</a:t>
            </a:r>
            <a:endParaRPr lang="en-US" sz="1800" u="none">
              <a:solidFill>
                <a:schemeClr val="accent6">
                  <a:alpha val="100000"/>
                </a:schemeClr>
              </a:solidFill>
              <a:highlight>
                <a:srgbClr val="F0F3FF">
                  <a:alpha val="100000"/>
                </a:srgbClr>
              </a:highlight>
              <a:latin typeface="Arial" panose="020B0604020202020204"/>
              <a:ea typeface="Arial" panose="020B0604020202020204"/>
              <a:cs typeface="+mn-cs"/>
            </a:endParaRPr>
          </a:p>
        </p:txBody>
      </p:sp>
      <p:sp>
        <p:nvSpPr>
          <p:cNvPr id="126" name="文本框 125"/>
          <p:cNvSpPr txBox="1"/>
          <p:nvPr/>
        </p:nvSpPr>
        <p:spPr>
          <a:xfrm>
            <a:off x="325755" y="2557780"/>
            <a:ext cx="3925189" cy="1739900"/>
          </a:xfrm>
          <a:prstGeom prst="rect">
            <a:avLst/>
          </a:prstGeom>
          <a:ln w="6350">
            <a:prstDash val="solid"/>
          </a:ln>
        </p:spPr>
        <p:txBody>
          <a:bodyPr wrap="square">
            <a:spAutoFit/>
          </a:bodyPr>
          <a:lstStyle/>
          <a:p>
            <a:pPr marL="349885" algn="l">
              <a:buFont typeface="Arial" panose="020B0604020202020204" pitchFamily="34" charset="0"/>
              <a:buChar char="•"/>
            </a:pPr>
            <a:r>
              <a:rPr lang="en-US" sz="1800">
                <a:solidFill>
                  <a:srgbClr val="000000">
                    <a:alpha val="80000"/>
                  </a:srgbClr>
                </a:solidFill>
                <a:highlight>
                  <a:srgbClr val="F0F3FF">
                    <a:alpha val="100000"/>
                  </a:srgbClr>
                </a:highlight>
                <a:latin typeface="Arial" panose="020B0604020202020204"/>
                <a:ea typeface="Arial" panose="020B0604020202020204"/>
                <a:cs typeface="+mn-cs"/>
              </a:rPr>
              <a:t>The global trading system is undergoing a restructuring, and the uncertainty of trade policy has increased significantly, leading to increased volatility in financial markets.</a:t>
            </a:r>
            <a:endParaRPr lang="en-US" sz="1800">
              <a:solidFill>
                <a:srgbClr val="000000">
                  <a:alpha val="80000"/>
                </a:srgbClr>
              </a:solidFill>
              <a:highlight>
                <a:srgbClr val="F0F3FF">
                  <a:alpha val="100000"/>
                </a:srgbClr>
              </a:highlight>
              <a:latin typeface="Arial" panose="020B0604020202020204"/>
              <a:ea typeface="Arial" panose="020B0604020202020204"/>
              <a:cs typeface="+mn-cs"/>
            </a:endParaRPr>
          </a:p>
        </p:txBody>
      </p:sp>
      <p:sp>
        <p:nvSpPr>
          <p:cNvPr id="127" name="文本框 126"/>
          <p:cNvSpPr txBox="1"/>
          <p:nvPr/>
        </p:nvSpPr>
        <p:spPr>
          <a:xfrm>
            <a:off x="7923911" y="2106975"/>
            <a:ext cx="2626505" cy="1098550"/>
          </a:xfrm>
          <a:prstGeom prst="rect">
            <a:avLst/>
          </a:prstGeom>
          <a:ln w="6350">
            <a:prstDash val="solid"/>
          </a:ln>
        </p:spPr>
        <p:txBody>
          <a:bodyPr wrap="square">
            <a:spAutoFit/>
          </a:bodyPr>
          <a:lstStyle/>
          <a:p>
            <a:r>
              <a:rPr lang="en-US" sz="2400" b="1">
                <a:solidFill>
                  <a:schemeClr val="tx1">
                    <a:alpha val="100000"/>
                  </a:schemeClr>
                </a:solidFill>
                <a:highlight>
                  <a:srgbClr val="F0F3FF">
                    <a:alpha val="100000"/>
                  </a:srgbClr>
                </a:highlight>
                <a:latin typeface="Arial" panose="020B0604020202020204"/>
                <a:ea typeface="Arial" panose="020B0604020202020204"/>
                <a:cs typeface="+mn-cs"/>
              </a:rPr>
              <a:t>Pros and cons of integration</a:t>
            </a:r>
            <a:endParaRPr lang="en-US" sz="2400" b="1">
              <a:solidFill>
                <a:schemeClr val="tx1">
                  <a:alpha val="100000"/>
                </a:schemeClr>
              </a:solidFill>
              <a:highlight>
                <a:srgbClr val="F0F3FF">
                  <a:alpha val="100000"/>
                </a:srgbClr>
              </a:highlight>
              <a:latin typeface="Arial" panose="020B0604020202020204"/>
              <a:ea typeface="Arial" panose="020B0604020202020204"/>
              <a:cs typeface="+mn-cs"/>
            </a:endParaRPr>
          </a:p>
          <a:p>
            <a:endParaRPr sz="1800">
              <a:solidFill>
                <a:srgbClr val="000000">
                  <a:alpha val="80000"/>
                </a:srgbClr>
              </a:solidFill>
              <a:highlight>
                <a:srgbClr val="F0F3FF">
                  <a:alpha val="100000"/>
                </a:srgbClr>
              </a:highlight>
              <a:latin typeface="Arial" panose="020B0604020202020204"/>
              <a:ea typeface="Arial" panose="020B0604020202020204"/>
              <a:cs typeface="+mn-cs"/>
              <a:hlinkClick r:id="rId3"/>
            </a:endParaRPr>
          </a:p>
        </p:txBody>
      </p:sp>
      <p:pic>
        <p:nvPicPr>
          <p:cNvPr id="128" name="图片 6"/>
          <p:cNvPicPr>
            <a:picLocks noChangeAspect="1"/>
          </p:cNvPicPr>
          <p:nvPr/>
        </p:nvPicPr>
        <p:blipFill>
          <a:blip r:embed="rId1"/>
          <a:srcRect l="56499" t="40358" r="38074" b="56491"/>
          <a:stretch>
            <a:fillRect/>
          </a:stretch>
        </p:blipFill>
        <p:spPr>
          <a:xfrm rot="1920000">
            <a:off x="6399007" y="1477352"/>
            <a:ext cx="1414409" cy="216000"/>
          </a:xfrm>
          <a:prstGeom prst="rect">
            <a:avLst/>
          </a:prstGeom>
        </p:spPr>
      </p:pic>
      <p:sp>
        <p:nvSpPr>
          <p:cNvPr id="129" name="矩形: 圆角 3"/>
          <p:cNvSpPr/>
          <p:nvPr/>
        </p:nvSpPr>
        <p:spPr>
          <a:xfrm>
            <a:off x="5623037" y="1002054"/>
            <a:ext cx="3591730" cy="70021"/>
          </a:xfrm>
          <a:prstGeom prst="roundRect">
            <a:avLst>
              <a:gd name="adj" fmla="val 50000"/>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0" name="文本框 129"/>
          <p:cNvSpPr txBox="1"/>
          <p:nvPr/>
        </p:nvSpPr>
        <p:spPr>
          <a:xfrm>
            <a:off x="7433080" y="2060575"/>
            <a:ext cx="736600" cy="577850"/>
          </a:xfrm>
          <a:prstGeom prst="rect">
            <a:avLst/>
          </a:prstGeom>
          <a:ln w="6350">
            <a:prstDash val="solid"/>
          </a:ln>
        </p:spPr>
        <p:txBody>
          <a:bodyPr wrap="square">
            <a:spAutoFit/>
          </a:bodyPr>
          <a:lstStyle/>
          <a:p>
            <a:r>
              <a:rPr lang="zh-CN" sz="3200"/>
              <a:t>😮</a:t>
            </a:r>
            <a:endParaRPr lang="zh-CN" sz="3200"/>
          </a:p>
        </p:txBody>
      </p:sp>
      <p:sp>
        <p:nvSpPr>
          <p:cNvPr id="131" name="文本框 130"/>
          <p:cNvSpPr txBox="1"/>
          <p:nvPr/>
        </p:nvSpPr>
        <p:spPr>
          <a:xfrm>
            <a:off x="3800133" y="2106975"/>
            <a:ext cx="736600" cy="577850"/>
          </a:xfrm>
          <a:prstGeom prst="rect">
            <a:avLst/>
          </a:prstGeom>
          <a:ln w="6350">
            <a:prstDash val="solid"/>
          </a:ln>
        </p:spPr>
        <p:txBody>
          <a:bodyPr wrap="none">
            <a:spAutoFit/>
          </a:bodyPr>
          <a:p>
            <a:r>
              <a:rPr lang="zh-CN" sz="3200"/>
              <a:t>😢</a:t>
            </a:r>
            <a:endParaRPr lang="zh-CN" sz="3200"/>
          </a:p>
        </p:txBody>
      </p:sp>
      <p:sp>
        <p:nvSpPr>
          <p:cNvPr id="132" name="文本框 131"/>
          <p:cNvSpPr txBox="1"/>
          <p:nvPr/>
        </p:nvSpPr>
        <p:spPr>
          <a:xfrm>
            <a:off x="-97832" y="2040255"/>
            <a:ext cx="736600" cy="577850"/>
          </a:xfrm>
          <a:prstGeom prst="rect">
            <a:avLst/>
          </a:prstGeom>
          <a:ln w="6350">
            <a:prstDash val="solid"/>
          </a:ln>
        </p:spPr>
        <p:txBody>
          <a:bodyPr wrap="none">
            <a:spAutoFit/>
          </a:bodyPr>
          <a:p>
            <a:r>
              <a:rPr lang="zh-CN" sz="3200"/>
              <a:t>😐</a:t>
            </a:r>
            <a:endParaRPr lang="zh-CN" sz="3200"/>
          </a:p>
        </p:txBody>
      </p:sp>
      <p:sp>
        <p:nvSpPr>
          <p:cNvPr id="133" name="文本框 132"/>
          <p:cNvSpPr txBox="1"/>
          <p:nvPr/>
        </p:nvSpPr>
        <p:spPr>
          <a:xfrm>
            <a:off x="8913812" y="6015467"/>
            <a:ext cx="673100" cy="457200"/>
          </a:xfrm>
          <a:prstGeom prst="rect">
            <a:avLst/>
          </a:prstGeom>
          <a:ln w="6350">
            <a:prstDash val="solid"/>
          </a:ln>
        </p:spPr>
        <p:txBody>
          <a:bodyPr wrap="square">
            <a:spAutoFit/>
          </a:bodyPr>
          <a:lstStyle/>
          <a:p>
            <a:r>
              <a:rPr lang="en-US" sz="2400"/>
              <a:t>.etc</a:t>
            </a:r>
            <a:endParaRPr lang="en-US" sz="2400"/>
          </a:p>
        </p:txBody>
      </p:sp>
      <p:pic>
        <p:nvPicPr>
          <p:cNvPr id="134" name="图片 133"/>
          <p:cNvPicPr>
            <a:picLocks noChangeAspect="1"/>
          </p:cNvPicPr>
          <p:nvPr/>
        </p:nvPicPr>
        <p:blipFill>
          <a:blip r:embed="rId4"/>
          <a:stretch>
            <a:fillRect/>
          </a:stretch>
        </p:blipFill>
        <p:spPr>
          <a:xfrm>
            <a:off x="638768" y="4297680"/>
            <a:ext cx="2133877" cy="2179401"/>
          </a:xfrm>
          <a:prstGeom prst="rect">
            <a:avLst/>
          </a:prstGeom>
        </p:spPr>
      </p:pic>
      <p:sp>
        <p:nvSpPr>
          <p:cNvPr id="135" name="矩形: 圆角 3"/>
          <p:cNvSpPr/>
          <p:nvPr/>
        </p:nvSpPr>
        <p:spPr>
          <a:xfrm>
            <a:off x="2507014" y="959489"/>
            <a:ext cx="2292863" cy="70040"/>
          </a:xfrm>
          <a:prstGeom prst="roundRect">
            <a:avLst>
              <a:gd name="adj" fmla="val 50000"/>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6" name="文本框 135"/>
          <p:cNvSpPr txBox="1"/>
          <p:nvPr/>
        </p:nvSpPr>
        <p:spPr>
          <a:xfrm>
            <a:off x="7901524" y="2922203"/>
            <a:ext cx="2626487" cy="2286000"/>
          </a:xfrm>
          <a:prstGeom prst="rect">
            <a:avLst/>
          </a:prstGeom>
          <a:ln w="6350">
            <a:prstDash val="solid"/>
          </a:ln>
        </p:spPr>
        <p:txBody>
          <a:bodyPr wrap="square">
            <a:spAutoFit/>
          </a:bodyPr>
          <a:lstStyle/>
          <a:p>
            <a:r>
              <a:rPr lang="en-US">
                <a:highlight>
                  <a:srgbClr val="C7ECFF">
                    <a:alpha val="100000"/>
                  </a:srgbClr>
                </a:highlight>
              </a:rPr>
              <a:t>Economic integration has helped many people get</a:t>
            </a:r>
            <a:endParaRPr lang="en-US">
              <a:highlight>
                <a:srgbClr val="C7ECFF">
                  <a:alpha val="100000"/>
                </a:srgbClr>
              </a:highlight>
            </a:endParaRPr>
          </a:p>
          <a:p>
            <a:r>
              <a:rPr lang="en-US">
                <a:highlight>
                  <a:srgbClr val="C7ECFF">
                    <a:alpha val="100000"/>
                  </a:srgbClr>
                </a:highlight>
              </a:rPr>
              <a:t> out of poverty, </a:t>
            </a:r>
            <a:r>
              <a:rPr lang="en-US">
                <a:highlight>
                  <a:srgbClr val="C7ECFF">
                    <a:alpha val="100000"/>
                  </a:srgbClr>
                </a:highlight>
              </a:rPr>
              <a:t>but it has also led to the loss of job</a:t>
            </a:r>
            <a:endParaRPr lang="en-US">
              <a:highlight>
                <a:srgbClr val="C7ECFF">
                  <a:alpha val="100000"/>
                </a:srgbClr>
              </a:highlight>
            </a:endParaRPr>
          </a:p>
          <a:p>
            <a:r>
              <a:rPr lang="en-US">
                <a:highlight>
                  <a:srgbClr val="C7ECFF">
                    <a:alpha val="100000"/>
                  </a:srgbClr>
                </a:highlight>
              </a:rPr>
              <a:t> opportunities </a:t>
            </a:r>
            <a:endParaRPr lang="en-US">
              <a:highlight>
                <a:srgbClr val="C7ECFF">
                  <a:alpha val="100000"/>
                </a:srgbClr>
              </a:highlight>
            </a:endParaRPr>
          </a:p>
          <a:p>
            <a:r>
              <a:rPr lang="en-US">
                <a:highlight>
                  <a:srgbClr val="C7ECFF">
                    <a:alpha val="100000"/>
                  </a:srgbClr>
                </a:highlight>
              </a:rPr>
              <a:t>and </a:t>
            </a:r>
            <a:r>
              <a:rPr lang="en-US">
                <a:highlight>
                  <a:srgbClr val="C7ECFF">
                    <a:alpha val="100000"/>
                  </a:srgbClr>
                </a:highlight>
              </a:rPr>
              <a:t>rising prices, increasing social inequality.</a:t>
            </a:r>
            <a:endParaRPr lang="en-US">
              <a:highlight>
                <a:srgbClr val="C7ECFF">
                  <a:alpha val="100000"/>
                </a:srgbClr>
              </a:highlight>
            </a:endParaRPr>
          </a:p>
        </p:txBody>
      </p:sp>
      <p:sp>
        <p:nvSpPr>
          <p:cNvPr id="137" name="文本框 136"/>
          <p:cNvSpPr txBox="1"/>
          <p:nvPr/>
        </p:nvSpPr>
        <p:spPr>
          <a:xfrm>
            <a:off x="1905020" y="6329792"/>
            <a:ext cx="9499600" cy="368300"/>
          </a:xfrm>
          <a:prstGeom prst="rect">
            <a:avLst/>
          </a:prstGeom>
          <a:ln w="6350">
            <a:prstDash val="solid"/>
          </a:ln>
        </p:spPr>
        <p:txBody>
          <a:bodyPr wrap="none">
            <a:spAutoFit/>
          </a:bodyPr>
          <a:p>
            <a:r>
              <a:rPr lang="en-US" sz="1800" i="1" u="sng">
                <a:solidFill>
                  <a:srgbClr val="000000">
                    <a:alpha val="80000"/>
                  </a:srgbClr>
                </a:solidFill>
                <a:highlight>
                  <a:srgbClr val="F0F3FF">
                    <a:alpha val="100000"/>
                  </a:srgbClr>
                </a:highlight>
                <a:latin typeface="Arial" panose="020B0604020202020204"/>
                <a:ea typeface="Arial" panose="020B0604020202020204"/>
                <a:cs typeface="+mn-cs"/>
              </a:rPr>
              <a:t>Together, these factors affect the stability and development prospects of the global economy</a:t>
            </a:r>
            <a:endParaRPr lang="en-US" sz="1800" i="1" u="sng">
              <a:solidFill>
                <a:srgbClr val="000000">
                  <a:alpha val="80000"/>
                </a:srgbClr>
              </a:solidFill>
              <a:highlight>
                <a:srgbClr val="F0F3FF">
                  <a:alpha val="100000"/>
                </a:srgbClr>
              </a:highlight>
              <a:latin typeface="Arial" panose="020B0604020202020204"/>
              <a:ea typeface="Arial" panose="020B0604020202020204"/>
              <a:cs typeface="+mn-cs"/>
            </a:endParaRPr>
          </a:p>
        </p:txBody>
      </p:sp>
    </p:spTree>
  </p:cSld>
  <p:clrMapOvr>
    <a:masterClrMapping/>
  </p:clrMapOvr>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lt">
                                    <p:tmPct val="0"/>
                                  </p:iterate>
                                  <p:childTnLst>
                                    <p:set>
                                      <p:cBhvr>
                                        <p:cTn id="6" dur="1" fill="hold">
                                          <p:stCondLst>
                                            <p:cond delay="0"/>
                                          </p:stCondLst>
                                        </p:cTn>
                                        <p:tgtEl>
                                          <p:spTgt spid="121"/>
                                        </p:tgtEl>
                                        <p:attrNameLst>
                                          <p:attrName>style.visibility</p:attrName>
                                        </p:attrNameLst>
                                      </p:cBhvr>
                                      <p:to>
                                        <p:strVal val="visible"/>
                                      </p:to>
                                    </p:set>
                                    <p:animEffect transition="in" filter="box(in)">
                                      <p:cBhvr>
                                        <p:cTn id="7" dur="700"/>
                                        <p:tgtEl>
                                          <p:spTgt spid="1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9"/>
                                        </p:tgtEl>
                                        <p:attrNameLst>
                                          <p:attrName>style.visibility</p:attrName>
                                        </p:attrNameLst>
                                      </p:cBhvr>
                                      <p:to>
                                        <p:strVal val="visible"/>
                                      </p:to>
                                    </p:set>
                                    <p:animEffect transition="in" filter="fade">
                                      <p:cBhvr>
                                        <p:cTn id="12" dur="1000"/>
                                        <p:tgtEl>
                                          <p:spTgt spid="119"/>
                                        </p:tgtEl>
                                      </p:cBhvr>
                                    </p:animEffect>
                                  </p:childTnLst>
                                </p:cTn>
                              </p:par>
                              <p:par>
                                <p:cTn id="13" presetID="10" presetClass="entr" presetSubtype="0" fill="hold" nodeType="withEffect">
                                  <p:stCondLst>
                                    <p:cond delay="0"/>
                                  </p:stCondLst>
                                  <p:childTnLst>
                                    <p:set>
                                      <p:cBhvr>
                                        <p:cTn id="14" dur="1" fill="hold">
                                          <p:stCondLst>
                                            <p:cond delay="0"/>
                                          </p:stCondLst>
                                        </p:cTn>
                                        <p:tgtEl>
                                          <p:spTgt spid="128"/>
                                        </p:tgtEl>
                                        <p:attrNameLst>
                                          <p:attrName>style.visibility</p:attrName>
                                        </p:attrNameLst>
                                      </p:cBhvr>
                                      <p:to>
                                        <p:strVal val="visible"/>
                                      </p:to>
                                    </p:set>
                                    <p:animEffect transition="in" filter="fade">
                                      <p:cBhvr>
                                        <p:cTn id="15" dur="1000"/>
                                        <p:tgtEl>
                                          <p:spTgt spid="128"/>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132"/>
                                        </p:tgtEl>
                                        <p:attrNameLst>
                                          <p:attrName>style.visibility</p:attrName>
                                        </p:attrNameLst>
                                      </p:cBhvr>
                                      <p:to>
                                        <p:strVal val="visible"/>
                                      </p:to>
                                    </p:set>
                                    <p:animEffect transition="in" filter="fade">
                                      <p:cBhvr>
                                        <p:cTn id="20" dur="1000"/>
                                        <p:tgtEl>
                                          <p:spTgt spid="132"/>
                                        </p:tgtEl>
                                      </p:cBhvr>
                                    </p:animEffect>
                                    <p:anim calcmode="lin" valueType="num">
                                      <p:cBhvr>
                                        <p:cTn id="21" dur="1000" fill="hold"/>
                                        <p:tgtEl>
                                          <p:spTgt spid="132"/>
                                        </p:tgtEl>
                                        <p:attrNameLst>
                                          <p:attrName>ppt_x</p:attrName>
                                        </p:attrNameLst>
                                      </p:cBhvr>
                                      <p:tavLst>
                                        <p:tav tm="0">
                                          <p:val>
                                            <p:strVal val="#ppt_x"/>
                                          </p:val>
                                        </p:tav>
                                        <p:tav tm="100000">
                                          <p:val>
                                            <p:strVal val="#ppt_x"/>
                                          </p:val>
                                        </p:tav>
                                      </p:tavLst>
                                    </p:anim>
                                    <p:anim calcmode="lin" valueType="num">
                                      <p:cBhvr>
                                        <p:cTn id="22" dur="1000" fill="hold"/>
                                        <p:tgtEl>
                                          <p:spTgt spid="132"/>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18"/>
                                        </p:tgtEl>
                                        <p:attrNameLst>
                                          <p:attrName>style.visibility</p:attrName>
                                        </p:attrNameLst>
                                      </p:cBhvr>
                                      <p:to>
                                        <p:strVal val="visible"/>
                                      </p:to>
                                    </p:set>
                                    <p:animEffect transition="in" filter="fade">
                                      <p:cBhvr>
                                        <p:cTn id="27" dur="1000"/>
                                        <p:tgtEl>
                                          <p:spTgt spid="118"/>
                                        </p:tgtEl>
                                      </p:cBhvr>
                                    </p:animEffect>
                                    <p:anim calcmode="lin" valueType="num">
                                      <p:cBhvr>
                                        <p:cTn id="28" dur="1000" fill="hold"/>
                                        <p:tgtEl>
                                          <p:spTgt spid="118"/>
                                        </p:tgtEl>
                                        <p:attrNameLst>
                                          <p:attrName>ppt_x</p:attrName>
                                        </p:attrNameLst>
                                      </p:cBhvr>
                                      <p:tavLst>
                                        <p:tav tm="0">
                                          <p:val>
                                            <p:strVal val="#ppt_x"/>
                                          </p:val>
                                        </p:tav>
                                        <p:tav tm="100000">
                                          <p:val>
                                            <p:strVal val="#ppt_x"/>
                                          </p:val>
                                        </p:tav>
                                      </p:tavLst>
                                    </p:anim>
                                    <p:anim calcmode="lin" valueType="num">
                                      <p:cBhvr>
                                        <p:cTn id="29" dur="1000" fill="hold"/>
                                        <p:tgtEl>
                                          <p:spTgt spid="11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grpId="0" nodeType="clickEffect">
                                  <p:stCondLst>
                                    <p:cond delay="0"/>
                                  </p:stCondLst>
                                  <p:childTnLst>
                                    <p:set>
                                      <p:cBhvr>
                                        <p:cTn id="33" dur="1" fill="hold">
                                          <p:stCondLst>
                                            <p:cond delay="0"/>
                                          </p:stCondLst>
                                        </p:cTn>
                                        <p:tgtEl>
                                          <p:spTgt spid="126"/>
                                        </p:tgtEl>
                                        <p:attrNameLst>
                                          <p:attrName>style.visibility</p:attrName>
                                        </p:attrNameLst>
                                      </p:cBhvr>
                                      <p:to>
                                        <p:strVal val="visible"/>
                                      </p:to>
                                    </p:set>
                                    <p:anim calcmode="lin" valueType="num">
                                      <p:cBhvr additive="base">
                                        <p:cTn id="34" dur="500"/>
                                        <p:tgtEl>
                                          <p:spTgt spid="126"/>
                                        </p:tgtEl>
                                        <p:attrNameLst>
                                          <p:attrName>ppt_y</p:attrName>
                                        </p:attrNameLst>
                                      </p:cBhvr>
                                      <p:tavLst>
                                        <p:tav tm="0">
                                          <p:val>
                                            <p:strVal val="#ppt_y+#ppt_h*1.125000"/>
                                          </p:val>
                                        </p:tav>
                                        <p:tav tm="100000">
                                          <p:val>
                                            <p:strVal val="#ppt_y"/>
                                          </p:val>
                                        </p:tav>
                                      </p:tavLst>
                                    </p:anim>
                                    <p:animEffect transition="in" filter="wipe(up)">
                                      <p:cBhvr>
                                        <p:cTn id="35" dur="500"/>
                                        <p:tgtEl>
                                          <p:spTgt spid="12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iterate type="lt">
                                    <p:tmPct val="0"/>
                                  </p:iterate>
                                  <p:childTnLst>
                                    <p:set>
                                      <p:cBhvr>
                                        <p:cTn id="39" dur="1" fill="hold">
                                          <p:stCondLst>
                                            <p:cond delay="0"/>
                                          </p:stCondLst>
                                        </p:cTn>
                                        <p:tgtEl>
                                          <p:spTgt spid="134"/>
                                        </p:tgtEl>
                                        <p:attrNameLst>
                                          <p:attrName>style.visibility</p:attrName>
                                        </p:attrNameLst>
                                      </p:cBhvr>
                                      <p:to>
                                        <p:strVal val="visible"/>
                                      </p:to>
                                    </p:set>
                                    <p:animEffect transition="in" filter="wipe(down)">
                                      <p:cBhvr>
                                        <p:cTn id="40" dur="500"/>
                                        <p:tgtEl>
                                          <p:spTgt spid="13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31"/>
                                        </p:tgtEl>
                                        <p:attrNameLst>
                                          <p:attrName>style.visibility</p:attrName>
                                        </p:attrNameLst>
                                      </p:cBhvr>
                                      <p:to>
                                        <p:strVal val="visible"/>
                                      </p:to>
                                    </p:set>
                                    <p:animEffect transition="in" filter="fade">
                                      <p:cBhvr>
                                        <p:cTn id="45" dur="1000"/>
                                        <p:tgtEl>
                                          <p:spTgt spid="131"/>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24"/>
                                        </p:tgtEl>
                                        <p:attrNameLst>
                                          <p:attrName>style.visibility</p:attrName>
                                        </p:attrNameLst>
                                      </p:cBhvr>
                                      <p:to>
                                        <p:strVal val="visible"/>
                                      </p:to>
                                    </p:set>
                                    <p:animEffect transition="in" filter="fade">
                                      <p:cBhvr>
                                        <p:cTn id="50" dur="1000"/>
                                        <p:tgtEl>
                                          <p:spTgt spid="124"/>
                                        </p:tgtEl>
                                      </p:cBhvr>
                                    </p:animEffect>
                                  </p:childTnLst>
                                </p:cTn>
                              </p:par>
                            </p:childTnLst>
                          </p:cTn>
                        </p:par>
                      </p:childTnLst>
                    </p:cTn>
                  </p:par>
                  <p:par>
                    <p:cTn id="51" fill="hold">
                      <p:stCondLst>
                        <p:cond delay="indefinite"/>
                      </p:stCondLst>
                      <p:childTnLst>
                        <p:par>
                          <p:cTn id="52" fill="hold">
                            <p:stCondLst>
                              <p:cond delay="0"/>
                            </p:stCondLst>
                            <p:childTnLst>
                              <p:par>
                                <p:cTn id="53" presetID="21" presetClass="entr" presetSubtype="1" fill="hold" grpId="0" nodeType="clickEffect">
                                  <p:stCondLst>
                                    <p:cond delay="0"/>
                                  </p:stCondLst>
                                  <p:iterate type="lt">
                                    <p:tmPct val="0"/>
                                  </p:iterate>
                                  <p:childTnLst>
                                    <p:set>
                                      <p:cBhvr>
                                        <p:cTn id="54" dur="1" fill="hold">
                                          <p:stCondLst>
                                            <p:cond delay="0"/>
                                          </p:stCondLst>
                                        </p:cTn>
                                        <p:tgtEl>
                                          <p:spTgt spid="125"/>
                                        </p:tgtEl>
                                        <p:attrNameLst>
                                          <p:attrName>style.visibility</p:attrName>
                                        </p:attrNameLst>
                                      </p:cBhvr>
                                      <p:to>
                                        <p:strVal val="visible"/>
                                      </p:to>
                                    </p:set>
                                    <p:animEffect transition="in" filter="wheel(1)">
                                      <p:cBhvr>
                                        <p:cTn id="55" dur="2000"/>
                                        <p:tgtEl>
                                          <p:spTgt spid="125"/>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30"/>
                                        </p:tgtEl>
                                        <p:attrNameLst>
                                          <p:attrName>style.visibility</p:attrName>
                                        </p:attrNameLst>
                                      </p:cBhvr>
                                      <p:to>
                                        <p:strVal val="visible"/>
                                      </p:to>
                                    </p:set>
                                    <p:animEffect transition="in" filter="fade">
                                      <p:cBhvr>
                                        <p:cTn id="60" dur="1000"/>
                                        <p:tgtEl>
                                          <p:spTgt spid="130"/>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27"/>
                                        </p:tgtEl>
                                        <p:attrNameLst>
                                          <p:attrName>style.visibility</p:attrName>
                                        </p:attrNameLst>
                                      </p:cBhvr>
                                      <p:to>
                                        <p:strVal val="visible"/>
                                      </p:to>
                                    </p:set>
                                    <p:animEffect transition="in" filter="fade">
                                      <p:cBhvr>
                                        <p:cTn id="65" dur="1000"/>
                                        <p:tgtEl>
                                          <p:spTgt spid="127"/>
                                        </p:tgtEl>
                                      </p:cBhvr>
                                    </p:animEffect>
                                  </p:childTnLst>
                                </p:cTn>
                              </p:par>
                            </p:childTnLst>
                          </p:cTn>
                        </p:par>
                      </p:childTnLst>
                    </p:cTn>
                  </p:par>
                  <p:par>
                    <p:cTn id="66" fill="hold">
                      <p:stCondLst>
                        <p:cond delay="indefinite"/>
                      </p:stCondLst>
                      <p:childTnLst>
                        <p:par>
                          <p:cTn id="67" fill="hold">
                            <p:stCondLst>
                              <p:cond delay="0"/>
                            </p:stCondLst>
                            <p:childTnLst>
                              <p:par>
                                <p:cTn id="68" presetID="31" presetClass="entr" presetSubtype="0" fill="hold" nodeType="clickEffect">
                                  <p:stCondLst>
                                    <p:cond delay="0"/>
                                  </p:stCondLst>
                                  <p:childTnLst>
                                    <p:set>
                                      <p:cBhvr>
                                        <p:cTn id="69" dur="1" fill="hold">
                                          <p:stCondLst>
                                            <p:cond delay="0"/>
                                          </p:stCondLst>
                                        </p:cTn>
                                        <p:tgtEl>
                                          <p:spTgt spid="136"/>
                                        </p:tgtEl>
                                        <p:attrNameLst>
                                          <p:attrName>style.visibility</p:attrName>
                                        </p:attrNameLst>
                                      </p:cBhvr>
                                      <p:to>
                                        <p:strVal val="visible"/>
                                      </p:to>
                                    </p:set>
                                    <p:anim calcmode="lin" valueType="num">
                                      <p:cBhvr>
                                        <p:cTn id="70" dur="1000" fill="hold"/>
                                        <p:tgtEl>
                                          <p:spTgt spid="136"/>
                                        </p:tgtEl>
                                        <p:attrNameLst>
                                          <p:attrName>ppt_w</p:attrName>
                                        </p:attrNameLst>
                                      </p:cBhvr>
                                      <p:tavLst>
                                        <p:tav tm="0">
                                          <p:val>
                                            <p:fltVal val="0"/>
                                          </p:val>
                                        </p:tav>
                                        <p:tav tm="100000">
                                          <p:val>
                                            <p:strVal val="#ppt_w"/>
                                          </p:val>
                                        </p:tav>
                                      </p:tavLst>
                                    </p:anim>
                                    <p:anim calcmode="lin" valueType="num">
                                      <p:cBhvr>
                                        <p:cTn id="71" dur="1000" fill="hold"/>
                                        <p:tgtEl>
                                          <p:spTgt spid="136"/>
                                        </p:tgtEl>
                                        <p:attrNameLst>
                                          <p:attrName>ppt_h</p:attrName>
                                        </p:attrNameLst>
                                      </p:cBhvr>
                                      <p:tavLst>
                                        <p:tav tm="0">
                                          <p:val>
                                            <p:fltVal val="0"/>
                                          </p:val>
                                        </p:tav>
                                        <p:tav tm="100000">
                                          <p:val>
                                            <p:strVal val="#ppt_h"/>
                                          </p:val>
                                        </p:tav>
                                      </p:tavLst>
                                    </p:anim>
                                    <p:anim calcmode="lin" valueType="num">
                                      <p:cBhvr>
                                        <p:cTn id="72" dur="1000" fill="hold"/>
                                        <p:tgtEl>
                                          <p:spTgt spid="136"/>
                                        </p:tgtEl>
                                        <p:attrNameLst>
                                          <p:attrName>style.rotation</p:attrName>
                                        </p:attrNameLst>
                                      </p:cBhvr>
                                      <p:tavLst>
                                        <p:tav tm="0">
                                          <p:val>
                                            <p:fltVal val="90"/>
                                          </p:val>
                                        </p:tav>
                                        <p:tav tm="100000">
                                          <p:val>
                                            <p:fltVal val="0"/>
                                          </p:val>
                                        </p:tav>
                                      </p:tavLst>
                                    </p:anim>
                                    <p:animEffect transition="in" filter="fade">
                                      <p:cBhvr>
                                        <p:cTn id="73" dur="1000"/>
                                        <p:tgtEl>
                                          <p:spTgt spid="136"/>
                                        </p:tgtEl>
                                      </p:cBhvr>
                                    </p:animEffect>
                                  </p:childTnLst>
                                </p:cTn>
                              </p:par>
                            </p:childTnLst>
                          </p:cTn>
                        </p:par>
                      </p:childTnLst>
                    </p:cTn>
                  </p:par>
                  <p:par>
                    <p:cTn id="74" fill="hold">
                      <p:stCondLst>
                        <p:cond delay="indefinite"/>
                      </p:stCondLst>
                      <p:childTnLst>
                        <p:par>
                          <p:cTn id="75" fill="hold">
                            <p:stCondLst>
                              <p:cond delay="0"/>
                            </p:stCondLst>
                            <p:childTnLst>
                              <p:par>
                                <p:cTn id="76" presetID="16" presetClass="entr" presetSubtype="21" fill="hold" grpId="0" nodeType="clickEffect">
                                  <p:stCondLst>
                                    <p:cond delay="0"/>
                                  </p:stCondLst>
                                  <p:iterate type="lt">
                                    <p:tmPct val="0"/>
                                  </p:iterate>
                                  <p:childTnLst>
                                    <p:set>
                                      <p:cBhvr>
                                        <p:cTn id="77" dur="1" fill="hold">
                                          <p:stCondLst>
                                            <p:cond delay="0"/>
                                          </p:stCondLst>
                                        </p:cTn>
                                        <p:tgtEl>
                                          <p:spTgt spid="137"/>
                                        </p:tgtEl>
                                        <p:attrNameLst>
                                          <p:attrName>style.visibility</p:attrName>
                                        </p:attrNameLst>
                                      </p:cBhvr>
                                      <p:to>
                                        <p:strVal val="visible"/>
                                      </p:to>
                                    </p:set>
                                    <p:animEffect transition="in" filter="barn(inVertical)">
                                      <p:cBhvr>
                                        <p:cTn id="78" dur="500"/>
                                        <p:tgtEl>
                                          <p:spTgt spid="137"/>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EFAF2">
            <a:alpha val="100000"/>
          </a:srgbClr>
        </a:solidFill>
        <a:effectLst/>
      </p:bgPr>
    </p:bg>
    <p:spTree>
      <p:nvGrpSpPr>
        <p:cNvPr id="138" name=""/>
        <p:cNvGrpSpPr/>
        <p:nvPr/>
      </p:nvGrpSpPr>
      <p:grpSpPr>
        <a:xfrm>
          <a:off x="0" y="0"/>
          <a:ext cx="0" cy="0"/>
          <a:chOff x="0" y="0"/>
          <a:chExt cx="0" cy="0"/>
        </a:xfrm>
      </p:grpSpPr>
      <p:sp>
        <p:nvSpPr>
          <p:cNvPr id="139" name="矩形: 圆角 4"/>
          <p:cNvSpPr/>
          <p:nvPr/>
        </p:nvSpPr>
        <p:spPr>
          <a:xfrm>
            <a:off x="1775840" y="359664"/>
            <a:ext cx="9651391" cy="855597"/>
          </a:xfrm>
          <a:prstGeom prst="roundRect">
            <a:avLst>
              <a:gd name="adj" fmla="val 30941"/>
            </a:avLst>
          </a:prstGeom>
          <a:solidFill>
            <a:srgbClr val="E9E1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标题 1"/>
          <p:cNvSpPr>
            <a:spLocks noGrp="1"/>
          </p:cNvSpPr>
          <p:nvPr>
            <p:ph type="ctrTitle"/>
          </p:nvPr>
        </p:nvSpPr>
        <p:spPr>
          <a:xfrm>
            <a:off x="1701140" y="534131"/>
            <a:ext cx="9821363" cy="531478"/>
          </a:xfrm>
        </p:spPr>
        <p:txBody>
          <a:bodyPr>
            <a:noAutofit/>
          </a:bodyPr>
          <a:lstStyle/>
          <a:p>
            <a:pPr>
              <a:buNone/>
            </a:pPr>
            <a:r>
              <a:rPr sz="3200"/>
              <a:t>2.The impact of demographic changes and labor shortages</a:t>
            </a:r>
            <a:endParaRPr lang="zh-CN">
              <a:latin typeface="江西拙楷"/>
              <a:ea typeface="江西拙楷"/>
              <a:cs typeface="+mj-cs"/>
            </a:endParaRPr>
          </a:p>
        </p:txBody>
      </p:sp>
      <p:pic>
        <p:nvPicPr>
          <p:cNvPr id="141" name="图片 14"/>
          <p:cNvPicPr>
            <a:picLocks noChangeAspect="1"/>
          </p:cNvPicPr>
          <p:nvPr/>
        </p:nvPicPr>
        <p:blipFill>
          <a:blip r:embed="rId1"/>
          <a:stretch>
            <a:fillRect/>
          </a:stretch>
        </p:blipFill>
        <p:spPr>
          <a:xfrm>
            <a:off x="575853" y="359664"/>
            <a:ext cx="917481" cy="973240"/>
          </a:xfrm>
          <a:prstGeom prst="rect">
            <a:avLst/>
          </a:prstGeom>
        </p:spPr>
      </p:pic>
      <p:sp>
        <p:nvSpPr>
          <p:cNvPr id="142" name="文本框 141"/>
          <p:cNvSpPr txBox="1"/>
          <p:nvPr/>
        </p:nvSpPr>
        <p:spPr>
          <a:xfrm>
            <a:off x="575853" y="3603972"/>
            <a:ext cx="6096000" cy="1460500"/>
          </a:xfrm>
          <a:prstGeom prst="rect">
            <a:avLst/>
          </a:prstGeom>
        </p:spPr>
        <p:txBody>
          <a:bodyPr>
            <a:spAutoFit/>
          </a:bodyPr>
          <a:p>
            <a:r>
              <a:rPr lang="en-US">
                <a:solidFill>
                  <a:schemeClr val="accent6">
                    <a:lumMod val="50000"/>
                    <a:alpha val="100000"/>
                  </a:schemeClr>
                </a:solidFill>
              </a:rPr>
              <a:t>Example: Jingdong Logistics Asia Warehouse No. 1 deployed more than 200,000 robots, the AI sorting efficiency was 300% higher than manual, and the unit storage cost was reduced from 2.8 yuan/piece to 1.9 yuan/piece. </a:t>
            </a:r>
            <a:r>
              <a:rPr lang="en-US">
                <a:solidFill>
                  <a:schemeClr val="accent6">
                    <a:lumMod val="50000"/>
                    <a:alpha val="100000"/>
                  </a:schemeClr>
                </a:solidFill>
              </a:rPr>
              <a:t>
</a:t>
            </a:r>
            <a:r>
              <a:rPr lang="en-US"/>
              <a:t>
 </a:t>
            </a:r>
            <a:endParaRPr lang="en-US"/>
          </a:p>
        </p:txBody>
      </p:sp>
      <p:sp>
        <p:nvSpPr>
          <p:cNvPr id="143" name="矩形: 圆角 3"/>
          <p:cNvSpPr/>
          <p:nvPr/>
        </p:nvSpPr>
        <p:spPr>
          <a:xfrm>
            <a:off x="4383683" y="1065609"/>
            <a:ext cx="3631757" cy="109900"/>
          </a:xfrm>
          <a:prstGeom prst="roundRect">
            <a:avLst>
              <a:gd name="adj" fmla="val 50000"/>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4" name="矩形: 圆角 3"/>
          <p:cNvSpPr/>
          <p:nvPr/>
        </p:nvSpPr>
        <p:spPr>
          <a:xfrm>
            <a:off x="8974725" y="1010650"/>
            <a:ext cx="2325012" cy="109918"/>
          </a:xfrm>
          <a:prstGeom prst="roundRect">
            <a:avLst>
              <a:gd name="adj" fmla="val 50000"/>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5" name="文本框 144"/>
          <p:cNvSpPr txBox="1"/>
          <p:nvPr/>
        </p:nvSpPr>
        <p:spPr>
          <a:xfrm>
            <a:off x="440973" y="1332904"/>
            <a:ext cx="3155950" cy="641350"/>
          </a:xfrm>
          <a:prstGeom prst="rect">
            <a:avLst/>
          </a:prstGeom>
        </p:spPr>
        <p:txBody>
          <a:bodyPr>
            <a:spAutoFit/>
          </a:bodyPr>
          <a:p>
            <a:r>
              <a:rPr lang="en-US" b="1"/>
              <a:t>impact</a:t>
            </a:r>
            <a:r>
              <a:rPr lang="zh-CN" b="1"/>
              <a:t>：</a:t>
            </a:r>
            <a:endParaRPr lang="zh-CN" b="1"/>
          </a:p>
          <a:p>
            <a:r>
              <a:t>Reduced operational efficiency</a:t>
            </a:r>
          </a:p>
        </p:txBody>
      </p:sp>
      <p:sp>
        <p:nvSpPr>
          <p:cNvPr id="146" name="文本框 145"/>
          <p:cNvSpPr txBox="1"/>
          <p:nvPr/>
        </p:nvSpPr>
        <p:spPr>
          <a:xfrm>
            <a:off x="440973" y="1931863"/>
            <a:ext cx="1778000" cy="368300"/>
          </a:xfrm>
          <a:prstGeom prst="rect">
            <a:avLst/>
          </a:prstGeom>
          <a:ln w="6350">
            <a:prstDash val="solid"/>
          </a:ln>
        </p:spPr>
        <p:txBody>
          <a:bodyPr wrap="none">
            <a:spAutoFit/>
          </a:bodyPr>
          <a:p>
            <a:r>
              <a:rPr lang="en-US"/>
              <a:t>Rising labor costs</a:t>
            </a:r>
            <a:endParaRPr lang="en-US"/>
          </a:p>
        </p:txBody>
      </p:sp>
      <p:sp>
        <p:nvSpPr>
          <p:cNvPr id="147" name="文本框 146"/>
          <p:cNvSpPr txBox="1"/>
          <p:nvPr/>
        </p:nvSpPr>
        <p:spPr>
          <a:xfrm>
            <a:off x="440973" y="2284288"/>
            <a:ext cx="3409950" cy="368300"/>
          </a:xfrm>
          <a:prstGeom prst="rect">
            <a:avLst/>
          </a:prstGeom>
          <a:ln w="6350">
            <a:prstDash val="solid"/>
          </a:ln>
        </p:spPr>
        <p:txBody>
          <a:bodyPr wrap="none">
            <a:spAutoFit/>
          </a:bodyPr>
          <a:p>
            <a:r>
              <a:rPr lang="en-US"/>
              <a:t>Decline in customer service quality</a:t>
            </a:r>
            <a:endParaRPr lang="en-US"/>
          </a:p>
        </p:txBody>
      </p:sp>
      <p:sp>
        <p:nvSpPr>
          <p:cNvPr id="148" name="文本框 147"/>
          <p:cNvSpPr txBox="1"/>
          <p:nvPr/>
        </p:nvSpPr>
        <p:spPr>
          <a:xfrm>
            <a:off x="859749" y="3728913"/>
            <a:ext cx="1092200" cy="457200"/>
          </a:xfrm>
          <a:prstGeom prst="rect">
            <a:avLst/>
          </a:prstGeom>
          <a:ln w="6350">
            <a:prstDash val="solid"/>
          </a:ln>
        </p:spPr>
        <p:txBody>
          <a:bodyPr wrap="none">
            <a:spAutoFit/>
          </a:bodyPr>
          <a:p>
            <a:br/>
            <a:r>
              <a:rPr lang="en-US"/>
              <a:t>	</a:t>
            </a:r>
            <a:endParaRPr lang="en-US"/>
          </a:p>
        </p:txBody>
      </p:sp>
      <p:pic>
        <p:nvPicPr>
          <p:cNvPr id="149" name="图片 148"/>
          <p:cNvPicPr>
            <a:picLocks noChangeAspect="1"/>
          </p:cNvPicPr>
          <p:nvPr/>
        </p:nvPicPr>
        <p:blipFill>
          <a:blip r:embed="rId2"/>
          <a:stretch>
            <a:fillRect/>
          </a:stretch>
        </p:blipFill>
        <p:spPr>
          <a:xfrm>
            <a:off x="7410602" y="3479758"/>
            <a:ext cx="4411298" cy="2481352"/>
          </a:xfrm>
          <a:prstGeom prst="rect">
            <a:avLst/>
          </a:prstGeom>
        </p:spPr>
      </p:pic>
      <p:sp>
        <p:nvSpPr>
          <p:cNvPr id="150" name="文本框 149"/>
          <p:cNvSpPr txBox="1"/>
          <p:nvPr/>
        </p:nvSpPr>
        <p:spPr>
          <a:xfrm>
            <a:off x="6199562" y="1595313"/>
            <a:ext cx="5378450" cy="336550"/>
          </a:xfrm>
          <a:prstGeom prst="rect">
            <a:avLst/>
          </a:prstGeom>
          <a:ln w="6350">
            <a:prstDash val="solid"/>
          </a:ln>
        </p:spPr>
        <p:txBody>
          <a:bodyPr wrap="none">
            <a:spAutoFit/>
          </a:bodyPr>
          <a:p>
            <a:r>
              <a:rPr sz="1600">
                <a:solidFill>
                  <a:srgbClr val="000000">
                    <a:alpha val="85000"/>
                  </a:srgbClr>
                </a:solidFill>
                <a:highlight>
                  <a:srgbClr val="FFFFFF">
                    <a:alpha val="100000"/>
                  </a:srgbClr>
                </a:highlight>
                <a:latin typeface="Inter"/>
                <a:ea typeface="Inter"/>
                <a:cs typeface="+mn-cs"/>
              </a:rPr>
              <a:t>Introduce intelligent systems to optimize operational processes</a:t>
            </a:r>
            <a:endParaRPr sz="1600">
              <a:solidFill>
                <a:srgbClr val="000000">
                  <a:alpha val="85000"/>
                </a:srgbClr>
              </a:solidFill>
              <a:highlight>
                <a:srgbClr val="FFFFFF">
                  <a:alpha val="100000"/>
                </a:srgbClr>
              </a:highlight>
              <a:latin typeface="Inter"/>
              <a:ea typeface="Inter"/>
              <a:cs typeface="+mn-cs"/>
            </a:endParaRPr>
          </a:p>
        </p:txBody>
      </p:sp>
      <p:pic>
        <p:nvPicPr>
          <p:cNvPr id="151" name="图片 6"/>
          <p:cNvPicPr>
            <a:picLocks noChangeAspect="1"/>
          </p:cNvPicPr>
          <p:nvPr/>
        </p:nvPicPr>
        <p:blipFill>
          <a:blip r:embed="rId3"/>
          <a:srcRect l="56499" t="40358" r="38074" b="56491"/>
          <a:stretch>
            <a:fillRect/>
          </a:stretch>
        </p:blipFill>
        <p:spPr>
          <a:xfrm>
            <a:off x="4383683" y="1653579"/>
            <a:ext cx="661554" cy="216003"/>
          </a:xfrm>
          <a:prstGeom prst="rect">
            <a:avLst/>
          </a:prstGeom>
        </p:spPr>
      </p:pic>
      <p:sp>
        <p:nvSpPr>
          <p:cNvPr id="152" name="文本框 151"/>
          <p:cNvSpPr txBox="1"/>
          <p:nvPr/>
        </p:nvSpPr>
        <p:spPr>
          <a:xfrm>
            <a:off x="6199562" y="1974254"/>
            <a:ext cx="4864100" cy="336550"/>
          </a:xfrm>
          <a:prstGeom prst="rect">
            <a:avLst/>
          </a:prstGeom>
          <a:ln w="6350">
            <a:prstDash val="solid"/>
          </a:ln>
        </p:spPr>
        <p:txBody>
          <a:bodyPr wrap="none">
            <a:spAutoFit/>
          </a:bodyPr>
          <a:p>
            <a:r>
              <a:rPr sz="1600">
                <a:solidFill>
                  <a:srgbClr val="000000">
                    <a:alpha val="85000"/>
                  </a:srgbClr>
                </a:solidFill>
                <a:highlight>
                  <a:srgbClr val="FFFFFF">
                    <a:alpha val="100000"/>
                  </a:srgbClr>
                </a:highlight>
                <a:latin typeface="Inter"/>
                <a:ea typeface="Inter"/>
                <a:cs typeface="+mn-cs"/>
              </a:rPr>
              <a:t>Promote automation and optimize manpower allocation.</a:t>
            </a:r>
            <a:endParaRPr sz="1600">
              <a:solidFill>
                <a:srgbClr val="000000">
                  <a:alpha val="85000"/>
                </a:srgbClr>
              </a:solidFill>
              <a:highlight>
                <a:srgbClr val="FFFFFF">
                  <a:alpha val="100000"/>
                </a:srgbClr>
              </a:highlight>
              <a:latin typeface="Inter"/>
              <a:ea typeface="Inter"/>
              <a:cs typeface="+mn-cs"/>
            </a:endParaRPr>
          </a:p>
        </p:txBody>
      </p:sp>
      <p:pic>
        <p:nvPicPr>
          <p:cNvPr id="153" name="图片 6"/>
          <p:cNvPicPr>
            <a:picLocks noChangeAspect="1"/>
          </p:cNvPicPr>
          <p:nvPr/>
        </p:nvPicPr>
        <p:blipFill>
          <a:blip r:embed="rId3"/>
          <a:srcRect l="56499" t="40358" r="38074" b="56491"/>
          <a:stretch>
            <a:fillRect/>
          </a:stretch>
        </p:blipFill>
        <p:spPr>
          <a:xfrm>
            <a:off x="4383683" y="2008011"/>
            <a:ext cx="661554" cy="216002"/>
          </a:xfrm>
          <a:prstGeom prst="rect">
            <a:avLst/>
          </a:prstGeom>
        </p:spPr>
      </p:pic>
      <p:sp>
        <p:nvSpPr>
          <p:cNvPr id="154" name="文本框 153"/>
          <p:cNvSpPr txBox="1"/>
          <p:nvPr/>
        </p:nvSpPr>
        <p:spPr>
          <a:xfrm>
            <a:off x="6199562" y="2351667"/>
            <a:ext cx="5721350" cy="336550"/>
          </a:xfrm>
          <a:prstGeom prst="rect">
            <a:avLst/>
          </a:prstGeom>
          <a:ln w="6350">
            <a:prstDash val="solid"/>
          </a:ln>
        </p:spPr>
        <p:txBody>
          <a:bodyPr wrap="none">
            <a:spAutoFit/>
          </a:bodyPr>
          <a:p>
            <a:r>
              <a:rPr sz="1600">
                <a:solidFill>
                  <a:srgbClr val="000000">
                    <a:alpha val="85000"/>
                  </a:srgbClr>
                </a:solidFill>
                <a:highlight>
                  <a:srgbClr val="FFFFFF">
                    <a:alpha val="100000"/>
                  </a:srgbClr>
                </a:highlight>
                <a:latin typeface="Inter"/>
                <a:ea typeface="Inter"/>
                <a:cs typeface="+mn-cs"/>
              </a:rPr>
              <a:t>Strengthen customer service training and build feedback platforms.</a:t>
            </a:r>
            <a:endParaRPr sz="1600">
              <a:solidFill>
                <a:srgbClr val="000000">
                  <a:alpha val="85000"/>
                </a:srgbClr>
              </a:solidFill>
              <a:highlight>
                <a:srgbClr val="FFFFFF">
                  <a:alpha val="100000"/>
                </a:srgbClr>
              </a:highlight>
              <a:latin typeface="Inter"/>
              <a:ea typeface="Inter"/>
              <a:cs typeface="+mn-cs"/>
            </a:endParaRPr>
          </a:p>
        </p:txBody>
      </p:sp>
      <p:pic>
        <p:nvPicPr>
          <p:cNvPr id="155" name="图片 6"/>
          <p:cNvPicPr>
            <a:picLocks noChangeAspect="1"/>
          </p:cNvPicPr>
          <p:nvPr/>
        </p:nvPicPr>
        <p:blipFill>
          <a:blip r:embed="rId3"/>
          <a:srcRect l="56499" t="40358" r="38074" b="56491"/>
          <a:stretch>
            <a:fillRect/>
          </a:stretch>
        </p:blipFill>
        <p:spPr>
          <a:xfrm>
            <a:off x="4383683" y="2366736"/>
            <a:ext cx="661554" cy="216001"/>
          </a:xfrm>
          <a:prstGeom prst="rect">
            <a:avLst/>
          </a:prstGeom>
        </p:spPr>
      </p:pic>
      <p:sp>
        <p:nvSpPr>
          <p:cNvPr id="156" name="文本框 155"/>
          <p:cNvSpPr txBox="1"/>
          <p:nvPr/>
        </p:nvSpPr>
        <p:spPr>
          <a:xfrm>
            <a:off x="6087186" y="1332904"/>
            <a:ext cx="1079500" cy="368300"/>
          </a:xfrm>
          <a:prstGeom prst="rect">
            <a:avLst/>
          </a:prstGeom>
          <a:ln w="6350">
            <a:prstDash val="solid"/>
          </a:ln>
        </p:spPr>
        <p:txBody>
          <a:bodyPr wrap="none">
            <a:spAutoFit/>
          </a:bodyPr>
          <a:p>
            <a:r>
              <a:rPr lang="en-US"/>
              <a:t>solutions:</a:t>
            </a:r>
            <a:endParaRPr lang="en-US"/>
          </a:p>
        </p:txBody>
      </p:sp>
    </p:spTree>
  </p:cSld>
  <p:clrMapOvr>
    <a:masterClrMapping/>
  </p:clrMapOvr>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44"/>
                                        </p:tgtEl>
                                        <p:attrNameLst>
                                          <p:attrName>style.visibility</p:attrName>
                                        </p:attrNameLst>
                                      </p:cBhvr>
                                      <p:to>
                                        <p:strVal val="visible"/>
                                      </p:to>
                                    </p:set>
                                    <p:anim calcmode="lin" valueType="num">
                                      <p:cBhvr additive="base">
                                        <p:cTn id="7" dur="500"/>
                                        <p:tgtEl>
                                          <p:spTgt spid="144"/>
                                        </p:tgtEl>
                                        <p:attrNameLst>
                                          <p:attrName>ppt_y</p:attrName>
                                        </p:attrNameLst>
                                      </p:cBhvr>
                                      <p:tavLst>
                                        <p:tav tm="0">
                                          <p:val>
                                            <p:strVal val="#ppt_y+#ppt_h*1.125000"/>
                                          </p:val>
                                        </p:tav>
                                        <p:tav tm="100000">
                                          <p:val>
                                            <p:strVal val="#ppt_y"/>
                                          </p:val>
                                        </p:tav>
                                      </p:tavLst>
                                    </p:anim>
                                    <p:animEffect transition="in" filter="wipe(up)">
                                      <p:cBhvr>
                                        <p:cTn id="8" dur="500"/>
                                        <p:tgtEl>
                                          <p:spTgt spid="144"/>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140"/>
                                        </p:tgtEl>
                                        <p:attrNameLst>
                                          <p:attrName>style.visibility</p:attrName>
                                        </p:attrNameLst>
                                      </p:cBhvr>
                                      <p:to>
                                        <p:strVal val="visible"/>
                                      </p:to>
                                    </p:set>
                                    <p:anim calcmode="lin" valueType="num">
                                      <p:cBhvr additive="base">
                                        <p:cTn id="11" dur="500"/>
                                        <p:tgtEl>
                                          <p:spTgt spid="140"/>
                                        </p:tgtEl>
                                        <p:attrNameLst>
                                          <p:attrName>ppt_y</p:attrName>
                                        </p:attrNameLst>
                                      </p:cBhvr>
                                      <p:tavLst>
                                        <p:tav tm="0">
                                          <p:val>
                                            <p:strVal val="#ppt_y+#ppt_h*1.125000"/>
                                          </p:val>
                                        </p:tav>
                                        <p:tav tm="100000">
                                          <p:val>
                                            <p:strVal val="#ppt_y"/>
                                          </p:val>
                                        </p:tav>
                                      </p:tavLst>
                                    </p:anim>
                                    <p:animEffect transition="in" filter="wipe(up)">
                                      <p:cBhvr>
                                        <p:cTn id="12" dur="500"/>
                                        <p:tgtEl>
                                          <p:spTgt spid="140"/>
                                        </p:tgtEl>
                                      </p:cBhvr>
                                    </p:animEffect>
                                  </p:childTnLst>
                                </p:cTn>
                              </p:par>
                            </p:childTnLst>
                          </p:cTn>
                        </p:par>
                        <p:par>
                          <p:cTn id="13" fill="hold">
                            <p:stCondLst>
                              <p:cond delay="500"/>
                            </p:stCondLst>
                            <p:childTnLst>
                              <p:par>
                                <p:cTn id="14" presetID="12" presetClass="entr" presetSubtype="4" fill="hold" grpId="0" nodeType="afterEffect">
                                  <p:stCondLst>
                                    <p:cond delay="0"/>
                                  </p:stCondLst>
                                  <p:childTnLst>
                                    <p:set>
                                      <p:cBhvr>
                                        <p:cTn id="15" dur="1" fill="hold">
                                          <p:stCondLst>
                                            <p:cond delay="0"/>
                                          </p:stCondLst>
                                        </p:cTn>
                                        <p:tgtEl>
                                          <p:spTgt spid="143"/>
                                        </p:tgtEl>
                                        <p:attrNameLst>
                                          <p:attrName>style.visibility</p:attrName>
                                        </p:attrNameLst>
                                      </p:cBhvr>
                                      <p:to>
                                        <p:strVal val="visible"/>
                                      </p:to>
                                    </p:set>
                                    <p:anim calcmode="lin" valueType="num">
                                      <p:cBhvr additive="base">
                                        <p:cTn id="16" dur="500"/>
                                        <p:tgtEl>
                                          <p:spTgt spid="143"/>
                                        </p:tgtEl>
                                        <p:attrNameLst>
                                          <p:attrName>ppt_y</p:attrName>
                                        </p:attrNameLst>
                                      </p:cBhvr>
                                      <p:tavLst>
                                        <p:tav tm="0">
                                          <p:val>
                                            <p:strVal val="#ppt_y+#ppt_h*1.125000"/>
                                          </p:val>
                                        </p:tav>
                                        <p:tav tm="100000">
                                          <p:val>
                                            <p:strVal val="#ppt_y"/>
                                          </p:val>
                                        </p:tav>
                                      </p:tavLst>
                                    </p:anim>
                                    <p:animEffect transition="in" filter="wipe(up)">
                                      <p:cBhvr>
                                        <p:cTn id="17" dur="500"/>
                                        <p:tgtEl>
                                          <p:spTgt spid="143"/>
                                        </p:tgtEl>
                                      </p:cBhvr>
                                    </p:animEffect>
                                  </p:childTnLst>
                                </p:cTn>
                              </p:par>
                            </p:childTnLst>
                          </p:cTn>
                        </p:par>
                        <p:par>
                          <p:cTn id="18" fill="hold">
                            <p:stCondLst>
                              <p:cond delay="1000"/>
                            </p:stCondLst>
                            <p:childTnLst>
                              <p:par>
                                <p:cTn id="19" presetID="12" presetClass="entr" presetSubtype="4" fill="hold" grpId="0" nodeType="afterEffect">
                                  <p:stCondLst>
                                    <p:cond delay="0"/>
                                  </p:stCondLst>
                                  <p:childTnLst>
                                    <p:set>
                                      <p:cBhvr>
                                        <p:cTn id="20" dur="1" fill="hold">
                                          <p:stCondLst>
                                            <p:cond delay="0"/>
                                          </p:stCondLst>
                                        </p:cTn>
                                        <p:tgtEl>
                                          <p:spTgt spid="139"/>
                                        </p:tgtEl>
                                        <p:attrNameLst>
                                          <p:attrName>style.visibility</p:attrName>
                                        </p:attrNameLst>
                                      </p:cBhvr>
                                      <p:to>
                                        <p:strVal val="visible"/>
                                      </p:to>
                                    </p:set>
                                    <p:anim calcmode="lin" valueType="num">
                                      <p:cBhvr additive="base">
                                        <p:cTn id="21" dur="500"/>
                                        <p:tgtEl>
                                          <p:spTgt spid="139"/>
                                        </p:tgtEl>
                                        <p:attrNameLst>
                                          <p:attrName>ppt_y</p:attrName>
                                        </p:attrNameLst>
                                      </p:cBhvr>
                                      <p:tavLst>
                                        <p:tav tm="0">
                                          <p:val>
                                            <p:strVal val="#ppt_y+#ppt_h*1.125000"/>
                                          </p:val>
                                        </p:tav>
                                        <p:tav tm="100000">
                                          <p:val>
                                            <p:strVal val="#ppt_y"/>
                                          </p:val>
                                        </p:tav>
                                      </p:tavLst>
                                    </p:anim>
                                    <p:animEffect transition="in" filter="wipe(up)">
                                      <p:cBhvr>
                                        <p:cTn id="22" dur="500"/>
                                        <p:tgtEl>
                                          <p:spTgt spid="139"/>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grpId="0" nodeType="clickEffect">
                                  <p:stCondLst>
                                    <p:cond delay="0"/>
                                  </p:stCondLst>
                                  <p:iterate type="lt">
                                    <p:tmPct val="0"/>
                                  </p:iterate>
                                  <p:childTnLst>
                                    <p:set>
                                      <p:cBhvr>
                                        <p:cTn id="26" dur="1" fill="hold">
                                          <p:stCondLst>
                                            <p:cond delay="0"/>
                                          </p:stCondLst>
                                        </p:cTn>
                                        <p:tgtEl>
                                          <p:spTgt spid="145"/>
                                        </p:tgtEl>
                                        <p:attrNameLst>
                                          <p:attrName>style.visibility</p:attrName>
                                        </p:attrNameLst>
                                      </p:cBhvr>
                                      <p:to>
                                        <p:strVal val="visible"/>
                                      </p:to>
                                    </p:set>
                                    <p:animEffect transition="in" filter="strips(downLeft)">
                                      <p:cBhvr>
                                        <p:cTn id="27" dur="500"/>
                                        <p:tgtEl>
                                          <p:spTgt spid="145"/>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grpId="0" nodeType="clickEffect">
                                  <p:stCondLst>
                                    <p:cond delay="0"/>
                                  </p:stCondLst>
                                  <p:iterate type="lt">
                                    <p:tmPct val="0"/>
                                  </p:iterate>
                                  <p:childTnLst>
                                    <p:set>
                                      <p:cBhvr>
                                        <p:cTn id="31" dur="1" fill="hold">
                                          <p:stCondLst>
                                            <p:cond delay="0"/>
                                          </p:stCondLst>
                                        </p:cTn>
                                        <p:tgtEl>
                                          <p:spTgt spid="146"/>
                                        </p:tgtEl>
                                        <p:attrNameLst>
                                          <p:attrName>style.visibility</p:attrName>
                                        </p:attrNameLst>
                                      </p:cBhvr>
                                      <p:to>
                                        <p:strVal val="visible"/>
                                      </p:to>
                                    </p:set>
                                    <p:animEffect transition="in" filter="strips(downLeft)">
                                      <p:cBhvr>
                                        <p:cTn id="32" dur="500"/>
                                        <p:tgtEl>
                                          <p:spTgt spid="146"/>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12" fill="hold" grpId="0" nodeType="clickEffect">
                                  <p:stCondLst>
                                    <p:cond delay="0"/>
                                  </p:stCondLst>
                                  <p:iterate type="lt">
                                    <p:tmPct val="0"/>
                                  </p:iterate>
                                  <p:childTnLst>
                                    <p:set>
                                      <p:cBhvr>
                                        <p:cTn id="36" dur="1" fill="hold">
                                          <p:stCondLst>
                                            <p:cond delay="0"/>
                                          </p:stCondLst>
                                        </p:cTn>
                                        <p:tgtEl>
                                          <p:spTgt spid="147"/>
                                        </p:tgtEl>
                                        <p:attrNameLst>
                                          <p:attrName>style.visibility</p:attrName>
                                        </p:attrNameLst>
                                      </p:cBhvr>
                                      <p:to>
                                        <p:strVal val="visible"/>
                                      </p:to>
                                    </p:set>
                                    <p:animEffect transition="in" filter="strips(downLeft)">
                                      <p:cBhvr>
                                        <p:cTn id="37" dur="500"/>
                                        <p:tgtEl>
                                          <p:spTgt spid="14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iterate type="lt">
                                    <p:tmPct val="0"/>
                                  </p:iterate>
                                  <p:childTnLst>
                                    <p:set>
                                      <p:cBhvr>
                                        <p:cTn id="41" dur="1" fill="hold">
                                          <p:stCondLst>
                                            <p:cond delay="0"/>
                                          </p:stCondLst>
                                        </p:cTn>
                                        <p:tgtEl>
                                          <p:spTgt spid="156"/>
                                        </p:tgtEl>
                                        <p:attrNameLst>
                                          <p:attrName>style.visibility</p:attrName>
                                        </p:attrNameLst>
                                      </p:cBhvr>
                                      <p:to>
                                        <p:strVal val="visible"/>
                                      </p:to>
                                    </p:set>
                                    <p:animEffect transition="in" filter="wipe(down)">
                                      <p:cBhvr>
                                        <p:cTn id="42" dur="500"/>
                                        <p:tgtEl>
                                          <p:spTgt spid="156"/>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5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30" presetClass="entr" presetSubtype="0" fill="hold" grpId="0" nodeType="clickEffect">
                                  <p:stCondLst>
                                    <p:cond delay="0"/>
                                  </p:stCondLst>
                                  <p:childTnLst>
                                    <p:set>
                                      <p:cBhvr>
                                        <p:cTn id="50" dur="1" fill="hold">
                                          <p:stCondLst>
                                            <p:cond delay="0"/>
                                          </p:stCondLst>
                                        </p:cTn>
                                        <p:tgtEl>
                                          <p:spTgt spid="150"/>
                                        </p:tgtEl>
                                        <p:attrNameLst>
                                          <p:attrName>style.visibility</p:attrName>
                                        </p:attrNameLst>
                                      </p:cBhvr>
                                      <p:to>
                                        <p:strVal val="visible"/>
                                      </p:to>
                                    </p:set>
                                    <p:animEffect transition="in" filter="fade">
                                      <p:cBhvr>
                                        <p:cTn id="51" dur="800" decel="100000"/>
                                        <p:tgtEl>
                                          <p:spTgt spid="150"/>
                                        </p:tgtEl>
                                      </p:cBhvr>
                                    </p:animEffect>
                                    <p:anim calcmode="lin" valueType="num">
                                      <p:cBhvr>
                                        <p:cTn id="52" dur="800" decel="100000" fill="hold"/>
                                        <p:tgtEl>
                                          <p:spTgt spid="150"/>
                                        </p:tgtEl>
                                        <p:attrNameLst>
                                          <p:attrName>style.rotation</p:attrName>
                                        </p:attrNameLst>
                                      </p:cBhvr>
                                      <p:tavLst>
                                        <p:tav tm="0">
                                          <p:val>
                                            <p:fltVal val="-90"/>
                                          </p:val>
                                        </p:tav>
                                        <p:tav tm="100000">
                                          <p:val>
                                            <p:fltVal val="0"/>
                                          </p:val>
                                        </p:tav>
                                      </p:tavLst>
                                    </p:anim>
                                    <p:anim calcmode="lin" valueType="num">
                                      <p:cBhvr>
                                        <p:cTn id="53" dur="800" decel="100000" fill="hold"/>
                                        <p:tgtEl>
                                          <p:spTgt spid="150"/>
                                        </p:tgtEl>
                                        <p:attrNameLst>
                                          <p:attrName>ppt_x</p:attrName>
                                        </p:attrNameLst>
                                      </p:cBhvr>
                                      <p:tavLst>
                                        <p:tav tm="0">
                                          <p:val>
                                            <p:strVal val="#ppt_x+0.4"/>
                                          </p:val>
                                        </p:tav>
                                        <p:tav tm="100000">
                                          <p:val>
                                            <p:strVal val="#ppt_x-0.05"/>
                                          </p:val>
                                        </p:tav>
                                      </p:tavLst>
                                    </p:anim>
                                    <p:anim calcmode="lin" valueType="num">
                                      <p:cBhvr>
                                        <p:cTn id="54" dur="800" decel="100000" fill="hold"/>
                                        <p:tgtEl>
                                          <p:spTgt spid="150"/>
                                        </p:tgtEl>
                                        <p:attrNameLst>
                                          <p:attrName>ppt_y</p:attrName>
                                        </p:attrNameLst>
                                      </p:cBhvr>
                                      <p:tavLst>
                                        <p:tav tm="0">
                                          <p:val>
                                            <p:strVal val="#ppt_y-0.4"/>
                                          </p:val>
                                        </p:tav>
                                        <p:tav tm="100000">
                                          <p:val>
                                            <p:strVal val="#ppt_y+0.1"/>
                                          </p:val>
                                        </p:tav>
                                      </p:tavLst>
                                    </p:anim>
                                    <p:anim calcmode="lin" valueType="num">
                                      <p:cBhvr>
                                        <p:cTn id="55" dur="200" accel="100000" fill="hold">
                                          <p:stCondLst>
                                            <p:cond delay="800"/>
                                          </p:stCondLst>
                                        </p:cTn>
                                        <p:tgtEl>
                                          <p:spTgt spid="150"/>
                                        </p:tgtEl>
                                        <p:attrNameLst>
                                          <p:attrName>ppt_x</p:attrName>
                                        </p:attrNameLst>
                                      </p:cBhvr>
                                      <p:tavLst>
                                        <p:tav tm="0">
                                          <p:val>
                                            <p:strVal val="#ppt_x-0.05"/>
                                          </p:val>
                                        </p:tav>
                                        <p:tav tm="100000">
                                          <p:val>
                                            <p:strVal val="#ppt_x"/>
                                          </p:val>
                                        </p:tav>
                                      </p:tavLst>
                                    </p:anim>
                                    <p:anim calcmode="lin" valueType="num">
                                      <p:cBhvr>
                                        <p:cTn id="56" dur="200" accel="100000" fill="hold">
                                          <p:stCondLst>
                                            <p:cond delay="800"/>
                                          </p:stCondLst>
                                        </p:cTn>
                                        <p:tgtEl>
                                          <p:spTgt spid="150"/>
                                        </p:tgtEl>
                                        <p:attrNameLst>
                                          <p:attrName>ppt_y</p:attrName>
                                        </p:attrNameLst>
                                      </p:cBhvr>
                                      <p:tavLst>
                                        <p:tav tm="0">
                                          <p:val>
                                            <p:strVal val="#ppt_y+0.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5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30" presetClass="entr" presetSubtype="0" fill="hold" grpId="0" nodeType="clickEffect">
                                  <p:stCondLst>
                                    <p:cond delay="0"/>
                                  </p:stCondLst>
                                  <p:childTnLst>
                                    <p:set>
                                      <p:cBhvr>
                                        <p:cTn id="64" dur="1" fill="hold">
                                          <p:stCondLst>
                                            <p:cond delay="0"/>
                                          </p:stCondLst>
                                        </p:cTn>
                                        <p:tgtEl>
                                          <p:spTgt spid="152"/>
                                        </p:tgtEl>
                                        <p:attrNameLst>
                                          <p:attrName>style.visibility</p:attrName>
                                        </p:attrNameLst>
                                      </p:cBhvr>
                                      <p:to>
                                        <p:strVal val="visible"/>
                                      </p:to>
                                    </p:set>
                                    <p:animEffect transition="in" filter="fade">
                                      <p:cBhvr>
                                        <p:cTn id="65" dur="800" decel="100000"/>
                                        <p:tgtEl>
                                          <p:spTgt spid="152"/>
                                        </p:tgtEl>
                                      </p:cBhvr>
                                    </p:animEffect>
                                    <p:anim calcmode="lin" valueType="num">
                                      <p:cBhvr>
                                        <p:cTn id="66" dur="800" decel="100000" fill="hold"/>
                                        <p:tgtEl>
                                          <p:spTgt spid="152"/>
                                        </p:tgtEl>
                                        <p:attrNameLst>
                                          <p:attrName>style.rotation</p:attrName>
                                        </p:attrNameLst>
                                      </p:cBhvr>
                                      <p:tavLst>
                                        <p:tav tm="0">
                                          <p:val>
                                            <p:fltVal val="-90"/>
                                          </p:val>
                                        </p:tav>
                                        <p:tav tm="100000">
                                          <p:val>
                                            <p:fltVal val="0"/>
                                          </p:val>
                                        </p:tav>
                                      </p:tavLst>
                                    </p:anim>
                                    <p:anim calcmode="lin" valueType="num">
                                      <p:cBhvr>
                                        <p:cTn id="67" dur="800" decel="100000" fill="hold"/>
                                        <p:tgtEl>
                                          <p:spTgt spid="152"/>
                                        </p:tgtEl>
                                        <p:attrNameLst>
                                          <p:attrName>ppt_x</p:attrName>
                                        </p:attrNameLst>
                                      </p:cBhvr>
                                      <p:tavLst>
                                        <p:tav tm="0">
                                          <p:val>
                                            <p:strVal val="#ppt_x+0.4"/>
                                          </p:val>
                                        </p:tav>
                                        <p:tav tm="100000">
                                          <p:val>
                                            <p:strVal val="#ppt_x-0.05"/>
                                          </p:val>
                                        </p:tav>
                                      </p:tavLst>
                                    </p:anim>
                                    <p:anim calcmode="lin" valueType="num">
                                      <p:cBhvr>
                                        <p:cTn id="68" dur="800" decel="100000" fill="hold"/>
                                        <p:tgtEl>
                                          <p:spTgt spid="152"/>
                                        </p:tgtEl>
                                        <p:attrNameLst>
                                          <p:attrName>ppt_y</p:attrName>
                                        </p:attrNameLst>
                                      </p:cBhvr>
                                      <p:tavLst>
                                        <p:tav tm="0">
                                          <p:val>
                                            <p:strVal val="#ppt_y-0.4"/>
                                          </p:val>
                                        </p:tav>
                                        <p:tav tm="100000">
                                          <p:val>
                                            <p:strVal val="#ppt_y+0.1"/>
                                          </p:val>
                                        </p:tav>
                                      </p:tavLst>
                                    </p:anim>
                                    <p:anim calcmode="lin" valueType="num">
                                      <p:cBhvr>
                                        <p:cTn id="69" dur="200" accel="100000" fill="hold">
                                          <p:stCondLst>
                                            <p:cond delay="800"/>
                                          </p:stCondLst>
                                        </p:cTn>
                                        <p:tgtEl>
                                          <p:spTgt spid="152"/>
                                        </p:tgtEl>
                                        <p:attrNameLst>
                                          <p:attrName>ppt_x</p:attrName>
                                        </p:attrNameLst>
                                      </p:cBhvr>
                                      <p:tavLst>
                                        <p:tav tm="0">
                                          <p:val>
                                            <p:strVal val="#ppt_x-0.05"/>
                                          </p:val>
                                        </p:tav>
                                        <p:tav tm="100000">
                                          <p:val>
                                            <p:strVal val="#ppt_x"/>
                                          </p:val>
                                        </p:tav>
                                      </p:tavLst>
                                    </p:anim>
                                    <p:anim calcmode="lin" valueType="num">
                                      <p:cBhvr>
                                        <p:cTn id="70" dur="200" accel="100000" fill="hold">
                                          <p:stCondLst>
                                            <p:cond delay="800"/>
                                          </p:stCondLst>
                                        </p:cTn>
                                        <p:tgtEl>
                                          <p:spTgt spid="152"/>
                                        </p:tgtEl>
                                        <p:attrNameLst>
                                          <p:attrName>ppt_y</p:attrName>
                                        </p:attrNameLst>
                                      </p:cBhvr>
                                      <p:tavLst>
                                        <p:tav tm="0">
                                          <p:val>
                                            <p:strVal val="#ppt_y+0.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5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30" presetClass="entr" presetSubtype="0" fill="hold" grpId="0" nodeType="clickEffect">
                                  <p:stCondLst>
                                    <p:cond delay="0"/>
                                  </p:stCondLst>
                                  <p:childTnLst>
                                    <p:set>
                                      <p:cBhvr>
                                        <p:cTn id="78" dur="1" fill="hold">
                                          <p:stCondLst>
                                            <p:cond delay="0"/>
                                          </p:stCondLst>
                                        </p:cTn>
                                        <p:tgtEl>
                                          <p:spTgt spid="154"/>
                                        </p:tgtEl>
                                        <p:attrNameLst>
                                          <p:attrName>style.visibility</p:attrName>
                                        </p:attrNameLst>
                                      </p:cBhvr>
                                      <p:to>
                                        <p:strVal val="visible"/>
                                      </p:to>
                                    </p:set>
                                    <p:animEffect transition="in" filter="fade">
                                      <p:cBhvr>
                                        <p:cTn id="79" dur="800" decel="100000"/>
                                        <p:tgtEl>
                                          <p:spTgt spid="154"/>
                                        </p:tgtEl>
                                      </p:cBhvr>
                                    </p:animEffect>
                                    <p:anim calcmode="lin" valueType="num">
                                      <p:cBhvr>
                                        <p:cTn id="80" dur="800" decel="100000" fill="hold"/>
                                        <p:tgtEl>
                                          <p:spTgt spid="154"/>
                                        </p:tgtEl>
                                        <p:attrNameLst>
                                          <p:attrName>style.rotation</p:attrName>
                                        </p:attrNameLst>
                                      </p:cBhvr>
                                      <p:tavLst>
                                        <p:tav tm="0">
                                          <p:val>
                                            <p:fltVal val="-90"/>
                                          </p:val>
                                        </p:tav>
                                        <p:tav tm="100000">
                                          <p:val>
                                            <p:fltVal val="0"/>
                                          </p:val>
                                        </p:tav>
                                      </p:tavLst>
                                    </p:anim>
                                    <p:anim calcmode="lin" valueType="num">
                                      <p:cBhvr>
                                        <p:cTn id="81" dur="800" decel="100000" fill="hold"/>
                                        <p:tgtEl>
                                          <p:spTgt spid="154"/>
                                        </p:tgtEl>
                                        <p:attrNameLst>
                                          <p:attrName>ppt_x</p:attrName>
                                        </p:attrNameLst>
                                      </p:cBhvr>
                                      <p:tavLst>
                                        <p:tav tm="0">
                                          <p:val>
                                            <p:strVal val="#ppt_x+0.4"/>
                                          </p:val>
                                        </p:tav>
                                        <p:tav tm="100000">
                                          <p:val>
                                            <p:strVal val="#ppt_x-0.05"/>
                                          </p:val>
                                        </p:tav>
                                      </p:tavLst>
                                    </p:anim>
                                    <p:anim calcmode="lin" valueType="num">
                                      <p:cBhvr>
                                        <p:cTn id="82" dur="800" decel="100000" fill="hold"/>
                                        <p:tgtEl>
                                          <p:spTgt spid="154"/>
                                        </p:tgtEl>
                                        <p:attrNameLst>
                                          <p:attrName>ppt_y</p:attrName>
                                        </p:attrNameLst>
                                      </p:cBhvr>
                                      <p:tavLst>
                                        <p:tav tm="0">
                                          <p:val>
                                            <p:strVal val="#ppt_y-0.4"/>
                                          </p:val>
                                        </p:tav>
                                        <p:tav tm="100000">
                                          <p:val>
                                            <p:strVal val="#ppt_y+0.1"/>
                                          </p:val>
                                        </p:tav>
                                      </p:tavLst>
                                    </p:anim>
                                    <p:anim calcmode="lin" valueType="num">
                                      <p:cBhvr>
                                        <p:cTn id="83" dur="200" accel="100000" fill="hold">
                                          <p:stCondLst>
                                            <p:cond delay="800"/>
                                          </p:stCondLst>
                                        </p:cTn>
                                        <p:tgtEl>
                                          <p:spTgt spid="154"/>
                                        </p:tgtEl>
                                        <p:attrNameLst>
                                          <p:attrName>ppt_x</p:attrName>
                                        </p:attrNameLst>
                                      </p:cBhvr>
                                      <p:tavLst>
                                        <p:tav tm="0">
                                          <p:val>
                                            <p:strVal val="#ppt_x-0.05"/>
                                          </p:val>
                                        </p:tav>
                                        <p:tav tm="100000">
                                          <p:val>
                                            <p:strVal val="#ppt_x"/>
                                          </p:val>
                                        </p:tav>
                                      </p:tavLst>
                                    </p:anim>
                                    <p:anim calcmode="lin" valueType="num">
                                      <p:cBhvr>
                                        <p:cTn id="84" dur="200" accel="100000" fill="hold">
                                          <p:stCondLst>
                                            <p:cond delay="800"/>
                                          </p:stCondLst>
                                        </p:cTn>
                                        <p:tgtEl>
                                          <p:spTgt spid="154"/>
                                        </p:tgtEl>
                                        <p:attrNameLst>
                                          <p:attrName>ppt_y</p:attrName>
                                        </p:attrNameLst>
                                      </p:cBhvr>
                                      <p:tavLst>
                                        <p:tav tm="0">
                                          <p:val>
                                            <p:strVal val="#ppt_y+0.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37" presetClass="entr" presetSubtype="0" fill="hold" nodeType="clickEffect">
                                  <p:stCondLst>
                                    <p:cond delay="0"/>
                                  </p:stCondLst>
                                  <p:childTnLst>
                                    <p:set>
                                      <p:cBhvr>
                                        <p:cTn id="88" dur="1" fill="hold">
                                          <p:stCondLst>
                                            <p:cond delay="0"/>
                                          </p:stCondLst>
                                        </p:cTn>
                                        <p:tgtEl>
                                          <p:spTgt spid="142"/>
                                        </p:tgtEl>
                                        <p:attrNameLst>
                                          <p:attrName>style.visibility</p:attrName>
                                        </p:attrNameLst>
                                      </p:cBhvr>
                                      <p:to>
                                        <p:strVal val="visible"/>
                                      </p:to>
                                    </p:set>
                                    <p:animEffect transition="in" filter="fade">
                                      <p:cBhvr>
                                        <p:cTn id="89" dur="1000"/>
                                        <p:tgtEl>
                                          <p:spTgt spid="142"/>
                                        </p:tgtEl>
                                      </p:cBhvr>
                                    </p:animEffect>
                                    <p:anim calcmode="lin" valueType="num">
                                      <p:cBhvr>
                                        <p:cTn id="90" dur="1000" fill="hold"/>
                                        <p:tgtEl>
                                          <p:spTgt spid="142"/>
                                        </p:tgtEl>
                                        <p:attrNameLst>
                                          <p:attrName>ppt_x</p:attrName>
                                        </p:attrNameLst>
                                      </p:cBhvr>
                                      <p:tavLst>
                                        <p:tav tm="0">
                                          <p:val>
                                            <p:strVal val="#ppt_x"/>
                                          </p:val>
                                        </p:tav>
                                        <p:tav tm="100000">
                                          <p:val>
                                            <p:strVal val="#ppt_x"/>
                                          </p:val>
                                        </p:tav>
                                      </p:tavLst>
                                    </p:anim>
                                    <p:anim calcmode="lin" valueType="num">
                                      <p:cBhvr>
                                        <p:cTn id="91" dur="900" decel="100000" fill="hold"/>
                                        <p:tgtEl>
                                          <p:spTgt spid="142"/>
                                        </p:tgtEl>
                                        <p:attrNameLst>
                                          <p:attrName>ppt_y</p:attrName>
                                        </p:attrNameLst>
                                      </p:cBhvr>
                                      <p:tavLst>
                                        <p:tav tm="0">
                                          <p:val>
                                            <p:strVal val="#ppt_y+1"/>
                                          </p:val>
                                        </p:tav>
                                        <p:tav tm="100000">
                                          <p:val>
                                            <p:strVal val="#ppt_y-.03"/>
                                          </p:val>
                                        </p:tav>
                                      </p:tavLst>
                                    </p:anim>
                                    <p:anim calcmode="lin" valueType="num">
                                      <p:cBhvr>
                                        <p:cTn id="92" dur="100" accel="100000" fill="hold">
                                          <p:stCondLst>
                                            <p:cond delay="900"/>
                                          </p:stCondLst>
                                        </p:cTn>
                                        <p:tgtEl>
                                          <p:spTgt spid="142"/>
                                        </p:tgtEl>
                                        <p:attrNameLst>
                                          <p:attrName>ppt_y</p:attrName>
                                        </p:attrNameLst>
                                      </p:cBhvr>
                                      <p:tavLst>
                                        <p:tav tm="0">
                                          <p:val>
                                            <p:strVal val="#ppt_y-.03"/>
                                          </p:val>
                                        </p:tav>
                                        <p:tav tm="100000">
                                          <p:val>
                                            <p:strVal val="#ppt_y"/>
                                          </p:val>
                                        </p:tav>
                                      </p:tavLst>
                                    </p:anim>
                                  </p:childTnLst>
                                </p:cTn>
                              </p:par>
                              <p:par>
                                <p:cTn id="93" presetID="12" presetClass="entr" presetSubtype="4" fill="hold" grpId="0" nodeType="withEffect">
                                  <p:stCondLst>
                                    <p:cond delay="0"/>
                                  </p:stCondLst>
                                  <p:childTnLst>
                                    <p:set>
                                      <p:cBhvr>
                                        <p:cTn id="94" dur="1" fill="hold">
                                          <p:stCondLst>
                                            <p:cond delay="0"/>
                                          </p:stCondLst>
                                        </p:cTn>
                                        <p:tgtEl>
                                          <p:spTgt spid="149"/>
                                        </p:tgtEl>
                                        <p:attrNameLst>
                                          <p:attrName>style.visibility</p:attrName>
                                        </p:attrNameLst>
                                      </p:cBhvr>
                                      <p:to>
                                        <p:strVal val="visible"/>
                                      </p:to>
                                    </p:set>
                                    <p:anim calcmode="lin" valueType="num">
                                      <p:cBhvr additive="base">
                                        <p:cTn id="95" dur="500"/>
                                        <p:tgtEl>
                                          <p:spTgt spid="149"/>
                                        </p:tgtEl>
                                        <p:attrNameLst>
                                          <p:attrName>ppt_y</p:attrName>
                                        </p:attrNameLst>
                                      </p:cBhvr>
                                      <p:tavLst>
                                        <p:tav tm="0">
                                          <p:val>
                                            <p:strVal val="#ppt_y+#ppt_h*1.125000"/>
                                          </p:val>
                                        </p:tav>
                                        <p:tav tm="100000">
                                          <p:val>
                                            <p:strVal val="#ppt_y"/>
                                          </p:val>
                                        </p:tav>
                                      </p:tavLst>
                                    </p:anim>
                                    <p:animEffect transition="in" filter="wipe(up)">
                                      <p:cBhvr>
                                        <p:cTn id="96" dur="500"/>
                                        <p:tgtEl>
                                          <p:spTgt spid="149"/>
                                        </p:tgtEl>
                                      </p:cBhvr>
                                    </p:animEffect>
                                  </p:childTnLst>
                                </p:cTn>
                              </p:par>
                            </p:childTnLst>
                          </p:cTn>
                        </p:par>
                      </p:childTnLst>
                    </p:cTn>
                  </p:par>
                  <p:par>
                    <p:cTn id="97" fill="hold">
                      <p:stCondLst>
                        <p:cond delay="indefinite"/>
                      </p:stCondLst>
                      <p:childTnLst>
                        <p:par>
                          <p:cTn id="98" fill="hold">
                            <p:stCondLst>
                              <p:cond delay="0"/>
                            </p:stCondLst>
                            <p:childTnLst>
                              <p:par>
                                <p:cTn id="99" presetID="53" presetClass="exit" presetSubtype="32" fill="hold" nodeType="clickEffect">
                                  <p:stCondLst>
                                    <p:cond delay="0"/>
                                  </p:stCondLst>
                                  <p:childTnLst>
                                    <p:anim calcmode="lin" valueType="num">
                                      <p:cBhvr>
                                        <p:cTn id="100" dur="500"/>
                                        <p:tgtEl>
                                          <p:spTgt spid="142"/>
                                        </p:tgtEl>
                                        <p:attrNameLst>
                                          <p:attrName>ppt_w</p:attrName>
                                        </p:attrNameLst>
                                      </p:cBhvr>
                                      <p:tavLst>
                                        <p:tav tm="0">
                                          <p:val>
                                            <p:strVal val="ppt_w"/>
                                          </p:val>
                                        </p:tav>
                                        <p:tav tm="100000">
                                          <p:val>
                                            <p:fltVal val="0"/>
                                          </p:val>
                                        </p:tav>
                                      </p:tavLst>
                                    </p:anim>
                                    <p:anim calcmode="lin" valueType="num">
                                      <p:cBhvr>
                                        <p:cTn id="101" dur="500"/>
                                        <p:tgtEl>
                                          <p:spTgt spid="142"/>
                                        </p:tgtEl>
                                        <p:attrNameLst>
                                          <p:attrName>ppt_h</p:attrName>
                                        </p:attrNameLst>
                                      </p:cBhvr>
                                      <p:tavLst>
                                        <p:tav tm="0">
                                          <p:val>
                                            <p:strVal val="ppt_h"/>
                                          </p:val>
                                        </p:tav>
                                        <p:tav tm="100000">
                                          <p:val>
                                            <p:fltVal val="0"/>
                                          </p:val>
                                        </p:tav>
                                      </p:tavLst>
                                    </p:anim>
                                    <p:animEffect transition="out" filter="fade">
                                      <p:cBhvr>
                                        <p:cTn id="102" dur="500"/>
                                        <p:tgtEl>
                                          <p:spTgt spid="142"/>
                                        </p:tgtEl>
                                      </p:cBhvr>
                                    </p:animEffect>
                                    <p:set>
                                      <p:cBhvr>
                                        <p:cTn id="103" dur="1" fill="hold">
                                          <p:stCondLst>
                                            <p:cond delay="499"/>
                                          </p:stCondLst>
                                        </p:cTn>
                                        <p:tgtEl>
                                          <p:spTgt spid="142"/>
                                        </p:tgtEl>
                                        <p:attrNameLst>
                                          <p:attrName>style.visibility</p:attrName>
                                        </p:attrNameLst>
                                      </p:cBhvr>
                                      <p:to>
                                        <p:strVal val="hidden"/>
                                      </p:to>
                                    </p:set>
                                  </p:childTnLst>
                                </p:cTn>
                              </p:par>
                              <p:par>
                                <p:cTn id="104" presetID="53" presetClass="exit" presetSubtype="32" fill="hold" nodeType="withEffect">
                                  <p:stCondLst>
                                    <p:cond delay="0"/>
                                  </p:stCondLst>
                                  <p:childTnLst>
                                    <p:anim calcmode="lin" valueType="num">
                                      <p:cBhvr>
                                        <p:cTn id="105" dur="500"/>
                                        <p:tgtEl>
                                          <p:spTgt spid="149"/>
                                        </p:tgtEl>
                                        <p:attrNameLst>
                                          <p:attrName>ppt_w</p:attrName>
                                        </p:attrNameLst>
                                      </p:cBhvr>
                                      <p:tavLst>
                                        <p:tav tm="0">
                                          <p:val>
                                            <p:strVal val="ppt_w"/>
                                          </p:val>
                                        </p:tav>
                                        <p:tav tm="100000">
                                          <p:val>
                                            <p:fltVal val="0"/>
                                          </p:val>
                                        </p:tav>
                                      </p:tavLst>
                                    </p:anim>
                                    <p:anim calcmode="lin" valueType="num">
                                      <p:cBhvr>
                                        <p:cTn id="106" dur="500"/>
                                        <p:tgtEl>
                                          <p:spTgt spid="149"/>
                                        </p:tgtEl>
                                        <p:attrNameLst>
                                          <p:attrName>ppt_h</p:attrName>
                                        </p:attrNameLst>
                                      </p:cBhvr>
                                      <p:tavLst>
                                        <p:tav tm="0">
                                          <p:val>
                                            <p:strVal val="ppt_h"/>
                                          </p:val>
                                        </p:tav>
                                        <p:tav tm="100000">
                                          <p:val>
                                            <p:fltVal val="0"/>
                                          </p:val>
                                        </p:tav>
                                      </p:tavLst>
                                    </p:anim>
                                    <p:animEffect transition="out" filter="fade">
                                      <p:cBhvr>
                                        <p:cTn id="107" dur="500"/>
                                        <p:tgtEl>
                                          <p:spTgt spid="149"/>
                                        </p:tgtEl>
                                      </p:cBhvr>
                                    </p:animEffect>
                                    <p:set>
                                      <p:cBhvr>
                                        <p:cTn id="108" dur="1" fill="hold">
                                          <p:stCondLst>
                                            <p:cond delay="499"/>
                                          </p:stCondLst>
                                        </p:cTn>
                                        <p:tgtEl>
                                          <p:spTgt spid="149"/>
                                        </p:tgtEl>
                                        <p:attrNameLst>
                                          <p:attrName>style.visibility</p:attrName>
                                        </p:attrNameLst>
                                      </p:cBhvr>
                                      <p:to>
                                        <p:strVal val="hidden"/>
                                      </p:to>
                                    </p:se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EFAF2">
            <a:alpha val="100000"/>
          </a:srgbClr>
        </a:solidFill>
        <a:effectLst/>
      </p:bgPr>
    </p:bg>
    <p:spTree>
      <p:nvGrpSpPr>
        <p:cNvPr id="157" name=""/>
        <p:cNvGrpSpPr/>
        <p:nvPr/>
      </p:nvGrpSpPr>
      <p:grpSpPr>
        <a:xfrm>
          <a:off x="0" y="0"/>
          <a:ext cx="0" cy="0"/>
          <a:chOff x="0" y="0"/>
          <a:chExt cx="0" cy="0"/>
        </a:xfrm>
      </p:grpSpPr>
      <p:sp>
        <p:nvSpPr>
          <p:cNvPr id="158" name="矩形: 圆角 4"/>
          <p:cNvSpPr/>
          <p:nvPr/>
        </p:nvSpPr>
        <p:spPr>
          <a:xfrm>
            <a:off x="1775840" y="359664"/>
            <a:ext cx="9651391" cy="855597"/>
          </a:xfrm>
          <a:prstGeom prst="roundRect">
            <a:avLst>
              <a:gd name="adj" fmla="val 30941"/>
            </a:avLst>
          </a:prstGeom>
          <a:solidFill>
            <a:srgbClr val="E9E1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标题 1"/>
          <p:cNvSpPr>
            <a:spLocks noGrp="1"/>
          </p:cNvSpPr>
          <p:nvPr>
            <p:ph type="ctrTitle"/>
          </p:nvPr>
        </p:nvSpPr>
        <p:spPr>
          <a:xfrm>
            <a:off x="1701140" y="534131"/>
            <a:ext cx="9821363" cy="531478"/>
          </a:xfrm>
        </p:spPr>
        <p:txBody>
          <a:bodyPr>
            <a:noAutofit/>
          </a:bodyPr>
          <a:lstStyle/>
          <a:p>
            <a:pPr>
              <a:buNone/>
            </a:pPr>
            <a:r>
              <a:rPr sz="3200"/>
              <a:t>2.The impact of demographic changes and labor shortages</a:t>
            </a:r>
            <a:endParaRPr lang="zh-CN">
              <a:latin typeface="江西拙楷"/>
              <a:ea typeface="江西拙楷"/>
              <a:cs typeface="+mj-cs"/>
            </a:endParaRPr>
          </a:p>
        </p:txBody>
      </p:sp>
      <p:pic>
        <p:nvPicPr>
          <p:cNvPr id="160" name="图片 14"/>
          <p:cNvPicPr>
            <a:picLocks noChangeAspect="1"/>
          </p:cNvPicPr>
          <p:nvPr/>
        </p:nvPicPr>
        <p:blipFill>
          <a:blip r:embed="rId1"/>
          <a:stretch>
            <a:fillRect/>
          </a:stretch>
        </p:blipFill>
        <p:spPr>
          <a:xfrm>
            <a:off x="575853" y="359664"/>
            <a:ext cx="917481" cy="973240"/>
          </a:xfrm>
          <a:prstGeom prst="rect">
            <a:avLst/>
          </a:prstGeom>
        </p:spPr>
      </p:pic>
      <p:sp>
        <p:nvSpPr>
          <p:cNvPr id="161" name="文本框 160"/>
          <p:cNvSpPr txBox="1"/>
          <p:nvPr/>
        </p:nvSpPr>
        <p:spPr>
          <a:xfrm>
            <a:off x="308599" y="3179559"/>
            <a:ext cx="6096000" cy="1187450"/>
          </a:xfrm>
          <a:prstGeom prst="rect">
            <a:avLst/>
          </a:prstGeom>
        </p:spPr>
        <p:txBody>
          <a:bodyPr>
            <a:spAutoFit/>
          </a:bodyPr>
          <a:p>
            <a:r>
              <a:rPr lang="en-US">
                <a:solidFill>
                  <a:schemeClr val="accent6">
                    <a:lumMod val="50000"/>
                    <a:alpha val="100000"/>
                  </a:schemeClr>
                </a:solidFill>
              </a:rPr>
              <a:t>A courier company established a </a:t>
            </a:r>
            <a:r>
              <a:rPr lang="zh-CN">
                <a:solidFill>
                  <a:schemeClr val="accent6">
                    <a:lumMod val="50000"/>
                    <a:alpha val="100000"/>
                  </a:schemeClr>
                </a:solidFill>
              </a:rPr>
              <a:t>”</a:t>
            </a:r>
            <a:r>
              <a:rPr lang="en-US">
                <a:solidFill>
                  <a:schemeClr val="accent6">
                    <a:lumMod val="50000"/>
                    <a:alpha val="100000"/>
                  </a:schemeClr>
                </a:solidFill>
              </a:rPr>
              <a:t>newcomer mentor system" to shorten the training cycle of sorters from 7 days to 3 days through VR simulation training, and the retention rate increased by 12%.</a:t>
            </a:r>
            <a:endParaRPr lang="en-US">
              <a:solidFill>
                <a:schemeClr val="accent6">
                  <a:lumMod val="50000"/>
                  <a:alpha val="100000"/>
                </a:schemeClr>
              </a:solidFill>
            </a:endParaRPr>
          </a:p>
        </p:txBody>
      </p:sp>
      <p:sp>
        <p:nvSpPr>
          <p:cNvPr id="162" name="矩形: 圆角 3"/>
          <p:cNvSpPr/>
          <p:nvPr/>
        </p:nvSpPr>
        <p:spPr>
          <a:xfrm>
            <a:off x="4383683" y="1065609"/>
            <a:ext cx="3631757" cy="109900"/>
          </a:xfrm>
          <a:prstGeom prst="roundRect">
            <a:avLst>
              <a:gd name="adj" fmla="val 50000"/>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3" name="矩形: 圆角 3"/>
          <p:cNvSpPr/>
          <p:nvPr/>
        </p:nvSpPr>
        <p:spPr>
          <a:xfrm>
            <a:off x="8974725" y="1010650"/>
            <a:ext cx="2325012" cy="109918"/>
          </a:xfrm>
          <a:prstGeom prst="roundRect">
            <a:avLst>
              <a:gd name="adj" fmla="val 50000"/>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4" name="文本框 163"/>
          <p:cNvSpPr txBox="1"/>
          <p:nvPr/>
        </p:nvSpPr>
        <p:spPr>
          <a:xfrm>
            <a:off x="440973" y="1332904"/>
            <a:ext cx="3155950" cy="641350"/>
          </a:xfrm>
          <a:prstGeom prst="rect">
            <a:avLst/>
          </a:prstGeom>
        </p:spPr>
        <p:txBody>
          <a:bodyPr>
            <a:spAutoFit/>
          </a:bodyPr>
          <a:p>
            <a:r>
              <a:rPr lang="en-US" b="1"/>
              <a:t>impact</a:t>
            </a:r>
            <a:r>
              <a:rPr lang="zh-CN" b="1"/>
              <a:t>：</a:t>
            </a:r>
            <a:endParaRPr lang="zh-CN" b="1"/>
          </a:p>
          <a:p>
            <a:r>
              <a:t>Reduced operational efficiency</a:t>
            </a:r>
          </a:p>
        </p:txBody>
      </p:sp>
      <p:sp>
        <p:nvSpPr>
          <p:cNvPr id="165" name="文本框 164"/>
          <p:cNvSpPr txBox="1"/>
          <p:nvPr/>
        </p:nvSpPr>
        <p:spPr>
          <a:xfrm>
            <a:off x="440973" y="1931863"/>
            <a:ext cx="1778000" cy="368300"/>
          </a:xfrm>
          <a:prstGeom prst="rect">
            <a:avLst/>
          </a:prstGeom>
          <a:ln w="6350">
            <a:prstDash val="solid"/>
          </a:ln>
        </p:spPr>
        <p:txBody>
          <a:bodyPr wrap="none">
            <a:spAutoFit/>
          </a:bodyPr>
          <a:p>
            <a:r>
              <a:rPr lang="en-US"/>
              <a:t>Rising labor costs</a:t>
            </a:r>
            <a:endParaRPr lang="en-US"/>
          </a:p>
        </p:txBody>
      </p:sp>
      <p:sp>
        <p:nvSpPr>
          <p:cNvPr id="166" name="文本框 165"/>
          <p:cNvSpPr txBox="1"/>
          <p:nvPr/>
        </p:nvSpPr>
        <p:spPr>
          <a:xfrm>
            <a:off x="440973" y="2284288"/>
            <a:ext cx="3409950" cy="368300"/>
          </a:xfrm>
          <a:prstGeom prst="rect">
            <a:avLst/>
          </a:prstGeom>
          <a:ln w="6350">
            <a:prstDash val="solid"/>
          </a:ln>
        </p:spPr>
        <p:txBody>
          <a:bodyPr wrap="none">
            <a:spAutoFit/>
          </a:bodyPr>
          <a:p>
            <a:r>
              <a:rPr lang="en-US"/>
              <a:t>Decline in customer service quality</a:t>
            </a:r>
            <a:endParaRPr lang="en-US"/>
          </a:p>
        </p:txBody>
      </p:sp>
      <p:sp>
        <p:nvSpPr>
          <p:cNvPr id="167" name="文本框 166"/>
          <p:cNvSpPr txBox="1"/>
          <p:nvPr/>
        </p:nvSpPr>
        <p:spPr>
          <a:xfrm>
            <a:off x="859749" y="3728913"/>
            <a:ext cx="1092200" cy="457200"/>
          </a:xfrm>
          <a:prstGeom prst="rect">
            <a:avLst/>
          </a:prstGeom>
          <a:ln w="6350">
            <a:prstDash val="solid"/>
          </a:ln>
        </p:spPr>
        <p:txBody>
          <a:bodyPr wrap="none">
            <a:spAutoFit/>
          </a:bodyPr>
          <a:p>
            <a:br/>
            <a:r>
              <a:rPr lang="en-US"/>
              <a:t>	</a:t>
            </a:r>
            <a:endParaRPr lang="en-US"/>
          </a:p>
        </p:txBody>
      </p:sp>
      <p:sp>
        <p:nvSpPr>
          <p:cNvPr id="168" name="文本框 167"/>
          <p:cNvSpPr txBox="1"/>
          <p:nvPr/>
        </p:nvSpPr>
        <p:spPr>
          <a:xfrm>
            <a:off x="6199562" y="1595313"/>
            <a:ext cx="5378450" cy="336550"/>
          </a:xfrm>
          <a:prstGeom prst="rect">
            <a:avLst/>
          </a:prstGeom>
          <a:ln w="6350">
            <a:prstDash val="solid"/>
          </a:ln>
        </p:spPr>
        <p:txBody>
          <a:bodyPr wrap="none">
            <a:spAutoFit/>
          </a:bodyPr>
          <a:p>
            <a:r>
              <a:rPr sz="1600">
                <a:solidFill>
                  <a:srgbClr val="000000">
                    <a:alpha val="85000"/>
                  </a:srgbClr>
                </a:solidFill>
                <a:highlight>
                  <a:srgbClr val="FFFFFF">
                    <a:alpha val="100000"/>
                  </a:srgbClr>
                </a:highlight>
                <a:latin typeface="Inter"/>
                <a:ea typeface="Inter"/>
                <a:cs typeface="+mn-cs"/>
              </a:rPr>
              <a:t>Introduce intelligent systems to optimize operational processes</a:t>
            </a:r>
            <a:endParaRPr sz="1600">
              <a:solidFill>
                <a:srgbClr val="000000">
                  <a:alpha val="85000"/>
                </a:srgbClr>
              </a:solidFill>
              <a:highlight>
                <a:srgbClr val="FFFFFF">
                  <a:alpha val="100000"/>
                </a:srgbClr>
              </a:highlight>
              <a:latin typeface="Inter"/>
              <a:ea typeface="Inter"/>
              <a:cs typeface="+mn-cs"/>
            </a:endParaRPr>
          </a:p>
        </p:txBody>
      </p:sp>
      <p:pic>
        <p:nvPicPr>
          <p:cNvPr id="169" name="图片 6"/>
          <p:cNvPicPr>
            <a:picLocks noChangeAspect="1"/>
          </p:cNvPicPr>
          <p:nvPr/>
        </p:nvPicPr>
        <p:blipFill>
          <a:blip r:embed="rId2"/>
          <a:srcRect l="56499" t="40358" r="38074" b="56491"/>
          <a:stretch>
            <a:fillRect/>
          </a:stretch>
        </p:blipFill>
        <p:spPr>
          <a:xfrm>
            <a:off x="4383683" y="1653579"/>
            <a:ext cx="661554" cy="216003"/>
          </a:xfrm>
          <a:prstGeom prst="rect">
            <a:avLst/>
          </a:prstGeom>
        </p:spPr>
      </p:pic>
      <p:sp>
        <p:nvSpPr>
          <p:cNvPr id="170" name="文本框 169"/>
          <p:cNvSpPr txBox="1"/>
          <p:nvPr/>
        </p:nvSpPr>
        <p:spPr>
          <a:xfrm>
            <a:off x="6194414" y="1973619"/>
            <a:ext cx="4864100" cy="336550"/>
          </a:xfrm>
          <a:prstGeom prst="rect">
            <a:avLst/>
          </a:prstGeom>
          <a:ln w="6350">
            <a:prstDash val="solid"/>
          </a:ln>
        </p:spPr>
        <p:txBody>
          <a:bodyPr wrap="none">
            <a:spAutoFit/>
          </a:bodyPr>
          <a:p>
            <a:r>
              <a:rPr sz="1600">
                <a:solidFill>
                  <a:srgbClr val="000000">
                    <a:alpha val="85000"/>
                  </a:srgbClr>
                </a:solidFill>
                <a:highlight>
                  <a:srgbClr val="FFFFFF">
                    <a:alpha val="100000"/>
                  </a:srgbClr>
                </a:highlight>
                <a:latin typeface="Inter"/>
                <a:ea typeface="Inter"/>
                <a:cs typeface="+mn-cs"/>
              </a:rPr>
              <a:t>Promote automation and optimize manpower allocation.</a:t>
            </a:r>
            <a:endParaRPr sz="1600">
              <a:solidFill>
                <a:srgbClr val="000000">
                  <a:alpha val="85000"/>
                </a:srgbClr>
              </a:solidFill>
              <a:highlight>
                <a:srgbClr val="FFFFFF">
                  <a:alpha val="100000"/>
                </a:srgbClr>
              </a:highlight>
              <a:latin typeface="Inter"/>
              <a:ea typeface="Inter"/>
              <a:cs typeface="+mn-cs"/>
            </a:endParaRPr>
          </a:p>
        </p:txBody>
      </p:sp>
      <p:pic>
        <p:nvPicPr>
          <p:cNvPr id="171" name="图片 6"/>
          <p:cNvPicPr>
            <a:picLocks noChangeAspect="1"/>
          </p:cNvPicPr>
          <p:nvPr/>
        </p:nvPicPr>
        <p:blipFill>
          <a:blip r:embed="rId2"/>
          <a:srcRect l="56499" t="40358" r="38074" b="56491"/>
          <a:stretch>
            <a:fillRect/>
          </a:stretch>
        </p:blipFill>
        <p:spPr>
          <a:xfrm>
            <a:off x="4383683" y="2008011"/>
            <a:ext cx="661554" cy="216002"/>
          </a:xfrm>
          <a:prstGeom prst="rect">
            <a:avLst/>
          </a:prstGeom>
        </p:spPr>
      </p:pic>
      <p:sp>
        <p:nvSpPr>
          <p:cNvPr id="172" name="文本框 171"/>
          <p:cNvSpPr txBox="1"/>
          <p:nvPr/>
        </p:nvSpPr>
        <p:spPr>
          <a:xfrm>
            <a:off x="6199562" y="2351667"/>
            <a:ext cx="5721350" cy="336550"/>
          </a:xfrm>
          <a:prstGeom prst="rect">
            <a:avLst/>
          </a:prstGeom>
          <a:ln w="6350">
            <a:prstDash val="solid"/>
          </a:ln>
        </p:spPr>
        <p:txBody>
          <a:bodyPr wrap="none">
            <a:spAutoFit/>
          </a:bodyPr>
          <a:p>
            <a:r>
              <a:rPr sz="1600">
                <a:solidFill>
                  <a:srgbClr val="000000">
                    <a:alpha val="85000"/>
                  </a:srgbClr>
                </a:solidFill>
                <a:highlight>
                  <a:srgbClr val="FFFFFF">
                    <a:alpha val="100000"/>
                  </a:srgbClr>
                </a:highlight>
                <a:latin typeface="Inter"/>
                <a:ea typeface="Inter"/>
                <a:cs typeface="+mn-cs"/>
              </a:rPr>
              <a:t>Strengthen customer service training and build feedback platforms.</a:t>
            </a:r>
            <a:endParaRPr sz="1600">
              <a:solidFill>
                <a:srgbClr val="000000">
                  <a:alpha val="85000"/>
                </a:srgbClr>
              </a:solidFill>
              <a:highlight>
                <a:srgbClr val="FFFFFF">
                  <a:alpha val="100000"/>
                </a:srgbClr>
              </a:highlight>
              <a:latin typeface="Inter"/>
              <a:ea typeface="Inter"/>
              <a:cs typeface="+mn-cs"/>
            </a:endParaRPr>
          </a:p>
        </p:txBody>
      </p:sp>
      <p:pic>
        <p:nvPicPr>
          <p:cNvPr id="173" name="图片 6"/>
          <p:cNvPicPr>
            <a:picLocks noChangeAspect="1"/>
          </p:cNvPicPr>
          <p:nvPr/>
        </p:nvPicPr>
        <p:blipFill>
          <a:blip r:embed="rId2"/>
          <a:srcRect l="56499" t="40358" r="38074" b="56491"/>
          <a:stretch>
            <a:fillRect/>
          </a:stretch>
        </p:blipFill>
        <p:spPr>
          <a:xfrm>
            <a:off x="4383683" y="2366736"/>
            <a:ext cx="661554" cy="216001"/>
          </a:xfrm>
          <a:prstGeom prst="rect">
            <a:avLst/>
          </a:prstGeom>
        </p:spPr>
      </p:pic>
      <p:sp>
        <p:nvSpPr>
          <p:cNvPr id="174" name="文本框 173"/>
          <p:cNvSpPr txBox="1"/>
          <p:nvPr/>
        </p:nvSpPr>
        <p:spPr>
          <a:xfrm>
            <a:off x="6735376" y="4951754"/>
            <a:ext cx="3581400" cy="349250"/>
          </a:xfrm>
          <a:prstGeom prst="rect">
            <a:avLst/>
          </a:prstGeom>
          <a:ln w="6350">
            <a:prstDash val="solid"/>
          </a:ln>
        </p:spPr>
        <p:txBody>
          <a:bodyPr wrap="none">
            <a:spAutoFit/>
          </a:bodyPr>
          <a:p>
            <a:r>
              <a:rPr lang="en-US" u="sng">
                <a:hlinkClick r:id="rId3"/>
              </a:rPr>
              <a:t>VR培训在物流行业的应用 - 简书</a:t>
            </a:r>
            <a:endParaRPr lang="en-US" u="sng">
              <a:hlinkClick r:id="rId3"/>
            </a:endParaRPr>
          </a:p>
        </p:txBody>
      </p:sp>
      <p:sp>
        <p:nvSpPr>
          <p:cNvPr id="175" name="文本框 174"/>
          <p:cNvSpPr txBox="1"/>
          <p:nvPr/>
        </p:nvSpPr>
        <p:spPr>
          <a:xfrm>
            <a:off x="8652106" y="5849769"/>
            <a:ext cx="2406650" cy="368300"/>
          </a:xfrm>
          <a:prstGeom prst="rect">
            <a:avLst/>
          </a:prstGeom>
          <a:ln w="6350">
            <a:prstDash val="solid"/>
          </a:ln>
        </p:spPr>
        <p:txBody>
          <a:bodyPr wrap="none">
            <a:spAutoFit/>
          </a:bodyPr>
          <a:p>
            <a:r>
              <a:rPr lang="en-US" i="1">
                <a:solidFill>
                  <a:schemeClr val="bg1">
                    <a:lumMod val="65000"/>
                    <a:alpha val="100000"/>
                  </a:schemeClr>
                </a:solidFill>
              </a:rPr>
              <a:t>This is a web link, tap it!</a:t>
            </a:r>
            <a:endParaRPr lang="en-US" i="1">
              <a:solidFill>
                <a:schemeClr val="bg1">
                  <a:lumMod val="65000"/>
                  <a:alpha val="100000"/>
                </a:schemeClr>
              </a:solidFill>
            </a:endParaRPr>
          </a:p>
        </p:txBody>
      </p:sp>
      <p:pic>
        <p:nvPicPr>
          <p:cNvPr id="176" name="图片 6"/>
          <p:cNvPicPr>
            <a:picLocks noChangeAspect="1"/>
          </p:cNvPicPr>
          <p:nvPr/>
        </p:nvPicPr>
        <p:blipFill>
          <a:blip r:embed="rId2"/>
          <a:srcRect l="56499" t="40358" r="38074" b="56491"/>
          <a:stretch>
            <a:fillRect/>
          </a:stretch>
        </p:blipFill>
        <p:spPr>
          <a:xfrm rot="14040000">
            <a:off x="9806454" y="5410684"/>
            <a:ext cx="661554" cy="216000"/>
          </a:xfrm>
          <a:prstGeom prst="rect">
            <a:avLst/>
          </a:prstGeom>
        </p:spPr>
      </p:pic>
      <p:pic>
        <p:nvPicPr>
          <p:cNvPr id="177" name="图片 176"/>
          <p:cNvPicPr>
            <a:picLocks noChangeAspect="1"/>
          </p:cNvPicPr>
          <p:nvPr/>
        </p:nvPicPr>
        <p:blipFill>
          <a:blip r:embed="rId4"/>
          <a:stretch>
            <a:fillRect/>
          </a:stretch>
        </p:blipFill>
        <p:spPr>
          <a:xfrm>
            <a:off x="6199562" y="2996803"/>
            <a:ext cx="3015036" cy="1921420"/>
          </a:xfrm>
          <a:prstGeom prst="rect">
            <a:avLst/>
          </a:prstGeom>
        </p:spPr>
      </p:pic>
      <p:pic>
        <p:nvPicPr>
          <p:cNvPr id="178" name="图片 177"/>
          <p:cNvPicPr>
            <a:picLocks noChangeAspect="1"/>
          </p:cNvPicPr>
          <p:nvPr/>
        </p:nvPicPr>
        <p:blipFill>
          <a:blip r:embed="rId5"/>
          <a:stretch>
            <a:fillRect/>
          </a:stretch>
        </p:blipFill>
        <p:spPr>
          <a:xfrm>
            <a:off x="9275334" y="2996803"/>
            <a:ext cx="2802318" cy="1921421"/>
          </a:xfrm>
          <a:prstGeom prst="rect">
            <a:avLst/>
          </a:prstGeom>
        </p:spPr>
      </p:pic>
      <p:sp>
        <p:nvSpPr>
          <p:cNvPr id="179" name="文本框 178"/>
          <p:cNvSpPr txBox="1"/>
          <p:nvPr/>
        </p:nvSpPr>
        <p:spPr>
          <a:xfrm>
            <a:off x="6072072" y="1332904"/>
            <a:ext cx="1079500" cy="368300"/>
          </a:xfrm>
          <a:prstGeom prst="rect">
            <a:avLst/>
          </a:prstGeom>
          <a:ln w="6350">
            <a:prstDash val="solid"/>
          </a:ln>
        </p:spPr>
        <p:txBody>
          <a:bodyPr wrap="none">
            <a:spAutoFit/>
          </a:bodyPr>
          <a:p>
            <a:r>
              <a:rPr lang="en-US"/>
              <a:t>solutions:</a:t>
            </a:r>
            <a:endParaRPr lang="en-US"/>
          </a:p>
        </p:txBody>
      </p:sp>
    </p:spTree>
  </p:cSld>
  <p:clrMapOvr>
    <a:masterClrMapping/>
  </p:clrMapOvr>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61"/>
                                        </p:tgtEl>
                                        <p:attrNameLst>
                                          <p:attrName>style.visibility</p:attrName>
                                        </p:attrNameLst>
                                      </p:cBhvr>
                                      <p:to>
                                        <p:strVal val="visible"/>
                                      </p:to>
                                    </p:set>
                                    <p:anim calcmode="lin" valueType="num">
                                      <p:cBhvr>
                                        <p:cTn id="7" dur="1000" fill="hold"/>
                                        <p:tgtEl>
                                          <p:spTgt spid="161"/>
                                        </p:tgtEl>
                                        <p:attrNameLst>
                                          <p:attrName>ppt_w</p:attrName>
                                        </p:attrNameLst>
                                      </p:cBhvr>
                                      <p:tavLst>
                                        <p:tav tm="0">
                                          <p:val>
                                            <p:strVal val="#ppt_w*0.70"/>
                                          </p:val>
                                        </p:tav>
                                        <p:tav tm="100000">
                                          <p:val>
                                            <p:strVal val="#ppt_w"/>
                                          </p:val>
                                        </p:tav>
                                      </p:tavLst>
                                    </p:anim>
                                    <p:anim calcmode="lin" valueType="num">
                                      <p:cBhvr>
                                        <p:cTn id="8" dur="1000" fill="hold"/>
                                        <p:tgtEl>
                                          <p:spTgt spid="161"/>
                                        </p:tgtEl>
                                        <p:attrNameLst>
                                          <p:attrName>ppt_h</p:attrName>
                                        </p:attrNameLst>
                                      </p:cBhvr>
                                      <p:tavLst>
                                        <p:tav tm="0">
                                          <p:val>
                                            <p:strVal val="#ppt_h"/>
                                          </p:val>
                                        </p:tav>
                                        <p:tav tm="100000">
                                          <p:val>
                                            <p:strVal val="#ppt_h"/>
                                          </p:val>
                                        </p:tav>
                                      </p:tavLst>
                                    </p:anim>
                                    <p:animEffect transition="in" filter="fade">
                                      <p:cBhvr>
                                        <p:cTn id="9" dur="1000"/>
                                        <p:tgtEl>
                                          <p:spTgt spid="161"/>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EFAF2"/>
        </a:solidFill>
        <a:effectLst/>
      </p:bgPr>
    </p:bg>
    <p:spTree>
      <p:nvGrpSpPr>
        <p:cNvPr id="180" name=""/>
        <p:cNvGrpSpPr/>
        <p:nvPr/>
      </p:nvGrpSpPr>
      <p:grpSpPr>
        <a:xfrm>
          <a:off x="0" y="0"/>
          <a:ext cx="0" cy="0"/>
          <a:chOff x="0" y="0"/>
          <a:chExt cx="0" cy="0"/>
        </a:xfrm>
      </p:grpSpPr>
      <p:sp>
        <p:nvSpPr>
          <p:cNvPr id="181" name="矩形: 圆角 4"/>
          <p:cNvSpPr/>
          <p:nvPr/>
        </p:nvSpPr>
        <p:spPr>
          <a:xfrm>
            <a:off x="4141210" y="1335787"/>
            <a:ext cx="3909580" cy="467116"/>
          </a:xfrm>
          <a:prstGeom prst="roundRect">
            <a:avLst>
              <a:gd name="adj" fmla="val 30941"/>
            </a:avLst>
          </a:prstGeom>
          <a:solidFill>
            <a:srgbClr val="E9E1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矩形: 圆角 4"/>
          <p:cNvSpPr/>
          <p:nvPr/>
        </p:nvSpPr>
        <p:spPr>
          <a:xfrm>
            <a:off x="877022" y="750476"/>
            <a:ext cx="10597626" cy="467116"/>
          </a:xfrm>
          <a:prstGeom prst="roundRect">
            <a:avLst>
              <a:gd name="adj" fmla="val 30941"/>
            </a:avLst>
          </a:prstGeom>
          <a:solidFill>
            <a:srgbClr val="E9E1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alpha val="100000"/>
                  </a:schemeClr>
                </a:solidFill>
              </a:rPr>
              <a:t>Therefore, with the advancement of automated sorting systems, the positive impacts we enjoy are also evident.</a:t>
            </a:r>
            <a:endParaRPr lang="en-US">
              <a:solidFill>
                <a:schemeClr val="tx1">
                  <a:alpha val="100000"/>
                </a:schemeClr>
              </a:solidFill>
            </a:endParaRPr>
          </a:p>
        </p:txBody>
      </p:sp>
      <p:sp>
        <p:nvSpPr>
          <p:cNvPr id="183" name="标题 1"/>
          <p:cNvSpPr>
            <a:spLocks noGrp="1"/>
          </p:cNvSpPr>
          <p:nvPr>
            <p:ph type="ctrTitle"/>
          </p:nvPr>
        </p:nvSpPr>
        <p:spPr>
          <a:xfrm>
            <a:off x="777934" y="2390339"/>
            <a:ext cx="4695370" cy="570499"/>
          </a:xfrm>
        </p:spPr>
        <p:txBody>
          <a:bodyPr>
            <a:normAutofit fontScale="90000"/>
          </a:bodyPr>
          <a:lstStyle/>
          <a:p>
            <a:pPr>
              <a:buNone/>
            </a:pPr>
            <a:r>
              <a:rPr lang="en-US" sz="3600">
                <a:latin typeface="汉仪玄宋 95S"/>
                <a:ea typeface="汉仪玄宋 95S"/>
                <a:cs typeface="+mj-cs"/>
              </a:rPr>
              <a:t>T</a:t>
            </a:r>
            <a:r>
              <a:rPr lang="en-US" sz="3200">
                <a:latin typeface="+mn-lt"/>
                <a:ea typeface="+mn-ea"/>
                <a:cs typeface="+mn-cs"/>
              </a:rPr>
              <a:t>echnological progress</a:t>
            </a:r>
            <a:endParaRPr lang="en-US" sz="3200">
              <a:latin typeface="+mn-lt"/>
              <a:ea typeface="+mn-ea"/>
              <a:cs typeface="+mn-cs"/>
            </a:endParaRPr>
          </a:p>
        </p:txBody>
      </p:sp>
      <p:sp>
        <p:nvSpPr>
          <p:cNvPr id="184" name="标题 1"/>
          <p:cNvSpPr txBox="1"/>
          <p:nvPr/>
        </p:nvSpPr>
        <p:spPr>
          <a:xfrm>
            <a:off x="4224227" y="1335330"/>
            <a:ext cx="3909567" cy="46711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buNone/>
            </a:pPr>
            <a:r>
              <a:rPr lang="en-US" sz="1800">
                <a:solidFill>
                  <a:schemeClr val="tx1">
                    <a:alpha val="100000"/>
                  </a:schemeClr>
                </a:solidFill>
                <a:latin typeface="+mn-lt"/>
                <a:ea typeface="+mn-ea"/>
                <a:cs typeface="+mn-cs"/>
              </a:rPr>
              <a:t>Here are our positive effects .</a:t>
            </a:r>
            <a:endParaRPr lang="en-US" sz="1800">
              <a:solidFill>
                <a:schemeClr val="tx1">
                  <a:alpha val="100000"/>
                </a:schemeClr>
              </a:solidFill>
              <a:latin typeface="+mn-lt"/>
              <a:ea typeface="+mn-ea"/>
              <a:cs typeface="+mn-cs"/>
            </a:endParaRPr>
          </a:p>
        </p:txBody>
      </p:sp>
      <p:pic>
        <p:nvPicPr>
          <p:cNvPr id="185" name="图片 7" descr="图片包含 台球, 游戏机, 桌子  AI 生成的内容可能不正确。"/>
          <p:cNvPicPr>
            <a:picLocks noChangeAspect="1"/>
          </p:cNvPicPr>
          <p:nvPr/>
        </p:nvPicPr>
        <p:blipFill>
          <a:blip r:embed="rId1" cstate="print"/>
          <a:stretch>
            <a:fillRect/>
          </a:stretch>
        </p:blipFill>
        <p:spPr>
          <a:xfrm flipH="1">
            <a:off x="394422" y="2192988"/>
            <a:ext cx="965200" cy="965200"/>
          </a:xfrm>
          <a:prstGeom prst="rect">
            <a:avLst/>
          </a:prstGeom>
        </p:spPr>
      </p:pic>
      <p:pic>
        <p:nvPicPr>
          <p:cNvPr id="186" name="图片 9" descr="徽标  AI 生成的内容可能不正确。"/>
          <p:cNvPicPr>
            <a:picLocks noChangeAspect="1"/>
          </p:cNvPicPr>
          <p:nvPr/>
        </p:nvPicPr>
        <p:blipFill>
          <a:blip r:embed="rId2" cstate="print"/>
          <a:stretch>
            <a:fillRect/>
          </a:stretch>
        </p:blipFill>
        <p:spPr>
          <a:xfrm>
            <a:off x="5473304" y="2192988"/>
            <a:ext cx="1106714" cy="1106714"/>
          </a:xfrm>
          <a:prstGeom prst="rect">
            <a:avLst/>
          </a:prstGeom>
        </p:spPr>
      </p:pic>
      <p:pic>
        <p:nvPicPr>
          <p:cNvPr id="187" name="图片 186"/>
          <p:cNvPicPr>
            <a:picLocks noChangeAspect="1"/>
          </p:cNvPicPr>
          <p:nvPr/>
        </p:nvPicPr>
        <p:blipFill>
          <a:blip r:embed="rId3">
            <a:alphaModFix amt="100000"/>
          </a:blip>
          <a:stretch>
            <a:fillRect/>
          </a:stretch>
        </p:blipFill>
        <p:spPr>
          <a:xfrm>
            <a:off x="1359622" y="2960838"/>
            <a:ext cx="3443117" cy="2626107"/>
          </a:xfrm>
          <a:prstGeom prst="rect">
            <a:avLst/>
          </a:prstGeom>
        </p:spPr>
      </p:pic>
      <p:pic>
        <p:nvPicPr>
          <p:cNvPr id="188" name="图片 187"/>
          <p:cNvPicPr>
            <a:picLocks noChangeAspect="1"/>
          </p:cNvPicPr>
          <p:nvPr/>
        </p:nvPicPr>
        <p:blipFill>
          <a:blip r:embed="rId4"/>
          <a:stretch>
            <a:fillRect/>
          </a:stretch>
        </p:blipFill>
        <p:spPr>
          <a:xfrm>
            <a:off x="6908472" y="2960838"/>
            <a:ext cx="3617194" cy="2661150"/>
          </a:xfrm>
          <a:prstGeom prst="rect">
            <a:avLst/>
          </a:prstGeom>
        </p:spPr>
      </p:pic>
      <p:sp>
        <p:nvSpPr>
          <p:cNvPr id="189" name="文本框 188"/>
          <p:cNvSpPr txBox="1"/>
          <p:nvPr/>
        </p:nvSpPr>
        <p:spPr>
          <a:xfrm>
            <a:off x="6908472" y="2382988"/>
            <a:ext cx="3117850" cy="577850"/>
          </a:xfrm>
          <a:prstGeom prst="rect">
            <a:avLst/>
          </a:prstGeom>
          <a:ln w="6350">
            <a:prstDash val="solid"/>
          </a:ln>
        </p:spPr>
        <p:txBody>
          <a:bodyPr wrap="none">
            <a:spAutoFit/>
          </a:bodyPr>
          <a:p>
            <a:r>
              <a:rPr lang="en-US" sz="3200"/>
              <a:t>Highly automated</a:t>
            </a:r>
            <a:endParaRPr lang="en-US" sz="3200"/>
          </a:p>
        </p:txBody>
      </p:sp>
    </p:spTree>
  </p:cSld>
  <p:clrMapOvr>
    <a:masterClrMapping/>
  </p:clrMapOvr>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2"/>
                                        </p:tgtEl>
                                        <p:attrNameLst>
                                          <p:attrName>style.visibility</p:attrName>
                                        </p:attrNameLst>
                                      </p:cBhvr>
                                      <p:to>
                                        <p:strVal val="visible"/>
                                      </p:to>
                                    </p:set>
                                    <p:animEffect transition="in" filter="fade">
                                      <p:cBhvr>
                                        <p:cTn id="7" dur="1000"/>
                                        <p:tgtEl>
                                          <p:spTgt spid="182"/>
                                        </p:tgtEl>
                                      </p:cBhvr>
                                    </p:animEffect>
                                    <p:anim calcmode="lin" valueType="num">
                                      <p:cBhvr>
                                        <p:cTn id="8" dur="1000" fill="hold"/>
                                        <p:tgtEl>
                                          <p:spTgt spid="182"/>
                                        </p:tgtEl>
                                        <p:attrNameLst>
                                          <p:attrName>ppt_x</p:attrName>
                                        </p:attrNameLst>
                                      </p:cBhvr>
                                      <p:tavLst>
                                        <p:tav tm="0">
                                          <p:val>
                                            <p:strVal val="#ppt_x"/>
                                          </p:val>
                                        </p:tav>
                                        <p:tav tm="100000">
                                          <p:val>
                                            <p:strVal val="#ppt_x"/>
                                          </p:val>
                                        </p:tav>
                                      </p:tavLst>
                                    </p:anim>
                                    <p:anim calcmode="lin" valueType="num">
                                      <p:cBhvr>
                                        <p:cTn id="9" dur="1000" fill="hold"/>
                                        <p:tgtEl>
                                          <p:spTgt spid="18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84"/>
                                        </p:tgtEl>
                                        <p:attrNameLst>
                                          <p:attrName>style.visibility</p:attrName>
                                        </p:attrNameLst>
                                      </p:cBhvr>
                                      <p:to>
                                        <p:strVal val="visible"/>
                                      </p:to>
                                    </p:set>
                                    <p:animEffect transition="in" filter="fade">
                                      <p:cBhvr>
                                        <p:cTn id="14" dur="1000"/>
                                        <p:tgtEl>
                                          <p:spTgt spid="184"/>
                                        </p:tgtEl>
                                      </p:cBhvr>
                                    </p:animEffect>
                                    <p:anim calcmode="lin" valueType="num">
                                      <p:cBhvr>
                                        <p:cTn id="15" dur="1000" fill="hold"/>
                                        <p:tgtEl>
                                          <p:spTgt spid="184"/>
                                        </p:tgtEl>
                                        <p:attrNameLst>
                                          <p:attrName>ppt_x</p:attrName>
                                        </p:attrNameLst>
                                      </p:cBhvr>
                                      <p:tavLst>
                                        <p:tav tm="0">
                                          <p:val>
                                            <p:strVal val="#ppt_x"/>
                                          </p:val>
                                        </p:tav>
                                        <p:tav tm="100000">
                                          <p:val>
                                            <p:strVal val="#ppt_x"/>
                                          </p:val>
                                        </p:tav>
                                      </p:tavLst>
                                    </p:anim>
                                    <p:anim calcmode="lin" valueType="num">
                                      <p:cBhvr>
                                        <p:cTn id="16" dur="1000" fill="hold"/>
                                        <p:tgtEl>
                                          <p:spTgt spid="18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iterate type="lt">
                                    <p:tmPct val="0"/>
                                  </p:iterate>
                                  <p:childTnLst>
                                    <p:set>
                                      <p:cBhvr>
                                        <p:cTn id="20" dur="1" fill="hold">
                                          <p:stCondLst>
                                            <p:cond delay="0"/>
                                          </p:stCondLst>
                                        </p:cTn>
                                        <p:tgtEl>
                                          <p:spTgt spid="183"/>
                                        </p:tgtEl>
                                        <p:attrNameLst>
                                          <p:attrName>style.visibility</p:attrName>
                                        </p:attrNameLst>
                                      </p:cBhvr>
                                      <p:to>
                                        <p:strVal val="visible"/>
                                      </p:to>
                                    </p:set>
                                    <p:animEffect transition="in" filter="wheel(1)">
                                      <p:cBhvr>
                                        <p:cTn id="21" dur="2000"/>
                                        <p:tgtEl>
                                          <p:spTgt spid="183"/>
                                        </p:tgtEl>
                                      </p:cBhvr>
                                    </p:animEffect>
                                  </p:childTnLst>
                                </p:cTn>
                              </p:par>
                            </p:childTnLst>
                          </p:cTn>
                        </p:par>
                      </p:childTnLst>
                    </p:cTn>
                  </p:par>
                  <p:par>
                    <p:cTn id="22" fill="hold">
                      <p:stCondLst>
                        <p:cond delay="indefinite"/>
                      </p:stCondLst>
                      <p:childTnLst>
                        <p:par>
                          <p:cTn id="23" fill="hold">
                            <p:stCondLst>
                              <p:cond delay="0"/>
                            </p:stCondLst>
                            <p:childTnLst>
                              <p:par>
                                <p:cTn id="24" presetID="31" presetClass="entr" presetSubtype="0" fill="hold" nodeType="clickEffect">
                                  <p:stCondLst>
                                    <p:cond delay="0"/>
                                  </p:stCondLst>
                                  <p:childTnLst>
                                    <p:set>
                                      <p:cBhvr>
                                        <p:cTn id="25" dur="1" fill="hold">
                                          <p:stCondLst>
                                            <p:cond delay="0"/>
                                          </p:stCondLst>
                                        </p:cTn>
                                        <p:tgtEl>
                                          <p:spTgt spid="185"/>
                                        </p:tgtEl>
                                        <p:attrNameLst>
                                          <p:attrName>style.visibility</p:attrName>
                                        </p:attrNameLst>
                                      </p:cBhvr>
                                      <p:to>
                                        <p:strVal val="visible"/>
                                      </p:to>
                                    </p:set>
                                    <p:anim calcmode="lin" valueType="num">
                                      <p:cBhvr>
                                        <p:cTn id="26" dur="1000" fill="hold"/>
                                        <p:tgtEl>
                                          <p:spTgt spid="185"/>
                                        </p:tgtEl>
                                        <p:attrNameLst>
                                          <p:attrName>ppt_w</p:attrName>
                                        </p:attrNameLst>
                                      </p:cBhvr>
                                      <p:tavLst>
                                        <p:tav tm="0">
                                          <p:val>
                                            <p:fltVal val="0"/>
                                          </p:val>
                                        </p:tav>
                                        <p:tav tm="100000">
                                          <p:val>
                                            <p:strVal val="#ppt_w"/>
                                          </p:val>
                                        </p:tav>
                                      </p:tavLst>
                                    </p:anim>
                                    <p:anim calcmode="lin" valueType="num">
                                      <p:cBhvr>
                                        <p:cTn id="27" dur="1000" fill="hold"/>
                                        <p:tgtEl>
                                          <p:spTgt spid="185"/>
                                        </p:tgtEl>
                                        <p:attrNameLst>
                                          <p:attrName>ppt_h</p:attrName>
                                        </p:attrNameLst>
                                      </p:cBhvr>
                                      <p:tavLst>
                                        <p:tav tm="0">
                                          <p:val>
                                            <p:fltVal val="0"/>
                                          </p:val>
                                        </p:tav>
                                        <p:tav tm="100000">
                                          <p:val>
                                            <p:strVal val="#ppt_h"/>
                                          </p:val>
                                        </p:tav>
                                      </p:tavLst>
                                    </p:anim>
                                    <p:anim calcmode="lin" valueType="num">
                                      <p:cBhvr>
                                        <p:cTn id="28" dur="1000" fill="hold"/>
                                        <p:tgtEl>
                                          <p:spTgt spid="185"/>
                                        </p:tgtEl>
                                        <p:attrNameLst>
                                          <p:attrName>style.rotation</p:attrName>
                                        </p:attrNameLst>
                                      </p:cBhvr>
                                      <p:tavLst>
                                        <p:tav tm="0">
                                          <p:val>
                                            <p:fltVal val="90"/>
                                          </p:val>
                                        </p:tav>
                                        <p:tav tm="100000">
                                          <p:val>
                                            <p:fltVal val="0"/>
                                          </p:val>
                                        </p:tav>
                                      </p:tavLst>
                                    </p:anim>
                                    <p:animEffect transition="in" filter="fade">
                                      <p:cBhvr>
                                        <p:cTn id="29" dur="1000"/>
                                        <p:tgtEl>
                                          <p:spTgt spid="185"/>
                                        </p:tgtEl>
                                      </p:cBhvr>
                                    </p:animEffect>
                                  </p:childTnLst>
                                </p:cTn>
                              </p:par>
                            </p:childTnLst>
                          </p:cTn>
                        </p:par>
                      </p:childTnLst>
                    </p:cTn>
                  </p:par>
                  <p:par>
                    <p:cTn id="30" fill="hold">
                      <p:stCondLst>
                        <p:cond delay="indefinite"/>
                      </p:stCondLst>
                      <p:childTnLst>
                        <p:par>
                          <p:cTn id="31" fill="hold">
                            <p:stCondLst>
                              <p:cond delay="0"/>
                            </p:stCondLst>
                            <p:childTnLst>
                              <p:par>
                                <p:cTn id="32" presetID="17" presetClass="entr" presetSubtype="10" fill="hold" nodeType="clickEffect">
                                  <p:stCondLst>
                                    <p:cond delay="0"/>
                                  </p:stCondLst>
                                  <p:childTnLst>
                                    <p:set>
                                      <p:cBhvr>
                                        <p:cTn id="33" dur="1" fill="hold">
                                          <p:stCondLst>
                                            <p:cond delay="0"/>
                                          </p:stCondLst>
                                        </p:cTn>
                                        <p:tgtEl>
                                          <p:spTgt spid="187"/>
                                        </p:tgtEl>
                                        <p:attrNameLst>
                                          <p:attrName>style.visibility</p:attrName>
                                        </p:attrNameLst>
                                      </p:cBhvr>
                                      <p:to>
                                        <p:strVal val="visible"/>
                                      </p:to>
                                    </p:set>
                                    <p:anim calcmode="lin" valueType="num">
                                      <p:cBhvr>
                                        <p:cTn id="34" dur="500" fill="hold"/>
                                        <p:tgtEl>
                                          <p:spTgt spid="187"/>
                                        </p:tgtEl>
                                        <p:attrNameLst>
                                          <p:attrName>ppt_w</p:attrName>
                                        </p:attrNameLst>
                                      </p:cBhvr>
                                      <p:tavLst>
                                        <p:tav tm="0">
                                          <p:val>
                                            <p:fltVal val="0"/>
                                          </p:val>
                                        </p:tav>
                                        <p:tav tm="100000">
                                          <p:val>
                                            <p:strVal val="#ppt_w"/>
                                          </p:val>
                                        </p:tav>
                                      </p:tavLst>
                                    </p:anim>
                                    <p:anim calcmode="lin" valueType="num">
                                      <p:cBhvr>
                                        <p:cTn id="35" dur="500" fill="hold"/>
                                        <p:tgtEl>
                                          <p:spTgt spid="187"/>
                                        </p:tgtEl>
                                        <p:attrNameLst>
                                          <p:attrName>ppt_h</p:attrName>
                                        </p:attrNameLst>
                                      </p:cBhvr>
                                      <p:tavLst>
                                        <p:tav tm="0">
                                          <p:val>
                                            <p:strVal val="#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25" presetClass="entr" presetSubtype="0" fill="hold" nodeType="clickEffect">
                                  <p:stCondLst>
                                    <p:cond delay="0"/>
                                  </p:stCondLst>
                                  <p:childTnLst>
                                    <p:set>
                                      <p:cBhvr>
                                        <p:cTn id="39" dur="1" fill="hold">
                                          <p:stCondLst>
                                            <p:cond delay="0"/>
                                          </p:stCondLst>
                                        </p:cTn>
                                        <p:tgtEl>
                                          <p:spTgt spid="186"/>
                                        </p:tgtEl>
                                        <p:attrNameLst>
                                          <p:attrName>style.visibility</p:attrName>
                                        </p:attrNameLst>
                                      </p:cBhvr>
                                      <p:to>
                                        <p:strVal val="visible"/>
                                      </p:to>
                                    </p:set>
                                    <p:anim calcmode="lin" valueType="num">
                                      <p:cBhvr>
                                        <p:cTn id="40" dur="500" decel="50000" fill="hold">
                                          <p:stCondLst>
                                            <p:cond delay="0"/>
                                          </p:stCondLst>
                                        </p:cTn>
                                        <p:tgtEl>
                                          <p:spTgt spid="186"/>
                                        </p:tgtEl>
                                        <p:attrNameLst>
                                          <p:attrName>style.rotation</p:attrName>
                                        </p:attrNameLst>
                                      </p:cBhvr>
                                      <p:tavLst>
                                        <p:tav tm="0">
                                          <p:val>
                                            <p:fltVal val="-90"/>
                                          </p:val>
                                        </p:tav>
                                        <p:tav tm="100000">
                                          <p:val>
                                            <p:fltVal val="0"/>
                                          </p:val>
                                        </p:tav>
                                      </p:tavLst>
                                    </p:anim>
                                    <p:anim calcmode="lin" valueType="num">
                                      <p:cBhvr>
                                        <p:cTn id="41" dur="500" decel="50000" fill="hold">
                                          <p:stCondLst>
                                            <p:cond delay="0"/>
                                          </p:stCondLst>
                                        </p:cTn>
                                        <p:tgtEl>
                                          <p:spTgt spid="186"/>
                                        </p:tgtEl>
                                        <p:attrNameLst>
                                          <p:attrName>ppt_w</p:attrName>
                                        </p:attrNameLst>
                                      </p:cBhvr>
                                      <p:tavLst>
                                        <p:tav tm="0">
                                          <p:val>
                                            <p:strVal val="#ppt_w"/>
                                          </p:val>
                                        </p:tav>
                                        <p:tav tm="100000">
                                          <p:val>
                                            <p:strVal val="#ppt_w*.05"/>
                                          </p:val>
                                        </p:tav>
                                      </p:tavLst>
                                    </p:anim>
                                    <p:anim calcmode="lin" valueType="num">
                                      <p:cBhvr>
                                        <p:cTn id="42" dur="500" accel="50000" fill="hold">
                                          <p:stCondLst>
                                            <p:cond delay="500"/>
                                          </p:stCondLst>
                                        </p:cTn>
                                        <p:tgtEl>
                                          <p:spTgt spid="186"/>
                                        </p:tgtEl>
                                        <p:attrNameLst>
                                          <p:attrName>ppt_w</p:attrName>
                                        </p:attrNameLst>
                                      </p:cBhvr>
                                      <p:tavLst>
                                        <p:tav tm="0">
                                          <p:val>
                                            <p:strVal val="#ppt_w*.05"/>
                                          </p:val>
                                        </p:tav>
                                        <p:tav tm="100000">
                                          <p:val>
                                            <p:strVal val="#ppt_w"/>
                                          </p:val>
                                        </p:tav>
                                      </p:tavLst>
                                    </p:anim>
                                    <p:anim calcmode="lin" valueType="num">
                                      <p:cBhvr>
                                        <p:cTn id="43" dur="1000" fill="hold"/>
                                        <p:tgtEl>
                                          <p:spTgt spid="186"/>
                                        </p:tgtEl>
                                        <p:attrNameLst>
                                          <p:attrName>ppt_h</p:attrName>
                                        </p:attrNameLst>
                                      </p:cBhvr>
                                      <p:tavLst>
                                        <p:tav tm="0">
                                          <p:val>
                                            <p:strVal val="#ppt_h"/>
                                          </p:val>
                                        </p:tav>
                                        <p:tav tm="100000">
                                          <p:val>
                                            <p:strVal val="#ppt_h"/>
                                          </p:val>
                                        </p:tav>
                                      </p:tavLst>
                                    </p:anim>
                                    <p:anim calcmode="lin" valueType="num">
                                      <p:cBhvr>
                                        <p:cTn id="44" dur="500" decel="50000" fill="hold">
                                          <p:stCondLst>
                                            <p:cond delay="0"/>
                                          </p:stCondLst>
                                        </p:cTn>
                                        <p:tgtEl>
                                          <p:spTgt spid="186"/>
                                        </p:tgtEl>
                                        <p:attrNameLst>
                                          <p:attrName>ppt_x</p:attrName>
                                        </p:attrNameLst>
                                      </p:cBhvr>
                                      <p:tavLst>
                                        <p:tav tm="0">
                                          <p:val>
                                            <p:strVal val="#ppt_x+.4"/>
                                          </p:val>
                                        </p:tav>
                                        <p:tav tm="100000">
                                          <p:val>
                                            <p:strVal val="#ppt_x"/>
                                          </p:val>
                                        </p:tav>
                                      </p:tavLst>
                                    </p:anim>
                                    <p:anim calcmode="lin" valueType="num">
                                      <p:cBhvr>
                                        <p:cTn id="45" dur="500" decel="50000" fill="hold">
                                          <p:stCondLst>
                                            <p:cond delay="0"/>
                                          </p:stCondLst>
                                        </p:cTn>
                                        <p:tgtEl>
                                          <p:spTgt spid="186"/>
                                        </p:tgtEl>
                                        <p:attrNameLst>
                                          <p:attrName>ppt_y</p:attrName>
                                        </p:attrNameLst>
                                      </p:cBhvr>
                                      <p:tavLst>
                                        <p:tav tm="0">
                                          <p:val>
                                            <p:strVal val="#ppt_y-.2"/>
                                          </p:val>
                                        </p:tav>
                                        <p:tav tm="100000">
                                          <p:val>
                                            <p:strVal val="#ppt_y+.1"/>
                                          </p:val>
                                        </p:tav>
                                      </p:tavLst>
                                    </p:anim>
                                    <p:anim calcmode="lin" valueType="num">
                                      <p:cBhvr>
                                        <p:cTn id="46" dur="500" accel="50000" fill="hold">
                                          <p:stCondLst>
                                            <p:cond delay="500"/>
                                          </p:stCondLst>
                                        </p:cTn>
                                        <p:tgtEl>
                                          <p:spTgt spid="186"/>
                                        </p:tgtEl>
                                        <p:attrNameLst>
                                          <p:attrName>ppt_y</p:attrName>
                                        </p:attrNameLst>
                                      </p:cBhvr>
                                      <p:tavLst>
                                        <p:tav tm="0">
                                          <p:val>
                                            <p:strVal val="#ppt_y+.1"/>
                                          </p:val>
                                        </p:tav>
                                        <p:tav tm="100000">
                                          <p:val>
                                            <p:strVal val="#ppt_y"/>
                                          </p:val>
                                        </p:tav>
                                      </p:tavLst>
                                    </p:anim>
                                    <p:animEffect transition="in" filter="fade">
                                      <p:cBhvr>
                                        <p:cTn id="47" dur="1000" decel="50000">
                                          <p:stCondLst>
                                            <p:cond delay="0"/>
                                          </p:stCondLst>
                                        </p:cTn>
                                        <p:tgtEl>
                                          <p:spTgt spid="186"/>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grpId="0" nodeType="clickEffect">
                                  <p:stCondLst>
                                    <p:cond delay="0"/>
                                  </p:stCondLst>
                                  <p:childTnLst>
                                    <p:set>
                                      <p:cBhvr>
                                        <p:cTn id="51" dur="1" fill="hold">
                                          <p:stCondLst>
                                            <p:cond delay="0"/>
                                          </p:stCondLst>
                                        </p:cTn>
                                        <p:tgtEl>
                                          <p:spTgt spid="189"/>
                                        </p:tgtEl>
                                        <p:attrNameLst>
                                          <p:attrName>style.visibility</p:attrName>
                                        </p:attrNameLst>
                                      </p:cBhvr>
                                      <p:to>
                                        <p:strVal val="visible"/>
                                      </p:to>
                                    </p:set>
                                    <p:animEffect transition="in" filter="randombar(horizontal)">
                                      <p:cBhvr>
                                        <p:cTn id="52" dur="500"/>
                                        <p:tgtEl>
                                          <p:spTgt spid="189"/>
                                        </p:tgtEl>
                                      </p:cBhvr>
                                    </p:animEffect>
                                  </p:childTnLst>
                                </p:cTn>
                              </p:par>
                            </p:childTnLst>
                          </p:cTn>
                        </p:par>
                      </p:childTnLst>
                    </p:cTn>
                  </p:par>
                  <p:par>
                    <p:cTn id="53" fill="hold">
                      <p:stCondLst>
                        <p:cond delay="indefinite"/>
                      </p:stCondLst>
                      <p:childTnLst>
                        <p:par>
                          <p:cTn id="54" fill="hold">
                            <p:stCondLst>
                              <p:cond delay="0"/>
                            </p:stCondLst>
                            <p:childTnLst>
                              <p:par>
                                <p:cTn id="55" presetID="14" presetClass="entr" presetSubtype="10" fill="hold" grpId="0" nodeType="clickEffect">
                                  <p:stCondLst>
                                    <p:cond delay="0"/>
                                  </p:stCondLst>
                                  <p:childTnLst>
                                    <p:set>
                                      <p:cBhvr>
                                        <p:cTn id="56" dur="1" fill="hold">
                                          <p:stCondLst>
                                            <p:cond delay="0"/>
                                          </p:stCondLst>
                                        </p:cTn>
                                        <p:tgtEl>
                                          <p:spTgt spid="188"/>
                                        </p:tgtEl>
                                        <p:attrNameLst>
                                          <p:attrName>style.visibility</p:attrName>
                                        </p:attrNameLst>
                                      </p:cBhvr>
                                      <p:to>
                                        <p:strVal val="visible"/>
                                      </p:to>
                                    </p:set>
                                    <p:animEffect transition="in" filter="randombar(horizontal)">
                                      <p:cBhvr>
                                        <p:cTn id="57" dur="500"/>
                                        <p:tgtEl>
                                          <p:spTgt spid="188"/>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EFAF2">
            <a:alpha val="100000"/>
          </a:srgbClr>
        </a:solidFill>
        <a:effectLst/>
      </p:bgPr>
    </p:bg>
    <p:spTree>
      <p:nvGrpSpPr>
        <p:cNvPr id="190" name=""/>
        <p:cNvGrpSpPr/>
        <p:nvPr/>
      </p:nvGrpSpPr>
      <p:grpSpPr>
        <a:xfrm>
          <a:off x="0" y="0"/>
          <a:ext cx="0" cy="0"/>
          <a:chOff x="0" y="0"/>
          <a:chExt cx="0" cy="0"/>
        </a:xfrm>
      </p:grpSpPr>
      <p:sp>
        <p:nvSpPr>
          <p:cNvPr id="191" name="矩形: 圆角 4"/>
          <p:cNvSpPr/>
          <p:nvPr/>
        </p:nvSpPr>
        <p:spPr>
          <a:xfrm>
            <a:off x="1775840" y="359664"/>
            <a:ext cx="7202106" cy="855597"/>
          </a:xfrm>
          <a:prstGeom prst="roundRect">
            <a:avLst>
              <a:gd name="adj" fmla="val 30941"/>
            </a:avLst>
          </a:prstGeom>
          <a:solidFill>
            <a:srgbClr val="E9E1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2" name="标题 1"/>
          <p:cNvSpPr>
            <a:spLocks noGrp="1"/>
          </p:cNvSpPr>
          <p:nvPr>
            <p:ph type="ctrTitle"/>
          </p:nvPr>
        </p:nvSpPr>
        <p:spPr>
          <a:xfrm>
            <a:off x="1638321" y="534131"/>
            <a:ext cx="7202128" cy="531478"/>
          </a:xfrm>
        </p:spPr>
        <p:txBody>
          <a:bodyPr>
            <a:noAutofit/>
          </a:bodyPr>
          <a:lstStyle/>
          <a:p>
            <a:pPr>
              <a:buNone/>
            </a:pPr>
            <a:r>
              <a:rPr lang="en-US" sz="3200"/>
              <a:t>3</a:t>
            </a:r>
            <a:r>
              <a:rPr sz="3200"/>
              <a:t>.</a:t>
            </a:r>
            <a:r>
              <a:rPr lang="en-US" sz="3200"/>
              <a:t> </a:t>
            </a:r>
            <a:r>
              <a:rPr lang="en-US" sz="3200"/>
              <a:t>The impact of foreign tariff blockade</a:t>
            </a:r>
            <a:endParaRPr lang="zh-CN">
              <a:latin typeface="江西拙楷"/>
              <a:ea typeface="江西拙楷"/>
              <a:cs typeface="+mj-cs"/>
            </a:endParaRPr>
          </a:p>
        </p:txBody>
      </p:sp>
      <p:sp>
        <p:nvSpPr>
          <p:cNvPr id="193" name="椭圆 8"/>
          <p:cNvSpPr/>
          <p:nvPr/>
        </p:nvSpPr>
        <p:spPr>
          <a:xfrm>
            <a:off x="8903268" y="6244067"/>
            <a:ext cx="203540" cy="171450"/>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4" name="图片 14"/>
          <p:cNvPicPr>
            <a:picLocks noChangeAspect="1"/>
          </p:cNvPicPr>
          <p:nvPr/>
        </p:nvPicPr>
        <p:blipFill>
          <a:blip r:embed="rId1"/>
          <a:stretch>
            <a:fillRect/>
          </a:stretch>
        </p:blipFill>
        <p:spPr>
          <a:xfrm>
            <a:off x="575853" y="359664"/>
            <a:ext cx="917481" cy="973240"/>
          </a:xfrm>
          <a:prstGeom prst="rect">
            <a:avLst/>
          </a:prstGeom>
        </p:spPr>
      </p:pic>
      <p:sp>
        <p:nvSpPr>
          <p:cNvPr id="195" name="矩形: 圆角 3"/>
          <p:cNvSpPr/>
          <p:nvPr/>
        </p:nvSpPr>
        <p:spPr>
          <a:xfrm>
            <a:off x="2187570" y="1065609"/>
            <a:ext cx="1712317" cy="109900"/>
          </a:xfrm>
          <a:prstGeom prst="roundRect">
            <a:avLst>
              <a:gd name="adj" fmla="val 50000"/>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6" name="矩形: 圆角 3"/>
          <p:cNvSpPr/>
          <p:nvPr/>
        </p:nvSpPr>
        <p:spPr>
          <a:xfrm>
            <a:off x="4446046" y="1065591"/>
            <a:ext cx="1235330" cy="109918"/>
          </a:xfrm>
          <a:prstGeom prst="roundRect">
            <a:avLst>
              <a:gd name="adj" fmla="val 50000"/>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7" name="文本框 196"/>
          <p:cNvSpPr txBox="1"/>
          <p:nvPr/>
        </p:nvSpPr>
        <p:spPr>
          <a:xfrm>
            <a:off x="610235" y="1253426"/>
            <a:ext cx="9258300" cy="825500"/>
          </a:xfrm>
          <a:prstGeom prst="rect">
            <a:avLst/>
          </a:prstGeom>
          <a:ln w="12700">
            <a:prstDash val="solid"/>
          </a:ln>
        </p:spPr>
        <p:txBody>
          <a:bodyPr>
            <a:spAutoFit/>
          </a:bodyPr>
          <a:p>
            <a:r>
              <a:rPr lang="en-US" sz="2400"/>
              <a:t>At the same time as economic globalization, a trade war has inevitably arisen. Surge in foreign tariffs on China</a:t>
            </a:r>
            <a:endParaRPr lang="en-US" sz="2400"/>
          </a:p>
        </p:txBody>
      </p:sp>
      <p:pic>
        <p:nvPicPr>
          <p:cNvPr id="198" name="图片 197"/>
          <p:cNvPicPr>
            <a:picLocks noChangeAspect="1"/>
          </p:cNvPicPr>
          <p:nvPr/>
        </p:nvPicPr>
        <p:blipFill>
          <a:blip r:embed="rId2"/>
          <a:stretch>
            <a:fillRect/>
          </a:stretch>
        </p:blipFill>
        <p:spPr>
          <a:xfrm>
            <a:off x="231184" y="2117090"/>
            <a:ext cx="7100842" cy="3202373"/>
          </a:xfrm>
          <a:prstGeom prst="rect">
            <a:avLst/>
          </a:prstGeom>
        </p:spPr>
      </p:pic>
      <p:sp>
        <p:nvSpPr>
          <p:cNvPr id="199" name="文本框 198"/>
          <p:cNvSpPr txBox="1"/>
          <p:nvPr/>
        </p:nvSpPr>
        <p:spPr>
          <a:xfrm>
            <a:off x="80421" y="5442085"/>
            <a:ext cx="8731250" cy="368300"/>
          </a:xfrm>
          <a:prstGeom prst="rect">
            <a:avLst/>
          </a:prstGeom>
          <a:ln w="12700">
            <a:prstDash val="solid"/>
          </a:ln>
        </p:spPr>
        <p:txBody>
          <a:bodyPr>
            <a:spAutoFit/>
          </a:bodyPr>
          <a:p>
            <a:r>
              <a:rPr lang="en-US"/>
              <a:t>This is the US tariff on some Chinese goods</a:t>
            </a:r>
            <a:endParaRPr lang="en-US"/>
          </a:p>
        </p:txBody>
      </p:sp>
      <p:sp>
        <p:nvSpPr>
          <p:cNvPr id="200" name="文本框 199"/>
          <p:cNvSpPr txBox="1"/>
          <p:nvPr/>
        </p:nvSpPr>
        <p:spPr>
          <a:xfrm>
            <a:off x="7601230" y="2211817"/>
            <a:ext cx="4203700" cy="3384550"/>
          </a:xfrm>
          <a:prstGeom prst="rect">
            <a:avLst/>
          </a:prstGeom>
          <a:ln w="12700">
            <a:prstDash val="solid"/>
          </a:ln>
        </p:spPr>
        <p:txBody>
          <a:bodyPr>
            <a:spAutoFit/>
          </a:bodyPr>
          <a:p>
            <a:r>
              <a:rPr lang="zh-CN" sz="2400"/>
              <a:t>（</a:t>
            </a:r>
            <a:r>
              <a:rPr lang="en-US" sz="2400"/>
              <a:t>1</a:t>
            </a:r>
            <a:r>
              <a:rPr lang="zh-CN" sz="2400"/>
              <a:t>）</a:t>
            </a:r>
            <a:r>
              <a:rPr lang="en-US" sz="2400"/>
              <a:t>Business Volume &amp; Revenue – Plummeting Freight Demand to the US
- Core Impact: Hit by tariff policies
- Key Data: Container bookings from Asia to the US dropped by over 60% in one week</a:t>
            </a:r>
            <a:endParaRPr lang="en-US" sz="2400"/>
          </a:p>
        </p:txBody>
      </p:sp>
    </p:spTree>
  </p:cSld>
  <p:clrMapOvr>
    <a:masterClrMapping/>
  </p:clrMapOvr>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98"/>
                                        </p:tgtEl>
                                        <p:attrNameLst>
                                          <p:attrName>style.visibility</p:attrName>
                                        </p:attrNameLst>
                                      </p:cBhvr>
                                      <p:to>
                                        <p:strVal val="visible"/>
                                      </p:to>
                                    </p:set>
                                    <p:animEffect transition="in" filter="dissolve">
                                      <p:cBhvr>
                                        <p:cTn id="15" dur="500"/>
                                        <p:tgtEl>
                                          <p:spTgt spid="198"/>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99"/>
                                        </p:tgtEl>
                                        <p:attrNameLst>
                                          <p:attrName>style.visibility</p:attrName>
                                        </p:attrNameLst>
                                      </p:cBhvr>
                                      <p:to>
                                        <p:strVal val="visible"/>
                                      </p:to>
                                    </p:set>
                                    <p:animEffect transition="in" filter="blinds(horizontal)">
                                      <p:cBhvr>
                                        <p:cTn id="20" dur="500"/>
                                        <p:tgtEl>
                                          <p:spTgt spid="199"/>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200"/>
                                        </p:tgtEl>
                                        <p:attrNameLst>
                                          <p:attrName>style.visibility</p:attrName>
                                        </p:attrNameLst>
                                      </p:cBhvr>
                                      <p:to>
                                        <p:strVal val="visible"/>
                                      </p:to>
                                    </p:set>
                                    <p:animEffect transition="in" filter="checkerboard(across)">
                                      <p:cBhvr>
                                        <p:cTn id="25" dur="500"/>
                                        <p:tgtEl>
                                          <p:spTgt spid="200"/>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EFAF2">
            <a:alpha val="100000"/>
          </a:srgbClr>
        </a:solidFill>
        <a:effectLst/>
      </p:bgPr>
    </p:bg>
    <p:spTree>
      <p:nvGrpSpPr>
        <p:cNvPr id="201" name=""/>
        <p:cNvGrpSpPr/>
        <p:nvPr/>
      </p:nvGrpSpPr>
      <p:grpSpPr>
        <a:xfrm>
          <a:off x="0" y="0"/>
          <a:ext cx="0" cy="0"/>
          <a:chOff x="0" y="0"/>
          <a:chExt cx="0" cy="0"/>
        </a:xfrm>
      </p:grpSpPr>
      <p:sp>
        <p:nvSpPr>
          <p:cNvPr id="202" name="矩形: 圆角 4"/>
          <p:cNvSpPr/>
          <p:nvPr/>
        </p:nvSpPr>
        <p:spPr>
          <a:xfrm>
            <a:off x="1775840" y="359664"/>
            <a:ext cx="7202106" cy="855597"/>
          </a:xfrm>
          <a:prstGeom prst="roundRect">
            <a:avLst>
              <a:gd name="adj" fmla="val 30941"/>
            </a:avLst>
          </a:prstGeom>
          <a:solidFill>
            <a:srgbClr val="E9E1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3" name="标题 1"/>
          <p:cNvSpPr>
            <a:spLocks noGrp="1"/>
          </p:cNvSpPr>
          <p:nvPr>
            <p:ph type="ctrTitle"/>
          </p:nvPr>
        </p:nvSpPr>
        <p:spPr>
          <a:xfrm>
            <a:off x="1638321" y="534131"/>
            <a:ext cx="7202128" cy="531478"/>
          </a:xfrm>
        </p:spPr>
        <p:txBody>
          <a:bodyPr>
            <a:noAutofit/>
          </a:bodyPr>
          <a:lstStyle/>
          <a:p>
            <a:pPr>
              <a:buNone/>
            </a:pPr>
            <a:r>
              <a:rPr lang="en-US" sz="3200"/>
              <a:t>3</a:t>
            </a:r>
            <a:r>
              <a:rPr sz="3200"/>
              <a:t>.</a:t>
            </a:r>
            <a:r>
              <a:rPr lang="en-US" sz="3200"/>
              <a:t> </a:t>
            </a:r>
            <a:r>
              <a:rPr lang="en-US" sz="3200"/>
              <a:t>The impact of foreign tariff blockade</a:t>
            </a:r>
            <a:endParaRPr lang="zh-CN">
              <a:latin typeface="江西拙楷"/>
              <a:ea typeface="江西拙楷"/>
              <a:cs typeface="+mj-cs"/>
            </a:endParaRPr>
          </a:p>
        </p:txBody>
      </p:sp>
      <p:pic>
        <p:nvPicPr>
          <p:cNvPr id="204" name="图片 14"/>
          <p:cNvPicPr>
            <a:picLocks noChangeAspect="1"/>
          </p:cNvPicPr>
          <p:nvPr/>
        </p:nvPicPr>
        <p:blipFill>
          <a:blip r:embed="rId1"/>
          <a:stretch>
            <a:fillRect/>
          </a:stretch>
        </p:blipFill>
        <p:spPr>
          <a:xfrm>
            <a:off x="575853" y="359664"/>
            <a:ext cx="917481" cy="973240"/>
          </a:xfrm>
          <a:prstGeom prst="rect">
            <a:avLst/>
          </a:prstGeom>
        </p:spPr>
      </p:pic>
      <p:sp>
        <p:nvSpPr>
          <p:cNvPr id="205" name="矩形: 圆角 3"/>
          <p:cNvSpPr/>
          <p:nvPr/>
        </p:nvSpPr>
        <p:spPr>
          <a:xfrm>
            <a:off x="2187570" y="1065609"/>
            <a:ext cx="1712317" cy="109900"/>
          </a:xfrm>
          <a:prstGeom prst="roundRect">
            <a:avLst>
              <a:gd name="adj" fmla="val 50000"/>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6" name="矩形: 圆角 3"/>
          <p:cNvSpPr/>
          <p:nvPr/>
        </p:nvSpPr>
        <p:spPr>
          <a:xfrm>
            <a:off x="4446046" y="1065591"/>
            <a:ext cx="1235330" cy="109918"/>
          </a:xfrm>
          <a:prstGeom prst="roundRect">
            <a:avLst>
              <a:gd name="adj" fmla="val 50000"/>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7" name="文本框 206"/>
          <p:cNvSpPr txBox="1"/>
          <p:nvPr/>
        </p:nvSpPr>
        <p:spPr>
          <a:xfrm>
            <a:off x="610235" y="1253426"/>
            <a:ext cx="9258300" cy="825500"/>
          </a:xfrm>
          <a:prstGeom prst="rect">
            <a:avLst/>
          </a:prstGeom>
          <a:ln w="12700">
            <a:prstDash val="solid"/>
          </a:ln>
        </p:spPr>
        <p:txBody>
          <a:bodyPr>
            <a:spAutoFit/>
          </a:bodyPr>
          <a:p>
            <a:r>
              <a:rPr lang="en-US" sz="2400"/>
              <a:t>At the same time as economic globalization, a trade war has inevitably arisen. Surge in foreign tariffs on China</a:t>
            </a:r>
            <a:endParaRPr lang="en-US" sz="2400"/>
          </a:p>
        </p:txBody>
      </p:sp>
      <p:sp>
        <p:nvSpPr>
          <p:cNvPr id="208" name="文本框 207"/>
          <p:cNvSpPr txBox="1"/>
          <p:nvPr/>
        </p:nvSpPr>
        <p:spPr>
          <a:xfrm>
            <a:off x="6960090" y="1900591"/>
            <a:ext cx="4203700" cy="4483100"/>
          </a:xfrm>
          <a:prstGeom prst="rect">
            <a:avLst/>
          </a:prstGeom>
          <a:ln w="12700">
            <a:prstDash val="solid"/>
          </a:ln>
        </p:spPr>
        <p:txBody>
          <a:bodyPr>
            <a:spAutoFit/>
          </a:bodyPr>
          <a:p>
            <a:r>
              <a:rPr lang="zh-CN" sz="3200"/>
              <a:t>（</a:t>
            </a:r>
            <a:r>
              <a:rPr lang="en-US" sz="3200"/>
              <a:t>2</a:t>
            </a:r>
            <a:r>
              <a:rPr lang="zh-CN" sz="3200"/>
              <a:t>）</a:t>
            </a:r>
            <a:r>
              <a:rPr lang="en-US" sz="3200"/>
              <a:t>  Downward pressure on freight prices: Falling cargo volume is increasing competition, putting downward pressure on freight rates for key routes like US East and West coasts.</a:t>
            </a:r>
            <a:endParaRPr lang="en-US" sz="3200"/>
          </a:p>
        </p:txBody>
      </p:sp>
      <p:pic>
        <p:nvPicPr>
          <p:cNvPr id="209" name="图片 208"/>
          <p:cNvPicPr>
            <a:picLocks noChangeAspect="1"/>
          </p:cNvPicPr>
          <p:nvPr/>
        </p:nvPicPr>
        <p:blipFill>
          <a:blip r:embed="rId2"/>
          <a:stretch>
            <a:fillRect/>
          </a:stretch>
        </p:blipFill>
        <p:spPr>
          <a:xfrm>
            <a:off x="1186175" y="2266743"/>
            <a:ext cx="4190718" cy="3750797"/>
          </a:xfrm>
          <a:prstGeom prst="rect">
            <a:avLst/>
          </a:prstGeom>
        </p:spPr>
      </p:pic>
    </p:spTree>
  </p:cSld>
  <p:clrMapOvr>
    <a:masterClrMapping/>
  </p:clrMapOvr>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208"/>
                                        </p:tgtEl>
                                        <p:attrNameLst>
                                          <p:attrName>style.visibility</p:attrName>
                                        </p:attrNameLst>
                                      </p:cBhvr>
                                      <p:to>
                                        <p:strVal val="visible"/>
                                      </p:to>
                                    </p:set>
                                    <p:animEffect transition="in" filter="checkerboard(across)">
                                      <p:cBhvr>
                                        <p:cTn id="15" dur="500"/>
                                        <p:tgtEl>
                                          <p:spTgt spid="208"/>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209"/>
                                        </p:tgtEl>
                                        <p:attrNameLst>
                                          <p:attrName>style.visibility</p:attrName>
                                        </p:attrNameLst>
                                      </p:cBhvr>
                                      <p:to>
                                        <p:strVal val="visible"/>
                                      </p:to>
                                    </p:set>
                                    <p:anim calcmode="lin" valueType="num">
                                      <p:cBhvr additive="base">
                                        <p:cTn id="20" dur="500"/>
                                        <p:tgtEl>
                                          <p:spTgt spid="209"/>
                                        </p:tgtEl>
                                        <p:attrNameLst>
                                          <p:attrName>ppt_y</p:attrName>
                                        </p:attrNameLst>
                                      </p:cBhvr>
                                      <p:tavLst>
                                        <p:tav tm="0">
                                          <p:val>
                                            <p:strVal val="#ppt_y+#ppt_h*1.125000"/>
                                          </p:val>
                                        </p:tav>
                                        <p:tav tm="100000">
                                          <p:val>
                                            <p:strVal val="#ppt_y"/>
                                          </p:val>
                                        </p:tav>
                                      </p:tavLst>
                                    </p:anim>
                                    <p:animEffect transition="in" filter="wipe(up)">
                                      <p:cBhvr>
                                        <p:cTn id="21" dur="500"/>
                                        <p:tgtEl>
                                          <p:spTgt spid="209"/>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EFAF2">
            <a:alpha val="100000"/>
          </a:srgbClr>
        </a:solidFill>
        <a:effectLst/>
      </p:bgPr>
    </p:bg>
    <p:spTree>
      <p:nvGrpSpPr>
        <p:cNvPr id="6" name=""/>
        <p:cNvGrpSpPr/>
        <p:nvPr/>
      </p:nvGrpSpPr>
      <p:grpSpPr>
        <a:xfrm>
          <a:off x="0" y="0"/>
          <a:ext cx="0" cy="0"/>
          <a:chOff x="0" y="0"/>
          <a:chExt cx="0" cy="0"/>
        </a:xfrm>
      </p:grpSpPr>
      <p:sp>
        <p:nvSpPr>
          <p:cNvPr id="7" name="矩形: 圆角 4"/>
          <p:cNvSpPr/>
          <p:nvPr/>
        </p:nvSpPr>
        <p:spPr>
          <a:xfrm>
            <a:off x="1775840" y="359664"/>
            <a:ext cx="7202106" cy="855597"/>
          </a:xfrm>
          <a:prstGeom prst="roundRect">
            <a:avLst>
              <a:gd name="adj" fmla="val 30941"/>
            </a:avLst>
          </a:prstGeom>
          <a:solidFill>
            <a:srgbClr val="E9E1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1"/>
          <p:cNvSpPr>
            <a:spLocks noGrp="1"/>
          </p:cNvSpPr>
          <p:nvPr>
            <p:ph type="ctrTitle"/>
          </p:nvPr>
        </p:nvSpPr>
        <p:spPr>
          <a:xfrm>
            <a:off x="1638321" y="534131"/>
            <a:ext cx="7202128" cy="531478"/>
          </a:xfrm>
        </p:spPr>
        <p:txBody>
          <a:bodyPr>
            <a:noAutofit/>
          </a:bodyPr>
          <a:lstStyle/>
          <a:p>
            <a:pPr>
              <a:buNone/>
            </a:pPr>
            <a:r>
              <a:rPr lang="en-US" sz="3200"/>
              <a:t>3</a:t>
            </a:r>
            <a:r>
              <a:rPr sz="3200"/>
              <a:t>.</a:t>
            </a:r>
            <a:r>
              <a:rPr lang="en-US" sz="3200"/>
              <a:t> </a:t>
            </a:r>
            <a:r>
              <a:rPr lang="en-US" sz="3200"/>
              <a:t>The impact of foreign tariff blockade</a:t>
            </a:r>
            <a:endParaRPr lang="zh-CN">
              <a:latin typeface="江西拙楷"/>
              <a:ea typeface="江西拙楷"/>
              <a:cs typeface="+mj-cs"/>
            </a:endParaRPr>
          </a:p>
        </p:txBody>
      </p:sp>
      <p:sp>
        <p:nvSpPr>
          <p:cNvPr id="9" name="椭圆 8"/>
          <p:cNvSpPr/>
          <p:nvPr/>
        </p:nvSpPr>
        <p:spPr>
          <a:xfrm>
            <a:off x="8903268" y="6244067"/>
            <a:ext cx="203540" cy="171450"/>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14"/>
          <p:cNvPicPr>
            <a:picLocks noChangeAspect="1"/>
          </p:cNvPicPr>
          <p:nvPr/>
        </p:nvPicPr>
        <p:blipFill>
          <a:blip r:embed="rId1"/>
          <a:stretch>
            <a:fillRect/>
          </a:stretch>
        </p:blipFill>
        <p:spPr>
          <a:xfrm>
            <a:off x="575853" y="359664"/>
            <a:ext cx="917481" cy="973240"/>
          </a:xfrm>
          <a:prstGeom prst="rect">
            <a:avLst/>
          </a:prstGeom>
        </p:spPr>
      </p:pic>
      <p:sp>
        <p:nvSpPr>
          <p:cNvPr id="11" name="矩形: 圆角 3"/>
          <p:cNvSpPr/>
          <p:nvPr/>
        </p:nvSpPr>
        <p:spPr>
          <a:xfrm>
            <a:off x="2187570" y="1065609"/>
            <a:ext cx="1712317" cy="109900"/>
          </a:xfrm>
          <a:prstGeom prst="roundRect">
            <a:avLst>
              <a:gd name="adj" fmla="val 50000"/>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3"/>
          <p:cNvSpPr/>
          <p:nvPr/>
        </p:nvSpPr>
        <p:spPr>
          <a:xfrm>
            <a:off x="4446046" y="1065591"/>
            <a:ext cx="1235330" cy="109918"/>
          </a:xfrm>
          <a:prstGeom prst="roundRect">
            <a:avLst>
              <a:gd name="adj" fmla="val 50000"/>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p:cNvSpPr txBox="1"/>
          <p:nvPr/>
        </p:nvSpPr>
        <p:spPr>
          <a:xfrm>
            <a:off x="610235" y="1253426"/>
            <a:ext cx="9258300" cy="825500"/>
          </a:xfrm>
          <a:prstGeom prst="rect">
            <a:avLst/>
          </a:prstGeom>
          <a:ln w="12700">
            <a:prstDash val="solid"/>
          </a:ln>
        </p:spPr>
        <p:txBody>
          <a:bodyPr>
            <a:spAutoFit/>
          </a:bodyPr>
          <a:p>
            <a:r>
              <a:rPr lang="en-US" sz="2400"/>
              <a:t>At the same time as economic globalization, a trade war has inevitably arisen. Surge in foreign tariffs on China</a:t>
            </a:r>
            <a:endParaRPr lang="en-US" sz="2400"/>
          </a:p>
        </p:txBody>
      </p:sp>
      <p:sp>
        <p:nvSpPr>
          <p:cNvPr id="14" name="文本框 13"/>
          <p:cNvSpPr txBox="1"/>
          <p:nvPr/>
        </p:nvSpPr>
        <p:spPr>
          <a:xfrm>
            <a:off x="7766685" y="2266743"/>
            <a:ext cx="4203700" cy="2861310"/>
          </a:xfrm>
          <a:prstGeom prst="rect">
            <a:avLst/>
          </a:prstGeom>
          <a:ln w="12700">
            <a:prstDash val="solid"/>
          </a:ln>
        </p:spPr>
        <p:txBody>
          <a:bodyPr>
            <a:spAutoFit/>
          </a:bodyPr>
          <a:p>
            <a:r>
              <a:rPr lang="zh-CN"/>
              <a:t>（</a:t>
            </a:r>
            <a:r>
              <a:rPr lang="en-US"/>
              <a:t>3</a:t>
            </a:r>
            <a:r>
              <a:rPr lang="zh-CN"/>
              <a:t>）</a:t>
            </a:r>
            <a:r>
              <a:rPr lang="en-US"/>
              <a:t> Customer Order Cancellation or Suspension
• Current Situation: Affected by high costs or uncertainties, many shippers choose to suspend shipments or even cancel orders </a:t>
            </a:r>
            <a:r>
              <a:rPr lang="zh-CN" altLang="en-US"/>
              <a:t>📦</a:t>
            </a:r>
            <a:r>
              <a:rPr lang="en-US" altLang="en-US"/>
              <a:t>❌</a:t>
            </a:r>
            <a:r>
              <a:rPr lang="en-US"/>
              <a:t>
• Core Reasons: High cost pressure, uncertainties in the market, logistics, etc. </a:t>
            </a:r>
            <a:r>
              <a:rPr lang="zh-CN"/>
              <a:t>📊⚠️</a:t>
            </a:r>
            <a:endParaRPr lang="zh-CN"/>
          </a:p>
        </p:txBody>
      </p:sp>
      <p:pic>
        <p:nvPicPr>
          <p:cNvPr id="15" name="图片 14"/>
          <p:cNvPicPr>
            <a:picLocks noChangeAspect="1"/>
          </p:cNvPicPr>
          <p:nvPr/>
        </p:nvPicPr>
        <p:blipFill>
          <a:blip r:embed="rId2"/>
          <a:stretch>
            <a:fillRect/>
          </a:stretch>
        </p:blipFill>
        <p:spPr>
          <a:xfrm>
            <a:off x="807468" y="2117091"/>
            <a:ext cx="5613400" cy="4445000"/>
          </a:xfrm>
          <a:prstGeom prst="rect">
            <a:avLst/>
          </a:prstGeom>
        </p:spPr>
      </p:pic>
    </p:spTree>
  </p:cSld>
  <p:clrMapOvr>
    <a:masterClrMapping/>
  </p:clrMapOvr>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checkerboard(across)">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 calcmode="lin" valueType="num">
                                      <p:cBhvr additive="base">
                                        <p:cTn id="20" dur="1000" fill="hold"/>
                                        <p:tgtEl>
                                          <p:spTgt spid="15"/>
                                        </p:tgtEl>
                                        <p:attrNameLst>
                                          <p:attrName>ppt_x</p:attrName>
                                        </p:attrNameLst>
                                      </p:cBhvr>
                                      <p:tavLst>
                                        <p:tav tm="0">
                                          <p:val>
                                            <p:strVal val="#ppt_x"/>
                                          </p:val>
                                        </p:tav>
                                        <p:tav tm="100000">
                                          <p:val>
                                            <p:strVal val="#ppt_x"/>
                                          </p:val>
                                        </p:tav>
                                      </p:tavLst>
                                    </p:anim>
                                    <p:anim calcmode="lin" valueType="num">
                                      <p:cBhvr additive="base">
                                        <p:cTn id="21" dur="10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EFAF2"/>
        </a:solidFill>
        <a:effectLst/>
      </p:bgPr>
    </p:bg>
    <p:spTree>
      <p:nvGrpSpPr>
        <p:cNvPr id="16" name=""/>
        <p:cNvGrpSpPr/>
        <p:nvPr/>
      </p:nvGrpSpPr>
      <p:grpSpPr>
        <a:xfrm>
          <a:off x="0" y="0"/>
          <a:ext cx="0" cy="0"/>
          <a:chOff x="0" y="0"/>
          <a:chExt cx="0" cy="0"/>
        </a:xfrm>
      </p:grpSpPr>
      <p:sp>
        <p:nvSpPr>
          <p:cNvPr id="17" name="矩形: 圆角 4"/>
          <p:cNvSpPr/>
          <p:nvPr/>
        </p:nvSpPr>
        <p:spPr>
          <a:xfrm>
            <a:off x="1840056" y="780700"/>
            <a:ext cx="7376515" cy="467116"/>
          </a:xfrm>
          <a:prstGeom prst="roundRect">
            <a:avLst>
              <a:gd name="adj" fmla="val 30941"/>
            </a:avLst>
          </a:prstGeom>
          <a:solidFill>
            <a:srgbClr val="E9E1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 1"/>
          <p:cNvSpPr>
            <a:spLocks noGrp="1"/>
          </p:cNvSpPr>
          <p:nvPr>
            <p:ph type="ctrTitle"/>
          </p:nvPr>
        </p:nvSpPr>
        <p:spPr>
          <a:xfrm>
            <a:off x="709943" y="2493102"/>
            <a:ext cx="8429857" cy="1344736"/>
          </a:xfrm>
        </p:spPr>
        <p:txBody>
          <a:bodyPr>
            <a:noAutofit/>
          </a:bodyPr>
          <a:lstStyle/>
          <a:p>
            <a:pPr algn="l">
              <a:buNone/>
            </a:pPr>
            <a:r>
              <a:rPr lang="en-US" sz="2400">
                <a:latin typeface="+mn-lt"/>
                <a:ea typeface="+mn-ea"/>
                <a:cs typeface="+mn-cs"/>
              </a:rPr>
              <a:t>Use the tariff “window period” to accelerate shipments; accelerate the layout of overseas warehouses to avoid the risk of tariff fluctuations.</a:t>
            </a:r>
            <a:endParaRPr lang="en-US" sz="2400">
              <a:latin typeface="+mn-lt"/>
              <a:ea typeface="+mn-ea"/>
              <a:cs typeface="+mn-cs"/>
            </a:endParaRPr>
          </a:p>
        </p:txBody>
      </p:sp>
      <p:sp>
        <p:nvSpPr>
          <p:cNvPr id="19" name="标题 1"/>
          <p:cNvSpPr txBox="1"/>
          <p:nvPr/>
        </p:nvSpPr>
        <p:spPr>
          <a:xfrm>
            <a:off x="1840056" y="405192"/>
            <a:ext cx="7492630" cy="973240"/>
          </a:xfrm>
          <a:prstGeom prst="rect">
            <a:avLst/>
          </a:prstGeom>
        </p:spPr>
        <p:txBody>
          <a:bodyPr vert="horz" lIns="91440" tIns="45720" rIns="91440" bIns="45720" rtlCol="0" anchor="b">
            <a:normAutofit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buNone/>
            </a:pPr>
            <a:r>
              <a:rPr lang="en-US" sz="3200">
                <a:cs typeface="+mj-cs"/>
              </a:rPr>
              <a:t>This is our solution</a:t>
            </a:r>
            <a:endParaRPr lang="en-US" sz="3200">
              <a:cs typeface="+mj-cs"/>
            </a:endParaRPr>
          </a:p>
        </p:txBody>
      </p:sp>
      <p:sp>
        <p:nvSpPr>
          <p:cNvPr id="20" name="文本框 7"/>
          <p:cNvSpPr txBox="1"/>
          <p:nvPr/>
        </p:nvSpPr>
        <p:spPr>
          <a:xfrm>
            <a:off x="575323" y="1556877"/>
            <a:ext cx="8698905" cy="829945"/>
          </a:xfrm>
          <a:prstGeom prst="rect">
            <a:avLst/>
          </a:prstGeom>
          <a:noFill/>
        </p:spPr>
        <p:txBody>
          <a:bodyPr wrap="square" rtlCol="0">
            <a:spAutoFit/>
          </a:bodyPr>
          <a:lstStyle/>
          <a:p>
            <a:r>
              <a:rPr lang="zh-CN" sz="2400">
                <a:latin typeface="江西拙楷"/>
                <a:ea typeface="江西拙楷"/>
                <a:cs typeface="+mn-cs"/>
              </a:rPr>
              <a:t> </a:t>
            </a:r>
            <a:r>
              <a:rPr lang="en-US" sz="2400">
                <a:cs typeface="+mn-cs"/>
              </a:rPr>
              <a:t>1.Seize the opportunity to establish overseas warehouses to reduce   shipping costs and convert them into warehousing profits</a:t>
            </a:r>
            <a:endParaRPr lang="en-US" sz="2400">
              <a:cs typeface="+mn-cs"/>
            </a:endParaRPr>
          </a:p>
        </p:txBody>
      </p:sp>
      <p:pic>
        <p:nvPicPr>
          <p:cNvPr id="21" name="图片 9" descr="徽标  AI 生成的内容可能不正确。"/>
          <p:cNvPicPr>
            <a:picLocks noChangeAspect="1"/>
          </p:cNvPicPr>
          <p:nvPr/>
        </p:nvPicPr>
        <p:blipFill>
          <a:blip r:embed="rId1" cstate="print"/>
          <a:stretch>
            <a:fillRect/>
          </a:stretch>
        </p:blipFill>
        <p:spPr>
          <a:xfrm>
            <a:off x="363416" y="233757"/>
            <a:ext cx="1476640" cy="1476640"/>
          </a:xfrm>
          <a:prstGeom prst="rect">
            <a:avLst/>
          </a:prstGeom>
        </p:spPr>
      </p:pic>
      <p:sp>
        <p:nvSpPr>
          <p:cNvPr id="22" name="文本框 21"/>
          <p:cNvSpPr txBox="1"/>
          <p:nvPr/>
        </p:nvSpPr>
        <p:spPr>
          <a:xfrm>
            <a:off x="709943" y="3645535"/>
            <a:ext cx="6280150" cy="1198880"/>
          </a:xfrm>
          <a:prstGeom prst="rect">
            <a:avLst/>
          </a:prstGeom>
          <a:ln w="12700">
            <a:prstDash val="solid"/>
          </a:ln>
        </p:spPr>
        <p:txBody>
          <a:bodyPr>
            <a:spAutoFit/>
          </a:bodyPr>
          <a:p>
            <a:endParaRPr lang="en-US" sz="2400"/>
          </a:p>
          <a:p>
            <a:r>
              <a:rPr lang="en-US" sz="2400"/>
              <a:t>2</a:t>
            </a:r>
            <a:r>
              <a:rPr lang="en-US"/>
              <a:t>.</a:t>
            </a:r>
            <a:r>
              <a:rPr lang="en-US" sz="2400"/>
              <a:t>Expand the market, not limited to a single country</a:t>
            </a:r>
            <a:endParaRPr lang="en-US" sz="2400"/>
          </a:p>
        </p:txBody>
      </p:sp>
      <p:sp>
        <p:nvSpPr>
          <p:cNvPr id="23" name="文本框 22"/>
          <p:cNvSpPr txBox="1"/>
          <p:nvPr/>
        </p:nvSpPr>
        <p:spPr>
          <a:xfrm>
            <a:off x="709943" y="4941713"/>
            <a:ext cx="28740100" cy="825500"/>
          </a:xfrm>
          <a:prstGeom prst="rect">
            <a:avLst/>
          </a:prstGeom>
          <a:ln w="6350">
            <a:prstDash val="solid"/>
          </a:ln>
        </p:spPr>
        <p:txBody>
          <a:bodyPr wrap="square">
            <a:spAutoFit/>
          </a:bodyPr>
          <a:lstStyle/>
          <a:p>
            <a:r>
              <a:rPr lang="en-US" sz="2400"/>
              <a:t>Promote service branding and technological upgrades; </a:t>
            </a:r>
            <a:endParaRPr lang="en-US" sz="2400"/>
          </a:p>
          <a:p>
            <a:r>
              <a:rPr lang="en-US" sz="2400"/>
              <a:t>Expand into diversified markets to reduce reliance on any single market</a:t>
            </a:r>
            <a:endParaRPr lang="en-US" sz="2400"/>
          </a:p>
        </p:txBody>
      </p:sp>
    </p:spTree>
  </p:cSld>
  <p:clrMapOvr>
    <a:masterClrMapping/>
  </p:clrMapOvr>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blinds(horizontal)">
                                      <p:cBhvr>
                                        <p:cTn id="19" dur="500"/>
                                        <p:tgtEl>
                                          <p:spTgt spid="22"/>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blinds(horizontal)">
                                      <p:cBhvr>
                                        <p:cTn id="24" dur="500"/>
                                        <p:tgtEl>
                                          <p:spTgt spid="23"/>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EFAF2"/>
        </a:solidFill>
        <a:effectLst/>
      </p:bgPr>
    </p:bg>
    <p:spTree>
      <p:nvGrpSpPr>
        <p:cNvPr id="24" name=""/>
        <p:cNvGrpSpPr/>
        <p:nvPr/>
      </p:nvGrpSpPr>
      <p:grpSpPr>
        <a:xfrm>
          <a:off x="0" y="0"/>
          <a:ext cx="0" cy="0"/>
          <a:chOff x="0" y="0"/>
          <a:chExt cx="0" cy="0"/>
        </a:xfrm>
      </p:grpSpPr>
      <p:sp>
        <p:nvSpPr>
          <p:cNvPr id="25" name="矩形: 圆角 4"/>
          <p:cNvSpPr/>
          <p:nvPr/>
        </p:nvSpPr>
        <p:spPr>
          <a:xfrm>
            <a:off x="1556657" y="453033"/>
            <a:ext cx="8400142" cy="596773"/>
          </a:xfrm>
          <a:prstGeom prst="roundRect">
            <a:avLst>
              <a:gd name="adj" fmla="val 30941"/>
            </a:avLst>
          </a:prstGeom>
          <a:solidFill>
            <a:srgbClr val="E9E1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标题 1"/>
          <p:cNvSpPr>
            <a:spLocks noGrp="1"/>
          </p:cNvSpPr>
          <p:nvPr>
            <p:ph type="ctrTitle"/>
          </p:nvPr>
        </p:nvSpPr>
        <p:spPr>
          <a:xfrm>
            <a:off x="1905020" y="405292"/>
            <a:ext cx="7690695" cy="596762"/>
          </a:xfrm>
        </p:spPr>
        <p:txBody>
          <a:bodyPr>
            <a:normAutofit/>
          </a:bodyPr>
          <a:lstStyle/>
          <a:p>
            <a:pPr>
              <a:buNone/>
            </a:pPr>
            <a:r>
              <a:rPr lang="en-US" sz="3200">
                <a:cs typeface="+mj-cs"/>
              </a:rPr>
              <a:t>BUT！！！ there are still positive sides for us</a:t>
            </a:r>
            <a:endParaRPr lang="zh-CN">
              <a:latin typeface="江西拙楷"/>
              <a:ea typeface="江西拙楷"/>
              <a:cs typeface="+mj-cs"/>
            </a:endParaRPr>
          </a:p>
        </p:txBody>
      </p:sp>
      <p:pic>
        <p:nvPicPr>
          <p:cNvPr id="27" name="图片 10" descr="图标  AI 生成的内容可能不正确。"/>
          <p:cNvPicPr>
            <a:picLocks noChangeAspect="1"/>
          </p:cNvPicPr>
          <p:nvPr/>
        </p:nvPicPr>
        <p:blipFill>
          <a:blip r:embed="rId1" cstate="print"/>
          <a:stretch>
            <a:fillRect/>
          </a:stretch>
        </p:blipFill>
        <p:spPr>
          <a:xfrm>
            <a:off x="0" y="-74656"/>
            <a:ext cx="1556657" cy="1556657"/>
          </a:xfrm>
          <a:prstGeom prst="rect">
            <a:avLst/>
          </a:prstGeom>
        </p:spPr>
      </p:pic>
      <p:sp>
        <p:nvSpPr>
          <p:cNvPr id="28" name="矩形: 圆角 3"/>
          <p:cNvSpPr/>
          <p:nvPr/>
        </p:nvSpPr>
        <p:spPr>
          <a:xfrm>
            <a:off x="5623037" y="1002054"/>
            <a:ext cx="3591730" cy="70021"/>
          </a:xfrm>
          <a:prstGeom prst="roundRect">
            <a:avLst>
              <a:gd name="adj" fmla="val 50000"/>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角 3"/>
          <p:cNvSpPr/>
          <p:nvPr/>
        </p:nvSpPr>
        <p:spPr>
          <a:xfrm>
            <a:off x="2507014" y="959489"/>
            <a:ext cx="2292863" cy="70040"/>
          </a:xfrm>
          <a:prstGeom prst="roundRect">
            <a:avLst>
              <a:gd name="adj" fmla="val 50000"/>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文本框 29"/>
          <p:cNvSpPr txBox="1"/>
          <p:nvPr/>
        </p:nvSpPr>
        <p:spPr>
          <a:xfrm>
            <a:off x="177800" y="3683365"/>
            <a:ext cx="12014200" cy="2527300"/>
          </a:xfrm>
          <a:prstGeom prst="rect">
            <a:avLst/>
          </a:prstGeom>
        </p:spPr>
        <p:txBody>
          <a:bodyPr>
            <a:spAutoFit/>
          </a:bodyPr>
          <a:p>
            <a:r>
              <a:rPr lang="en-US" sz="3200"/>
              <a:t>1.</a:t>
            </a:r>
            <a:r>
              <a:rPr sz="3200"/>
              <a:t>Reshuffle of the market pattern: seize opportunities in high-value markets
</a:t>
            </a:r>
            <a:r>
              <a:t>
 </a:t>
            </a:r>
            <a:r>
              <a:rPr sz="2400"/>
              <a:t>The tariffs mainly hit </a:t>
            </a:r>
            <a:r>
              <a:rPr sz="2400"/>
              <a:t>products with low value-added and strong replaceability. But this has instead prompted China's export structure to tilt towards products with high value-added, high timeliness, and high brand requirements, such as electronic products, new energy products, and smart homes.</a:t>
            </a:r>
            <a:endParaRPr sz="2400"/>
          </a:p>
        </p:txBody>
      </p:sp>
      <p:pic>
        <p:nvPicPr>
          <p:cNvPr id="31" name="图片 30"/>
          <p:cNvPicPr>
            <a:picLocks noChangeAspect="1"/>
          </p:cNvPicPr>
          <p:nvPr/>
        </p:nvPicPr>
        <p:blipFill>
          <a:blip r:embed="rId2"/>
          <a:stretch>
            <a:fillRect/>
          </a:stretch>
        </p:blipFill>
        <p:spPr>
          <a:xfrm>
            <a:off x="456520" y="1072075"/>
            <a:ext cx="1772330" cy="2541269"/>
          </a:xfrm>
          <a:prstGeom prst="rect">
            <a:avLst/>
          </a:prstGeom>
        </p:spPr>
      </p:pic>
      <p:sp>
        <p:nvSpPr>
          <p:cNvPr id="32" name="文本框 31"/>
          <p:cNvSpPr txBox="1"/>
          <p:nvPr/>
        </p:nvSpPr>
        <p:spPr>
          <a:xfrm>
            <a:off x="2228850" y="1489075"/>
            <a:ext cx="5861050" cy="825500"/>
          </a:xfrm>
          <a:prstGeom prst="rect">
            <a:avLst/>
          </a:prstGeom>
          <a:ln w="12700">
            <a:prstDash val="solid"/>
          </a:ln>
        </p:spPr>
        <p:txBody>
          <a:bodyPr>
            <a:spAutoFit/>
          </a:bodyPr>
          <a:p>
            <a:pPr marL="0" lvl="0" algn="l" defTabSz="914400">
              <a:lnSpc>
                <a:spcPct val="100000"/>
              </a:lnSpc>
              <a:defRPr sz="1800">
                <a:solidFill>
                  <a:schemeClr val="tx1">
                    <a:alpha val="100000"/>
                  </a:schemeClr>
                </a:solidFill>
                <a:latin typeface="Calibri" panose="020F0502020204030204"/>
                <a:ea typeface="微软雅黑" panose="020B0503020204020204" charset="-122"/>
                <a:cs typeface="+mn-cs"/>
              </a:defRPr>
            </a:pPr>
            <a:r>
              <a:rPr lang="en-US" sz="2400">
                <a:solidFill>
                  <a:schemeClr val="tx1">
                    <a:alpha val="100000"/>
                  </a:schemeClr>
                </a:solidFill>
                <a:latin typeface="Calibri" panose="020F0502020204030204"/>
                <a:ea typeface="微软雅黑" panose="020B0503020204020204" charset="-122"/>
                <a:cs typeface="+mn-cs"/>
              </a:rPr>
              <a:t>According to this policy </a:t>
            </a:r>
            <a:r>
              <a:rPr lang="en-US" sz="2400">
                <a:solidFill>
                  <a:schemeClr val="tx1">
                    <a:alpha val="100000"/>
                  </a:schemeClr>
                </a:solidFill>
                <a:latin typeface="Calibri" panose="020F0502020204030204"/>
                <a:ea typeface="微软雅黑" panose="020B0503020204020204" charset="-122"/>
                <a:cs typeface="+mn-cs"/>
              </a:rPr>
              <a:t>we can get these two thoughts that are benefit for us </a:t>
            </a:r>
            <a:endParaRPr lang="en-US" sz="2400">
              <a:solidFill>
                <a:schemeClr val="tx1">
                  <a:alpha val="100000"/>
                </a:schemeClr>
              </a:solidFill>
              <a:latin typeface="Calibri" panose="020F0502020204030204"/>
              <a:ea typeface="微软雅黑" panose="020B0503020204020204" charset="-122"/>
              <a:cs typeface="+mn-cs"/>
            </a:endParaRPr>
          </a:p>
        </p:txBody>
      </p:sp>
      <p:sp>
        <p:nvSpPr>
          <p:cNvPr id="33" name="文本框 32"/>
          <p:cNvSpPr txBox="1"/>
          <p:nvPr/>
        </p:nvSpPr>
        <p:spPr>
          <a:xfrm>
            <a:off x="4826000" y="1714500"/>
            <a:ext cx="177800" cy="368300"/>
          </a:xfrm>
          <a:prstGeom prst="rect">
            <a:avLst/>
          </a:prstGeom>
          <a:ln w="6350">
            <a:prstDash val="solid"/>
          </a:ln>
        </p:spPr>
        <p:txBody>
          <a:bodyPr wrap="none">
            <a:spAutoFit/>
          </a:bodyPr>
          <a:p/>
        </p:txBody>
      </p:sp>
      <p:sp>
        <p:nvSpPr>
          <p:cNvPr id="34" name="文本框 33"/>
          <p:cNvSpPr txBox="1"/>
          <p:nvPr/>
        </p:nvSpPr>
        <p:spPr>
          <a:xfrm>
            <a:off x="2232478" y="2770617"/>
            <a:ext cx="3524250" cy="457200"/>
          </a:xfrm>
          <a:prstGeom prst="rect">
            <a:avLst/>
          </a:prstGeom>
          <a:ln w="6350">
            <a:prstDash val="solid"/>
          </a:ln>
        </p:spPr>
        <p:txBody>
          <a:bodyPr wrap="none">
            <a:spAutoFit/>
          </a:bodyPr>
          <a:p>
            <a:r>
              <a:rPr lang="en-US" sz="2400">
                <a:hlinkClick r:id="rId3"/>
              </a:rPr>
              <a:t>http://eng.yidaiyilu.gov.cn/</a:t>
            </a:r>
            <a:endParaRPr lang="en-US" sz="2400">
              <a:hlinkClick r:id="rId3"/>
            </a:endParaRPr>
          </a:p>
        </p:txBody>
      </p:sp>
      <p:sp>
        <p:nvSpPr>
          <p:cNvPr id="35" name="文本框 34"/>
          <p:cNvSpPr txBox="1"/>
          <p:nvPr/>
        </p:nvSpPr>
        <p:spPr>
          <a:xfrm>
            <a:off x="6532667" y="3258286"/>
            <a:ext cx="2406650" cy="368300"/>
          </a:xfrm>
          <a:prstGeom prst="rect">
            <a:avLst/>
          </a:prstGeom>
          <a:ln w="6350">
            <a:prstDash val="solid"/>
          </a:ln>
        </p:spPr>
        <p:txBody>
          <a:bodyPr wrap="none">
            <a:spAutoFit/>
          </a:bodyPr>
          <a:p>
            <a:r>
              <a:rPr lang="en-US" i="1">
                <a:solidFill>
                  <a:schemeClr val="bg1">
                    <a:lumMod val="65000"/>
                    <a:alpha val="100000"/>
                  </a:schemeClr>
                </a:solidFill>
              </a:rPr>
              <a:t>This is a web link, tap it!</a:t>
            </a:r>
            <a:endParaRPr lang="en-US" i="1">
              <a:solidFill>
                <a:schemeClr val="bg1">
                  <a:lumMod val="65000"/>
                  <a:alpha val="100000"/>
                </a:schemeClr>
              </a:solidFill>
            </a:endParaRPr>
          </a:p>
        </p:txBody>
      </p:sp>
      <p:pic>
        <p:nvPicPr>
          <p:cNvPr id="36" name="图片 6"/>
          <p:cNvPicPr>
            <a:picLocks noChangeAspect="1"/>
          </p:cNvPicPr>
          <p:nvPr/>
        </p:nvPicPr>
        <p:blipFill>
          <a:blip r:embed="rId4"/>
          <a:srcRect l="56499" t="40358" r="38074" b="56491"/>
          <a:stretch>
            <a:fillRect/>
          </a:stretch>
        </p:blipFill>
        <p:spPr>
          <a:xfrm rot="12000000">
            <a:off x="5854123" y="3119817"/>
            <a:ext cx="661554" cy="216000"/>
          </a:xfrm>
          <a:prstGeom prst="rect">
            <a:avLst/>
          </a:prstGeom>
        </p:spPr>
      </p:pic>
    </p:spTree>
  </p:cSld>
  <p:clrMapOvr>
    <a:masterClrMapping/>
  </p:clrMapOvr>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blinds(horizontal)">
                                      <p:cBhvr>
                                        <p:cTn id="15" dur="500"/>
                                        <p:tgtEl>
                                          <p:spTgt spid="3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4"/>
                                        </p:tgtEl>
                                        <p:attrNameLst>
                                          <p:attrName>style.visibility</p:attrName>
                                        </p:attrNameLst>
                                      </p:cBhvr>
                                      <p:to>
                                        <p:strVal val="visible"/>
                                      </p:to>
                                    </p:set>
                                  </p:childTnLst>
                                </p:cTn>
                              </p:par>
                              <p:par>
                                <p:cTn id="20" presetID="2" presetClass="entr" presetSubtype="4"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 calcmode="lin" valueType="num">
                                      <p:cBhvr additive="base">
                                        <p:cTn id="22" dur="1000" fill="hold"/>
                                        <p:tgtEl>
                                          <p:spTgt spid="36"/>
                                        </p:tgtEl>
                                        <p:attrNameLst>
                                          <p:attrName>ppt_x</p:attrName>
                                        </p:attrNameLst>
                                      </p:cBhvr>
                                      <p:tavLst>
                                        <p:tav tm="0">
                                          <p:val>
                                            <p:strVal val="#ppt_x"/>
                                          </p:val>
                                        </p:tav>
                                        <p:tav tm="100000">
                                          <p:val>
                                            <p:strVal val="#ppt_x"/>
                                          </p:val>
                                        </p:tav>
                                      </p:tavLst>
                                    </p:anim>
                                    <p:anim calcmode="lin" valueType="num">
                                      <p:cBhvr additive="base">
                                        <p:cTn id="23" dur="1000" fill="hold"/>
                                        <p:tgtEl>
                                          <p:spTgt spid="36"/>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35"/>
                                        </p:tgtEl>
                                        <p:attrNameLst>
                                          <p:attrName>style.visibility</p:attrName>
                                        </p:attrNameLst>
                                      </p:cBhvr>
                                      <p:to>
                                        <p:strVal val="visible"/>
                                      </p:to>
                                    </p:set>
                                    <p:anim calcmode="lin" valueType="num">
                                      <p:cBhvr additive="base">
                                        <p:cTn id="26" dur="1000" fill="hold"/>
                                        <p:tgtEl>
                                          <p:spTgt spid="35"/>
                                        </p:tgtEl>
                                        <p:attrNameLst>
                                          <p:attrName>ppt_x</p:attrName>
                                        </p:attrNameLst>
                                      </p:cBhvr>
                                      <p:tavLst>
                                        <p:tav tm="0">
                                          <p:val>
                                            <p:strVal val="#ppt_x"/>
                                          </p:val>
                                        </p:tav>
                                        <p:tav tm="100000">
                                          <p:val>
                                            <p:strVal val="#ppt_x"/>
                                          </p:val>
                                        </p:tav>
                                      </p:tavLst>
                                    </p:anim>
                                    <p:anim calcmode="lin" valueType="num">
                                      <p:cBhvr additive="base">
                                        <p:cTn id="27" dur="10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blinds(horizontal)">
                                      <p:cBhvr>
                                        <p:cTn id="32" dur="500"/>
                                        <p:tgtEl>
                                          <p:spTgt spid="30"/>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EFAF2"/>
        </a:solidFill>
        <a:effectLst/>
      </p:bgPr>
    </p:bg>
    <p:spTree>
      <p:nvGrpSpPr>
        <p:cNvPr id="37" name=""/>
        <p:cNvGrpSpPr/>
        <p:nvPr/>
      </p:nvGrpSpPr>
      <p:grpSpPr>
        <a:xfrm>
          <a:off x="0" y="0"/>
          <a:ext cx="0" cy="0"/>
          <a:chOff x="0" y="0"/>
          <a:chExt cx="0" cy="0"/>
        </a:xfrm>
      </p:grpSpPr>
      <p:sp>
        <p:nvSpPr>
          <p:cNvPr id="38" name="矩形: 圆角 4"/>
          <p:cNvSpPr/>
          <p:nvPr/>
        </p:nvSpPr>
        <p:spPr>
          <a:xfrm>
            <a:off x="1556657" y="453033"/>
            <a:ext cx="8400142" cy="596773"/>
          </a:xfrm>
          <a:prstGeom prst="roundRect">
            <a:avLst>
              <a:gd name="adj" fmla="val 30941"/>
            </a:avLst>
          </a:prstGeom>
          <a:solidFill>
            <a:srgbClr val="E9E1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标题 1"/>
          <p:cNvSpPr>
            <a:spLocks noGrp="1"/>
          </p:cNvSpPr>
          <p:nvPr>
            <p:ph type="ctrTitle"/>
          </p:nvPr>
        </p:nvSpPr>
        <p:spPr>
          <a:xfrm>
            <a:off x="1905020" y="405292"/>
            <a:ext cx="7690695" cy="596762"/>
          </a:xfrm>
        </p:spPr>
        <p:txBody>
          <a:bodyPr>
            <a:normAutofit/>
          </a:bodyPr>
          <a:lstStyle/>
          <a:p>
            <a:pPr>
              <a:buNone/>
            </a:pPr>
            <a:r>
              <a:rPr lang="en-US" sz="3200">
                <a:cs typeface="+mj-cs"/>
              </a:rPr>
              <a:t>BUT！！！ there are still positive sides for us</a:t>
            </a:r>
            <a:endParaRPr lang="en-US" sz="3200">
              <a:cs typeface="+mj-cs"/>
            </a:endParaRPr>
          </a:p>
        </p:txBody>
      </p:sp>
      <p:pic>
        <p:nvPicPr>
          <p:cNvPr id="40" name="图片 10" descr="图标  AI 生成的内容可能不正确。"/>
          <p:cNvPicPr>
            <a:picLocks noChangeAspect="1"/>
          </p:cNvPicPr>
          <p:nvPr/>
        </p:nvPicPr>
        <p:blipFill>
          <a:blip r:embed="rId1" cstate="print"/>
          <a:stretch>
            <a:fillRect/>
          </a:stretch>
        </p:blipFill>
        <p:spPr>
          <a:xfrm>
            <a:off x="0" y="-74656"/>
            <a:ext cx="1556657" cy="1556657"/>
          </a:xfrm>
          <a:prstGeom prst="rect">
            <a:avLst/>
          </a:prstGeom>
        </p:spPr>
      </p:pic>
      <p:sp>
        <p:nvSpPr>
          <p:cNvPr id="41" name="矩形: 圆角 3"/>
          <p:cNvSpPr/>
          <p:nvPr/>
        </p:nvSpPr>
        <p:spPr>
          <a:xfrm>
            <a:off x="5623037" y="1002054"/>
            <a:ext cx="3591730" cy="70021"/>
          </a:xfrm>
          <a:prstGeom prst="roundRect">
            <a:avLst>
              <a:gd name="adj" fmla="val 50000"/>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2" name="矩形: 圆角 3"/>
          <p:cNvSpPr/>
          <p:nvPr/>
        </p:nvSpPr>
        <p:spPr>
          <a:xfrm>
            <a:off x="2507014" y="959489"/>
            <a:ext cx="2292863" cy="70040"/>
          </a:xfrm>
          <a:prstGeom prst="roundRect">
            <a:avLst>
              <a:gd name="adj" fmla="val 50000"/>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文本框 42"/>
          <p:cNvSpPr txBox="1"/>
          <p:nvPr/>
        </p:nvSpPr>
        <p:spPr>
          <a:xfrm>
            <a:off x="462570" y="1210450"/>
            <a:ext cx="6381750" cy="1460500"/>
          </a:xfrm>
          <a:prstGeom prst="rect">
            <a:avLst/>
          </a:prstGeom>
          <a:ln w="12700">
            <a:prstDash val="solid"/>
          </a:ln>
        </p:spPr>
        <p:txBody>
          <a:bodyPr>
            <a:spAutoFit/>
          </a:bodyPr>
          <a:p>
            <a:r>
              <a:rPr lang="en-US" sz="2400"/>
              <a:t>Global network layout: Opportunities from "Sino-US Dedicated Line</a:t>
            </a:r>
            <a:r>
              <a:rPr lang="zh-CN" sz="2400"/>
              <a:t>”</a:t>
            </a:r>
            <a:r>
              <a:rPr lang="en-US" sz="2400"/>
              <a:t> to "Global Network Weaving</a:t>
            </a:r>
            <a:r>
              <a:rPr lang="zh-CN" sz="2400"/>
              <a:t>”</a:t>
            </a:r>
            <a:r>
              <a:rPr lang="en-US" sz="2400"/>
              <a:t>
</a:t>
            </a:r>
            <a:r>
              <a:rPr lang="en-US"/>
              <a:t>
 </a:t>
            </a:r>
            <a:endParaRPr lang="en-US"/>
          </a:p>
        </p:txBody>
      </p:sp>
      <p:sp>
        <p:nvSpPr>
          <p:cNvPr id="44" name="文本框 43"/>
          <p:cNvSpPr txBox="1"/>
          <p:nvPr/>
        </p:nvSpPr>
        <p:spPr>
          <a:xfrm>
            <a:off x="323850" y="2559050"/>
            <a:ext cx="5772150" cy="1739900"/>
          </a:xfrm>
          <a:prstGeom prst="rect">
            <a:avLst/>
          </a:prstGeom>
          <a:ln w="6350">
            <a:prstDash val="solid"/>
          </a:ln>
        </p:spPr>
        <p:txBody>
          <a:bodyPr wrap="square">
            <a:spAutoFit/>
          </a:bodyPr>
          <a:lstStyle/>
          <a:p>
            <a:r>
              <a:rPr lang="zh-CN"/>
              <a:t>🌍</a:t>
            </a:r>
            <a:r>
              <a:rPr lang="en-US"/>
              <a:t> Explore Emerging Markets
Focus on Belt and Road countries, Southeast Asia, Middle East, and Latin America.
</a:t>
            </a:r>
            <a:br/>
          </a:p>
        </p:txBody>
      </p:sp>
      <p:sp>
        <p:nvSpPr>
          <p:cNvPr id="45" name="文本框 44"/>
          <p:cNvSpPr txBox="1"/>
          <p:nvPr/>
        </p:nvSpPr>
        <p:spPr>
          <a:xfrm>
            <a:off x="540986" y="3668152"/>
            <a:ext cx="2031343" cy="2559050"/>
          </a:xfrm>
          <a:prstGeom prst="rect">
            <a:avLst/>
          </a:prstGeom>
          <a:ln w="6350">
            <a:prstDash val="solid"/>
          </a:ln>
        </p:spPr>
        <p:txBody>
          <a:bodyPr wrap="square">
            <a:spAutoFit/>
          </a:bodyPr>
          <a:lstStyle/>
          <a:p>
            <a:r>
              <a:rPr lang="en-US"/>
              <a:t>
</a:t>
            </a:r>
            <a:r>
              <a:rPr lang="zh-CN"/>
              <a:t>🚀</a:t>
            </a:r>
            <a:r>
              <a:rPr lang="en-US"/>
              <a:t> Support Chinese Brands Going Global
Offer end-to-end logistics solutions worldwide—not just single routes to the U.S.</a:t>
            </a:r>
            <a:endParaRPr lang="en-US"/>
          </a:p>
        </p:txBody>
      </p:sp>
      <p:sp>
        <p:nvSpPr>
          <p:cNvPr id="46" name="文本框 45"/>
          <p:cNvSpPr txBox="1"/>
          <p:nvPr/>
        </p:nvSpPr>
        <p:spPr>
          <a:xfrm>
            <a:off x="6361867" y="2422526"/>
            <a:ext cx="3035934" cy="2012949"/>
          </a:xfrm>
          <a:prstGeom prst="rect">
            <a:avLst/>
          </a:prstGeom>
          <a:ln w="6350">
            <a:prstDash val="solid"/>
          </a:ln>
        </p:spPr>
        <p:txBody>
          <a:bodyPr wrap="square">
            <a:spAutoFit/>
          </a:bodyPr>
          <a:lstStyle/>
          <a:p>
            <a:r>
              <a:rPr lang="zh-CN"/>
              <a:t>🕸️</a:t>
            </a:r>
            <a:r>
              <a:rPr lang="en-US"/>
              <a:t> Build a Diversified Network
Open new international routes and set up regional hubs for a stronger global logistics network.
</a:t>
            </a:r>
            <a:endParaRPr lang="en-US"/>
          </a:p>
        </p:txBody>
      </p:sp>
      <p:pic>
        <p:nvPicPr>
          <p:cNvPr id="47" name="图片 46"/>
          <p:cNvPicPr>
            <a:picLocks noChangeAspect="1"/>
          </p:cNvPicPr>
          <p:nvPr/>
        </p:nvPicPr>
        <p:blipFill>
          <a:blip r:embed="rId2"/>
          <a:stretch>
            <a:fillRect/>
          </a:stretch>
        </p:blipFill>
        <p:spPr>
          <a:xfrm>
            <a:off x="6491678" y="4114905"/>
            <a:ext cx="3008701" cy="2308775"/>
          </a:xfrm>
          <a:prstGeom prst="rect">
            <a:avLst/>
          </a:prstGeom>
        </p:spPr>
      </p:pic>
    </p:spTree>
  </p:cSld>
  <p:clrMapOvr>
    <a:masterClrMapping/>
  </p:clrMapOvr>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blinds(horizontal)">
                                      <p:cBhvr>
                                        <p:cTn id="11" dur="500"/>
                                        <p:tgtEl>
                                          <p:spTgt spid="4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iterate type="lt">
                                    <p:tmPct val="0"/>
                                  </p:iterate>
                                  <p:childTnLst>
                                    <p:set>
                                      <p:cBhvr>
                                        <p:cTn id="15" dur="1" fill="hold">
                                          <p:stCondLst>
                                            <p:cond delay="0"/>
                                          </p:stCondLst>
                                        </p:cTn>
                                        <p:tgtEl>
                                          <p:spTgt spid="44"/>
                                        </p:tgtEl>
                                        <p:attrNameLst>
                                          <p:attrName>style.visibility</p:attrName>
                                        </p:attrNameLst>
                                      </p:cBhvr>
                                      <p:to>
                                        <p:strVal val="visible"/>
                                      </p:to>
                                    </p:set>
                                    <p:animEffect transition="in" filter="wipe(down)">
                                      <p:cBhvr>
                                        <p:cTn id="16" dur="500"/>
                                        <p:tgtEl>
                                          <p:spTgt spid="44"/>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46"/>
                                        </p:tgtEl>
                                        <p:attrNameLst>
                                          <p:attrName>style.visibility</p:attrName>
                                        </p:attrNameLst>
                                      </p:cBhvr>
                                      <p:to>
                                        <p:strVal val="visible"/>
                                      </p:to>
                                    </p:set>
                                    <p:anim calcmode="lin" valueType="num">
                                      <p:cBhvr>
                                        <p:cTn id="21" dur="1000" fill="hold"/>
                                        <p:tgtEl>
                                          <p:spTgt spid="46"/>
                                        </p:tgtEl>
                                        <p:attrNameLst>
                                          <p:attrName>ppt_w</p:attrName>
                                        </p:attrNameLst>
                                      </p:cBhvr>
                                      <p:tavLst>
                                        <p:tav tm="0">
                                          <p:val>
                                            <p:strVal val="#ppt_w*0.70"/>
                                          </p:val>
                                        </p:tav>
                                        <p:tav tm="100000">
                                          <p:val>
                                            <p:strVal val="#ppt_w"/>
                                          </p:val>
                                        </p:tav>
                                      </p:tavLst>
                                    </p:anim>
                                    <p:anim calcmode="lin" valueType="num">
                                      <p:cBhvr>
                                        <p:cTn id="22" dur="1000" fill="hold"/>
                                        <p:tgtEl>
                                          <p:spTgt spid="46"/>
                                        </p:tgtEl>
                                        <p:attrNameLst>
                                          <p:attrName>ppt_h</p:attrName>
                                        </p:attrNameLst>
                                      </p:cBhvr>
                                      <p:tavLst>
                                        <p:tav tm="0">
                                          <p:val>
                                            <p:strVal val="#ppt_h"/>
                                          </p:val>
                                        </p:tav>
                                        <p:tav tm="100000">
                                          <p:val>
                                            <p:strVal val="#ppt_h"/>
                                          </p:val>
                                        </p:tav>
                                      </p:tavLst>
                                    </p:anim>
                                    <p:animEffect transition="in" filter="fade">
                                      <p:cBhvr>
                                        <p:cTn id="23" dur="1000"/>
                                        <p:tgtEl>
                                          <p:spTgt spid="46"/>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47"/>
                                        </p:tgtEl>
                                        <p:attrNameLst>
                                          <p:attrName>style.visibility</p:attrName>
                                        </p:attrNameLst>
                                      </p:cBhvr>
                                      <p:to>
                                        <p:strVal val="visible"/>
                                      </p:to>
                                    </p:set>
                                    <p:anim calcmode="lin" valueType="num">
                                      <p:cBhvr>
                                        <p:cTn id="28" dur="1000" fill="hold"/>
                                        <p:tgtEl>
                                          <p:spTgt spid="47"/>
                                        </p:tgtEl>
                                        <p:attrNameLst>
                                          <p:attrName>ppt_w</p:attrName>
                                        </p:attrNameLst>
                                      </p:cBhvr>
                                      <p:tavLst>
                                        <p:tav tm="0">
                                          <p:val>
                                            <p:strVal val="#ppt_w*0.70"/>
                                          </p:val>
                                        </p:tav>
                                        <p:tav tm="100000">
                                          <p:val>
                                            <p:strVal val="#ppt_w"/>
                                          </p:val>
                                        </p:tav>
                                      </p:tavLst>
                                    </p:anim>
                                    <p:anim calcmode="lin" valueType="num">
                                      <p:cBhvr>
                                        <p:cTn id="29" dur="1000" fill="hold"/>
                                        <p:tgtEl>
                                          <p:spTgt spid="47"/>
                                        </p:tgtEl>
                                        <p:attrNameLst>
                                          <p:attrName>ppt_h</p:attrName>
                                        </p:attrNameLst>
                                      </p:cBhvr>
                                      <p:tavLst>
                                        <p:tav tm="0">
                                          <p:val>
                                            <p:strVal val="#ppt_h"/>
                                          </p:val>
                                        </p:tav>
                                        <p:tav tm="100000">
                                          <p:val>
                                            <p:strVal val="#ppt_h"/>
                                          </p:val>
                                        </p:tav>
                                      </p:tavLst>
                                    </p:anim>
                                    <p:animEffect transition="in" filter="fade">
                                      <p:cBhvr>
                                        <p:cTn id="30" dur="1000"/>
                                        <p:tgtEl>
                                          <p:spTgt spid="47"/>
                                        </p:tgtEl>
                                      </p:cBhvr>
                                    </p:animEffect>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nodeType="clickEffect">
                                  <p:stCondLst>
                                    <p:cond delay="0"/>
                                  </p:stCondLst>
                                  <p:childTnLst>
                                    <p:set>
                                      <p:cBhvr>
                                        <p:cTn id="34" dur="1" fill="hold">
                                          <p:stCondLst>
                                            <p:cond delay="0"/>
                                          </p:stCondLst>
                                        </p:cTn>
                                        <p:tgtEl>
                                          <p:spTgt spid="45"/>
                                        </p:tgtEl>
                                        <p:attrNameLst>
                                          <p:attrName>style.visibility</p:attrName>
                                        </p:attrNameLst>
                                      </p:cBhvr>
                                      <p:to>
                                        <p:strVal val="visible"/>
                                      </p:to>
                                    </p:set>
                                    <p:anim calcmode="lin" valueType="num">
                                      <p:cBhvr>
                                        <p:cTn id="35" dur="500" fill="hold"/>
                                        <p:tgtEl>
                                          <p:spTgt spid="45"/>
                                        </p:tgtEl>
                                        <p:attrNameLst>
                                          <p:attrName>ppt_w</p:attrName>
                                        </p:attrNameLst>
                                      </p:cBhvr>
                                      <p:tavLst>
                                        <p:tav tm="0">
                                          <p:val>
                                            <p:fltVal val="0"/>
                                          </p:val>
                                        </p:tav>
                                        <p:tav tm="100000">
                                          <p:val>
                                            <p:strVal val="#ppt_w"/>
                                          </p:val>
                                        </p:tav>
                                      </p:tavLst>
                                    </p:anim>
                                    <p:anim calcmode="lin" valueType="num">
                                      <p:cBhvr>
                                        <p:cTn id="36" dur="500" fill="hold"/>
                                        <p:tgtEl>
                                          <p:spTgt spid="4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EFAF2">
            <a:alpha val="100000"/>
          </a:srgbClr>
        </a:solidFill>
        <a:effectLst/>
      </p:bgPr>
    </p:bg>
    <p:spTree>
      <p:nvGrpSpPr>
        <p:cNvPr id="48" name=""/>
        <p:cNvGrpSpPr/>
        <p:nvPr/>
      </p:nvGrpSpPr>
      <p:grpSpPr>
        <a:xfrm>
          <a:off x="0" y="0"/>
          <a:ext cx="0" cy="0"/>
          <a:chOff x="0" y="0"/>
          <a:chExt cx="0" cy="0"/>
        </a:xfrm>
      </p:grpSpPr>
      <p:sp>
        <p:nvSpPr>
          <p:cNvPr id="49" name="矩形: 圆角 4"/>
          <p:cNvSpPr/>
          <p:nvPr/>
        </p:nvSpPr>
        <p:spPr>
          <a:xfrm>
            <a:off x="1775840" y="359664"/>
            <a:ext cx="9491438" cy="1145512"/>
          </a:xfrm>
          <a:prstGeom prst="roundRect">
            <a:avLst>
              <a:gd name="adj" fmla="val 30941"/>
            </a:avLst>
          </a:prstGeom>
          <a:solidFill>
            <a:srgbClr val="E9E1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标题 1"/>
          <p:cNvSpPr>
            <a:spLocks noGrp="1"/>
          </p:cNvSpPr>
          <p:nvPr>
            <p:ph type="ctrTitle"/>
          </p:nvPr>
        </p:nvSpPr>
        <p:spPr>
          <a:xfrm>
            <a:off x="1775840" y="359664"/>
            <a:ext cx="8791664" cy="1244460"/>
          </a:xfrm>
        </p:spPr>
        <p:txBody>
          <a:bodyPr>
            <a:noAutofit/>
          </a:bodyPr>
          <a:lstStyle/>
          <a:p>
            <a:pPr>
              <a:buNone/>
            </a:pPr>
            <a:r>
              <a:rPr lang="en-US" sz="3200"/>
              <a:t>4. Regarding the increasing awareness of risks and safety in the logistics industry, people are becoming more aware of risks and safety.</a:t>
            </a:r>
            <a:endParaRPr lang="zh-CN">
              <a:latin typeface="江西拙楷"/>
              <a:ea typeface="江西拙楷"/>
              <a:cs typeface="+mj-cs"/>
            </a:endParaRPr>
          </a:p>
        </p:txBody>
      </p:sp>
      <p:sp>
        <p:nvSpPr>
          <p:cNvPr id="51" name="椭圆 8"/>
          <p:cNvSpPr/>
          <p:nvPr/>
        </p:nvSpPr>
        <p:spPr>
          <a:xfrm>
            <a:off x="8903268" y="6244067"/>
            <a:ext cx="203540" cy="171450"/>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2" name="图片 14"/>
          <p:cNvPicPr>
            <a:picLocks noChangeAspect="1"/>
          </p:cNvPicPr>
          <p:nvPr/>
        </p:nvPicPr>
        <p:blipFill>
          <a:blip r:embed="rId1"/>
          <a:stretch>
            <a:fillRect/>
          </a:stretch>
        </p:blipFill>
        <p:spPr>
          <a:xfrm>
            <a:off x="575853" y="359664"/>
            <a:ext cx="917481" cy="973240"/>
          </a:xfrm>
          <a:prstGeom prst="rect">
            <a:avLst/>
          </a:prstGeom>
        </p:spPr>
      </p:pic>
      <p:sp>
        <p:nvSpPr>
          <p:cNvPr id="53" name="矩形: 圆角 3"/>
          <p:cNvSpPr/>
          <p:nvPr/>
        </p:nvSpPr>
        <p:spPr>
          <a:xfrm>
            <a:off x="4861827" y="650728"/>
            <a:ext cx="4691448" cy="109918"/>
          </a:xfrm>
          <a:prstGeom prst="roundRect">
            <a:avLst>
              <a:gd name="adj" fmla="val 50000"/>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矩形: 圆角 3"/>
          <p:cNvSpPr/>
          <p:nvPr/>
        </p:nvSpPr>
        <p:spPr>
          <a:xfrm>
            <a:off x="3626497" y="1549164"/>
            <a:ext cx="2335009" cy="109918"/>
          </a:xfrm>
          <a:prstGeom prst="roundRect">
            <a:avLst>
              <a:gd name="adj" fmla="val 50000"/>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文本框 54"/>
          <p:cNvSpPr txBox="1"/>
          <p:nvPr/>
        </p:nvSpPr>
        <p:spPr>
          <a:xfrm>
            <a:off x="2066128" y="4243817"/>
            <a:ext cx="8890000" cy="1828800"/>
          </a:xfrm>
          <a:prstGeom prst="rect">
            <a:avLst/>
          </a:prstGeom>
          <a:ln w="6350">
            <a:prstDash val="solid"/>
          </a:ln>
        </p:spPr>
        <p:txBody>
          <a:bodyPr wrap="square">
            <a:spAutoFit/>
          </a:bodyPr>
          <a:lstStyle/>
          <a:p>
            <a:br/>
            <a:r>
              <a:rPr lang="en-US"/>
              <a:t>
</a:t>
            </a:r>
            <a:r>
              <a:rPr lang="en-US" sz="2400"/>
              <a:t>(</a:t>
            </a:r>
            <a:r>
              <a:rPr lang="en-US" sz="2400"/>
              <a:t>3) Deploy firewalls to strengthen network security training to protect customer privacy and security
</a:t>
            </a:r>
            <a:endParaRPr lang="en-US" sz="2400"/>
          </a:p>
        </p:txBody>
      </p:sp>
      <p:sp>
        <p:nvSpPr>
          <p:cNvPr id="56" name="文本框 55"/>
          <p:cNvSpPr txBox="1"/>
          <p:nvPr/>
        </p:nvSpPr>
        <p:spPr>
          <a:xfrm>
            <a:off x="901560" y="1505176"/>
            <a:ext cx="1358900" cy="457200"/>
          </a:xfrm>
          <a:prstGeom prst="rect">
            <a:avLst/>
          </a:prstGeom>
          <a:ln w="6350">
            <a:prstDash val="solid"/>
          </a:ln>
        </p:spPr>
        <p:txBody>
          <a:bodyPr wrap="none">
            <a:spAutoFit/>
          </a:bodyPr>
          <a:p>
            <a:r>
              <a:rPr lang="en-US" sz="2400" b="1"/>
              <a:t>impact</a:t>
            </a:r>
            <a:r>
              <a:rPr lang="zh-CN" sz="2400" b="1"/>
              <a:t>：</a:t>
            </a:r>
            <a:endParaRPr lang="zh-CN" sz="2400" b="1"/>
          </a:p>
        </p:txBody>
      </p:sp>
      <p:sp>
        <p:nvSpPr>
          <p:cNvPr id="57" name="文本框 56"/>
          <p:cNvSpPr txBox="1"/>
          <p:nvPr/>
        </p:nvSpPr>
        <p:spPr>
          <a:xfrm>
            <a:off x="2069572" y="1594076"/>
            <a:ext cx="2336800" cy="368300"/>
          </a:xfrm>
          <a:prstGeom prst="rect">
            <a:avLst/>
          </a:prstGeom>
          <a:ln w="6350">
            <a:prstDash val="solid"/>
          </a:ln>
        </p:spPr>
        <p:txBody>
          <a:bodyPr wrap="square">
            <a:spAutoFit/>
          </a:bodyPr>
          <a:lstStyle/>
          <a:p>
            <a:r>
              <a:rPr lang="en-US" b="1"/>
              <a:t>?   ?   ?   ?</a:t>
            </a:r>
            <a:endParaRPr lang="en-US" b="1"/>
          </a:p>
        </p:txBody>
      </p:sp>
      <p:sp>
        <p:nvSpPr>
          <p:cNvPr id="58" name="文本框 57"/>
          <p:cNvSpPr txBox="1"/>
          <p:nvPr/>
        </p:nvSpPr>
        <p:spPr>
          <a:xfrm>
            <a:off x="2069572" y="1594076"/>
            <a:ext cx="8204200" cy="368300"/>
          </a:xfrm>
          <a:prstGeom prst="rect">
            <a:avLst/>
          </a:prstGeom>
          <a:ln w="6350">
            <a:prstDash val="solid"/>
          </a:ln>
        </p:spPr>
        <p:txBody>
          <a:bodyPr wrap="none">
            <a:spAutoFit/>
          </a:bodyPr>
          <a:p>
            <a:r>
              <a:rPr lang="en-US"/>
              <a:t>Customers are demanding higher logistics quality standards. Operating costs are rising.</a:t>
            </a:r>
            <a:endParaRPr lang="en-US"/>
          </a:p>
        </p:txBody>
      </p:sp>
      <p:sp>
        <p:nvSpPr>
          <p:cNvPr id="59" name="文本框 58"/>
          <p:cNvSpPr txBox="1"/>
          <p:nvPr/>
        </p:nvSpPr>
        <p:spPr>
          <a:xfrm>
            <a:off x="999985" y="2331591"/>
            <a:ext cx="1162050" cy="368300"/>
          </a:xfrm>
          <a:prstGeom prst="rect">
            <a:avLst/>
          </a:prstGeom>
          <a:ln w="6350">
            <a:prstDash val="solid"/>
          </a:ln>
        </p:spPr>
        <p:txBody>
          <a:bodyPr wrap="none">
            <a:spAutoFit/>
          </a:bodyPr>
          <a:p>
            <a:r>
              <a:rPr lang="en-US"/>
              <a:t>solution</a:t>
            </a:r>
            <a:r>
              <a:rPr lang="zh-CN"/>
              <a:t>：</a:t>
            </a:r>
            <a:endParaRPr lang="zh-CN"/>
          </a:p>
        </p:txBody>
      </p:sp>
      <p:sp>
        <p:nvSpPr>
          <p:cNvPr id="60" name="文本框 59"/>
          <p:cNvSpPr txBox="1"/>
          <p:nvPr/>
        </p:nvSpPr>
        <p:spPr>
          <a:xfrm>
            <a:off x="2069572" y="2154705"/>
            <a:ext cx="8112759" cy="1187450"/>
          </a:xfrm>
          <a:prstGeom prst="rect">
            <a:avLst/>
          </a:prstGeom>
          <a:ln w="6350">
            <a:prstDash val="solid"/>
          </a:ln>
        </p:spPr>
        <p:txBody>
          <a:bodyPr wrap="square">
            <a:spAutoFit/>
          </a:bodyPr>
          <a:lstStyle/>
          <a:p>
            <a:pPr marL="342900" indent="-342900">
              <a:buAutoNum type="arabicParenBoth"/>
            </a:pPr>
            <a:r>
              <a:rPr lang="en-US" sz="2400"/>
              <a:t>For example, large logistics companies such as SF express and</a:t>
            </a:r>
            <a:endParaRPr lang="en-US" sz="2400"/>
          </a:p>
          <a:p>
            <a:pPr indent="0">
              <a:buNone/>
            </a:pPr>
            <a:r>
              <a:rPr lang="en-US" sz="2400"/>
              <a:t> DHL have passed TAPA certification to obtain high-end customer groups.</a:t>
            </a:r>
            <a:endParaRPr lang="en-US" sz="2400"/>
          </a:p>
        </p:txBody>
      </p:sp>
      <p:sp>
        <p:nvSpPr>
          <p:cNvPr id="61" name="文本框 60"/>
          <p:cNvSpPr txBox="1"/>
          <p:nvPr/>
        </p:nvSpPr>
        <p:spPr>
          <a:xfrm>
            <a:off x="2066128" y="3325347"/>
            <a:ext cx="9201150" cy="1555750"/>
          </a:xfrm>
          <a:prstGeom prst="rect">
            <a:avLst/>
          </a:prstGeom>
          <a:ln w="6350">
            <a:prstDash val="solid"/>
          </a:ln>
        </p:spPr>
        <p:txBody>
          <a:bodyPr wrap="square">
            <a:spAutoFit/>
          </a:bodyPr>
          <a:lstStyle/>
          <a:p>
            <a:r>
              <a:rPr lang="en-US" sz="2400"/>
              <a:t>(2</a:t>
            </a:r>
            <a:r>
              <a:rPr lang="en-US" sz="2400"/>
              <a:t>)</a:t>
            </a:r>
            <a:r>
              <a:rPr lang="en-US" sz="2400"/>
              <a:t>Using digital tools like AI analytics and IoT tracking enables real-time visibility into goods' safety. For instance, SF Express equips high-value shipments with smart tags that monitor not only location but also temperature, humidity, vibration, and light exposure.</a:t>
            </a:r>
            <a:endParaRPr lang="en-US" sz="2400"/>
          </a:p>
        </p:txBody>
      </p:sp>
    </p:spTree>
  </p:cSld>
  <p:clrMapOvr>
    <a:masterClrMapping/>
  </p:clrMapOvr>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1000"/>
                                        <p:tgtEl>
                                          <p:spTgt spid="50"/>
                                        </p:tgtEl>
                                      </p:cBhvr>
                                    </p:animEffect>
                                    <p:anim calcmode="lin" valueType="num">
                                      <p:cBhvr>
                                        <p:cTn id="8" dur="1000" fill="hold"/>
                                        <p:tgtEl>
                                          <p:spTgt spid="50"/>
                                        </p:tgtEl>
                                        <p:attrNameLst>
                                          <p:attrName>ppt_x</p:attrName>
                                        </p:attrNameLst>
                                      </p:cBhvr>
                                      <p:tavLst>
                                        <p:tav tm="0">
                                          <p:val>
                                            <p:strVal val="#ppt_x"/>
                                          </p:val>
                                        </p:tav>
                                        <p:tav tm="100000">
                                          <p:val>
                                            <p:strVal val="#ppt_x"/>
                                          </p:val>
                                        </p:tav>
                                      </p:tavLst>
                                    </p:anim>
                                    <p:anim calcmode="lin" valueType="num">
                                      <p:cBhvr>
                                        <p:cTn id="9" dur="900" decel="100000" fill="hold"/>
                                        <p:tgtEl>
                                          <p:spTgt spid="50"/>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50"/>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fade">
                                      <p:cBhvr>
                                        <p:cTn id="15" dur="1000"/>
                                        <p:tgtEl>
                                          <p:spTgt spid="56"/>
                                        </p:tgtEl>
                                      </p:cBhvr>
                                    </p:animEffect>
                                    <p:anim calcmode="lin" valueType="num">
                                      <p:cBhvr>
                                        <p:cTn id="16" dur="1000" fill="hold"/>
                                        <p:tgtEl>
                                          <p:spTgt spid="56"/>
                                        </p:tgtEl>
                                        <p:attrNameLst>
                                          <p:attrName>ppt_x</p:attrName>
                                        </p:attrNameLst>
                                      </p:cBhvr>
                                      <p:tavLst>
                                        <p:tav tm="0">
                                          <p:val>
                                            <p:strVal val="#ppt_x"/>
                                          </p:val>
                                        </p:tav>
                                        <p:tav tm="100000">
                                          <p:val>
                                            <p:strVal val="#ppt_x"/>
                                          </p:val>
                                        </p:tav>
                                      </p:tavLst>
                                    </p:anim>
                                    <p:anim calcmode="lin" valueType="num">
                                      <p:cBhvr>
                                        <p:cTn id="17"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nodeType="clickEffect">
                                  <p:stCondLst>
                                    <p:cond delay="0"/>
                                  </p:stCondLst>
                                  <p:childTnLst>
                                    <p:set>
                                      <p:cBhvr>
                                        <p:cTn id="21" dur="1" fill="hold">
                                          <p:stCondLst>
                                            <p:cond delay="0"/>
                                          </p:stCondLst>
                                        </p:cTn>
                                        <p:tgtEl>
                                          <p:spTgt spid="57"/>
                                        </p:tgtEl>
                                        <p:attrNameLst>
                                          <p:attrName>style.visibility</p:attrName>
                                        </p:attrNameLst>
                                      </p:cBhvr>
                                      <p:to>
                                        <p:strVal val="visible"/>
                                      </p:to>
                                    </p:set>
                                    <p:anim calcmode="lin" valueType="num">
                                      <p:cBhvr>
                                        <p:cTn id="22" dur="500" fill="hold"/>
                                        <p:tgtEl>
                                          <p:spTgt spid="57"/>
                                        </p:tgtEl>
                                        <p:attrNameLst>
                                          <p:attrName>ppt_w</p:attrName>
                                        </p:attrNameLst>
                                      </p:cBhvr>
                                      <p:tavLst>
                                        <p:tav tm="0">
                                          <p:val>
                                            <p:fltVal val="0"/>
                                          </p:val>
                                        </p:tav>
                                        <p:tav tm="100000">
                                          <p:val>
                                            <p:strVal val="#ppt_w"/>
                                          </p:val>
                                        </p:tav>
                                      </p:tavLst>
                                    </p:anim>
                                    <p:anim calcmode="lin" valueType="num">
                                      <p:cBhvr>
                                        <p:cTn id="23" dur="500" fill="hold"/>
                                        <p:tgtEl>
                                          <p:spTgt spid="57"/>
                                        </p:tgtEl>
                                        <p:attrNameLst>
                                          <p:attrName>ppt_h</p:attrName>
                                        </p:attrNameLst>
                                      </p:cBhvr>
                                      <p:tavLst>
                                        <p:tav tm="0">
                                          <p:val>
                                            <p:fltVal val="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9" presetClass="exit" presetSubtype="0" fill="hold" grpId="1" nodeType="clickEffect">
                                  <p:stCondLst>
                                    <p:cond delay="0"/>
                                  </p:stCondLst>
                                  <p:childTnLst>
                                    <p:animEffect transition="out" filter="dissolve">
                                      <p:cBhvr>
                                        <p:cTn id="27" dur="100"/>
                                        <p:tgtEl>
                                          <p:spTgt spid="57"/>
                                        </p:tgtEl>
                                      </p:cBhvr>
                                    </p:animEffect>
                                    <p:set>
                                      <p:cBhvr>
                                        <p:cTn id="28" dur="1" fill="hold">
                                          <p:stCondLst>
                                            <p:cond delay="499"/>
                                          </p:stCondLst>
                                        </p:cTn>
                                        <p:tgtEl>
                                          <p:spTgt spid="57"/>
                                        </p:tgtEl>
                                        <p:attrNameLst>
                                          <p:attrName>style.visibility</p:attrName>
                                        </p:attrNameLst>
                                      </p:cBhvr>
                                      <p:to>
                                        <p:strVal val="hidden"/>
                                      </p:to>
                                    </p:set>
                                  </p:childTnLst>
                                </p:cTn>
                              </p:par>
                            </p:childTnLst>
                          </p:cTn>
                        </p:par>
                        <p:par>
                          <p:cTn id="29" fill="hold">
                            <p:stCondLst>
                              <p:cond delay="500"/>
                            </p:stCondLst>
                            <p:childTnLst>
                              <p:par>
                                <p:cTn id="30" presetID="9" presetClass="entr" presetSubtype="0" fill="hold" grpId="0" nodeType="afterEffect">
                                  <p:stCondLst>
                                    <p:cond delay="0"/>
                                  </p:stCondLst>
                                  <p:childTnLst>
                                    <p:set>
                                      <p:cBhvr>
                                        <p:cTn id="31" dur="1" fill="hold">
                                          <p:stCondLst>
                                            <p:cond delay="0"/>
                                          </p:stCondLst>
                                        </p:cTn>
                                        <p:tgtEl>
                                          <p:spTgt spid="58"/>
                                        </p:tgtEl>
                                        <p:attrNameLst>
                                          <p:attrName>style.visibility</p:attrName>
                                        </p:attrNameLst>
                                      </p:cBhvr>
                                      <p:to>
                                        <p:strVal val="visible"/>
                                      </p:to>
                                    </p:set>
                                    <p:animEffect transition="in" filter="dissolve">
                                      <p:cBhvr>
                                        <p:cTn id="32" dur="500"/>
                                        <p:tgtEl>
                                          <p:spTgt spid="58"/>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59"/>
                                        </p:tgtEl>
                                        <p:attrNameLst>
                                          <p:attrName>style.visibility</p:attrName>
                                        </p:attrNameLst>
                                      </p:cBhvr>
                                      <p:to>
                                        <p:strVal val="visible"/>
                                      </p:to>
                                    </p:set>
                                    <p:animEffect transition="in" filter="checkerboard(across)">
                                      <p:cBhvr>
                                        <p:cTn id="37" dur="500"/>
                                        <p:tgtEl>
                                          <p:spTgt spid="59"/>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60"/>
                                        </p:tgtEl>
                                        <p:attrNameLst>
                                          <p:attrName>style.visibility</p:attrName>
                                        </p:attrNameLst>
                                      </p:cBhvr>
                                      <p:to>
                                        <p:strVal val="visible"/>
                                      </p:to>
                                    </p:set>
                                    <p:animEffect transition="in" filter="fade">
                                      <p:cBhvr>
                                        <p:cTn id="42" dur="1000"/>
                                        <p:tgtEl>
                                          <p:spTgt spid="60"/>
                                        </p:tgtEl>
                                      </p:cBhvr>
                                    </p:animEffect>
                                    <p:anim calcmode="lin" valueType="num">
                                      <p:cBhvr>
                                        <p:cTn id="43" dur="1000" fill="hold"/>
                                        <p:tgtEl>
                                          <p:spTgt spid="60"/>
                                        </p:tgtEl>
                                        <p:attrNameLst>
                                          <p:attrName>ppt_x</p:attrName>
                                        </p:attrNameLst>
                                      </p:cBhvr>
                                      <p:tavLst>
                                        <p:tav tm="0">
                                          <p:val>
                                            <p:strVal val="#ppt_x"/>
                                          </p:val>
                                        </p:tav>
                                        <p:tav tm="100000">
                                          <p:val>
                                            <p:strVal val="#ppt_x"/>
                                          </p:val>
                                        </p:tav>
                                      </p:tavLst>
                                    </p:anim>
                                    <p:anim calcmode="lin" valueType="num">
                                      <p:cBhvr>
                                        <p:cTn id="44"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61"/>
                                        </p:tgtEl>
                                        <p:attrNameLst>
                                          <p:attrName>style.visibility</p:attrName>
                                        </p:attrNameLst>
                                      </p:cBhvr>
                                      <p:to>
                                        <p:strVal val="visible"/>
                                      </p:to>
                                    </p:set>
                                    <p:animEffect transition="in" filter="fade">
                                      <p:cBhvr>
                                        <p:cTn id="49" dur="1000"/>
                                        <p:tgtEl>
                                          <p:spTgt spid="61"/>
                                        </p:tgtEl>
                                      </p:cBhvr>
                                    </p:animEffect>
                                    <p:anim calcmode="lin" valueType="num">
                                      <p:cBhvr>
                                        <p:cTn id="50" dur="1000" fill="hold"/>
                                        <p:tgtEl>
                                          <p:spTgt spid="61"/>
                                        </p:tgtEl>
                                        <p:attrNameLst>
                                          <p:attrName>ppt_x</p:attrName>
                                        </p:attrNameLst>
                                      </p:cBhvr>
                                      <p:tavLst>
                                        <p:tav tm="0">
                                          <p:val>
                                            <p:strVal val="#ppt_x"/>
                                          </p:val>
                                        </p:tav>
                                        <p:tav tm="100000">
                                          <p:val>
                                            <p:strVal val="#ppt_x"/>
                                          </p:val>
                                        </p:tav>
                                      </p:tavLst>
                                    </p:anim>
                                    <p:anim calcmode="lin" valueType="num">
                                      <p:cBhvr>
                                        <p:cTn id="51"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55"/>
                                        </p:tgtEl>
                                        <p:attrNameLst>
                                          <p:attrName>style.visibility</p:attrName>
                                        </p:attrNameLst>
                                      </p:cBhvr>
                                      <p:to>
                                        <p:strVal val="visible"/>
                                      </p:to>
                                    </p:set>
                                    <p:animEffect transition="in" filter="fade">
                                      <p:cBhvr>
                                        <p:cTn id="56" dur="1000"/>
                                        <p:tgtEl>
                                          <p:spTgt spid="55"/>
                                        </p:tgtEl>
                                      </p:cBhvr>
                                    </p:animEffect>
                                    <p:anim calcmode="lin" valueType="num">
                                      <p:cBhvr>
                                        <p:cTn id="57" dur="1000" fill="hold"/>
                                        <p:tgtEl>
                                          <p:spTgt spid="55"/>
                                        </p:tgtEl>
                                        <p:attrNameLst>
                                          <p:attrName>ppt_x</p:attrName>
                                        </p:attrNameLst>
                                      </p:cBhvr>
                                      <p:tavLst>
                                        <p:tav tm="0">
                                          <p:val>
                                            <p:strVal val="#ppt_x"/>
                                          </p:val>
                                        </p:tav>
                                        <p:tav tm="100000">
                                          <p:val>
                                            <p:strVal val="#ppt_x"/>
                                          </p:val>
                                        </p:tav>
                                      </p:tavLst>
                                    </p:anim>
                                    <p:anim calcmode="lin" valueType="num">
                                      <p:cBhvr>
                                        <p:cTn id="58"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EFAF2"/>
        </a:solidFill>
        <a:effectLst/>
      </p:bgPr>
    </p:bg>
    <p:spTree>
      <p:nvGrpSpPr>
        <p:cNvPr id="62" name=""/>
        <p:cNvGrpSpPr/>
        <p:nvPr/>
      </p:nvGrpSpPr>
      <p:grpSpPr>
        <a:xfrm>
          <a:off x="0" y="0"/>
          <a:ext cx="0" cy="0"/>
          <a:chOff x="0" y="0"/>
          <a:chExt cx="0" cy="0"/>
        </a:xfrm>
      </p:grpSpPr>
      <p:sp>
        <p:nvSpPr>
          <p:cNvPr id="63" name="矩形: 圆角 12"/>
          <p:cNvSpPr/>
          <p:nvPr/>
        </p:nvSpPr>
        <p:spPr>
          <a:xfrm>
            <a:off x="7198009" y="1976024"/>
            <a:ext cx="1957388" cy="79375"/>
          </a:xfrm>
          <a:prstGeom prst="roundRect">
            <a:avLst>
              <a:gd name="adj" fmla="val 50000"/>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4" name="标题 1"/>
          <p:cNvSpPr txBox="1"/>
          <p:nvPr/>
        </p:nvSpPr>
        <p:spPr>
          <a:xfrm>
            <a:off x="2432899" y="1756499"/>
            <a:ext cx="3632489" cy="1075917"/>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buNone/>
            </a:pPr>
            <a:endParaRPr lang="en-US" sz="4800">
              <a:latin typeface="江西拙楷"/>
              <a:ea typeface="江西拙楷"/>
              <a:cs typeface="+mj-cs"/>
            </a:endParaRPr>
          </a:p>
          <a:p>
            <a:pPr>
              <a:buNone/>
            </a:pPr>
            <a:r>
              <a:rPr lang="en-US" sz="3200">
                <a:latin typeface="+mn-lt"/>
                <a:ea typeface="+mn-ea"/>
                <a:cs typeface="+mn-cs"/>
              </a:rPr>
              <a:t>our company</a:t>
            </a:r>
            <a:endParaRPr lang="en-US" sz="3200">
              <a:latin typeface="+mn-lt"/>
              <a:ea typeface="+mn-ea"/>
              <a:cs typeface="+mn-cs"/>
            </a:endParaRPr>
          </a:p>
        </p:txBody>
      </p:sp>
      <p:sp>
        <p:nvSpPr>
          <p:cNvPr id="65" name="标题 1"/>
          <p:cNvSpPr txBox="1"/>
          <p:nvPr/>
        </p:nvSpPr>
        <p:spPr>
          <a:xfrm>
            <a:off x="7130180" y="2407288"/>
            <a:ext cx="2538285" cy="47643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buNone/>
            </a:pPr>
            <a:r>
              <a:rPr lang="en-US" sz="1800">
                <a:latin typeface="+mn-lt"/>
                <a:ea typeface="+mn-ea"/>
                <a:cs typeface="+mn-cs"/>
              </a:rPr>
              <a:t>but we have solutions</a:t>
            </a:r>
            <a:endParaRPr lang="en-US" sz="1800">
              <a:latin typeface="+mn-lt"/>
              <a:ea typeface="+mn-ea"/>
              <a:cs typeface="+mn-cs"/>
            </a:endParaRPr>
          </a:p>
        </p:txBody>
      </p:sp>
      <p:sp>
        <p:nvSpPr>
          <p:cNvPr id="66" name="标题 1"/>
          <p:cNvSpPr txBox="1"/>
          <p:nvPr/>
        </p:nvSpPr>
        <p:spPr>
          <a:xfrm>
            <a:off x="7031870" y="3235168"/>
            <a:ext cx="2538269" cy="476440"/>
          </a:xfrm>
          <a:prstGeom prst="rect">
            <a:avLst/>
          </a:prstGeom>
        </p:spPr>
        <p:txBody>
          <a:bodyPr vert="horz" lIns="91440" tIns="45720" rIns="91440" bIns="45720" rtlCol="0" anchor="b">
            <a:normAutofit fontScale="6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buNone/>
            </a:pPr>
            <a:r>
              <a:rPr lang="en-US" sz="3000">
                <a:latin typeface="+mn-lt"/>
                <a:ea typeface="江西拙楷"/>
                <a:cs typeface="+mn-lt"/>
              </a:rPr>
              <a:t>And many opportunities</a:t>
            </a:r>
            <a:endParaRPr lang="en-US" sz="3000">
              <a:latin typeface="+mn-lt"/>
              <a:ea typeface="江西拙楷"/>
              <a:cs typeface="+mn-lt"/>
            </a:endParaRPr>
          </a:p>
        </p:txBody>
      </p:sp>
      <p:pic>
        <p:nvPicPr>
          <p:cNvPr id="67" name="图片 2" descr="徽标  AI 生成的内容可能不正确。"/>
          <p:cNvPicPr>
            <a:picLocks noChangeAspect="1"/>
          </p:cNvPicPr>
          <p:nvPr/>
        </p:nvPicPr>
        <p:blipFill>
          <a:blip r:embed="rId1" cstate="print"/>
          <a:stretch>
            <a:fillRect/>
          </a:stretch>
        </p:blipFill>
        <p:spPr>
          <a:xfrm>
            <a:off x="1101183" y="1681781"/>
            <a:ext cx="1775097" cy="1775097"/>
          </a:xfrm>
          <a:prstGeom prst="rect">
            <a:avLst/>
          </a:prstGeom>
        </p:spPr>
      </p:pic>
      <p:pic>
        <p:nvPicPr>
          <p:cNvPr id="68" name="图片 1"/>
          <p:cNvPicPr>
            <a:picLocks noChangeAspect="1"/>
          </p:cNvPicPr>
          <p:nvPr/>
        </p:nvPicPr>
        <p:blipFill>
          <a:blip r:embed="rId2"/>
          <a:srcRect l="33410" t="28272" r="60000" b="28878"/>
          <a:stretch>
            <a:fillRect/>
          </a:stretch>
        </p:blipFill>
        <p:spPr>
          <a:xfrm>
            <a:off x="5865225" y="861572"/>
            <a:ext cx="803564" cy="3256767"/>
          </a:xfrm>
          <a:prstGeom prst="rect">
            <a:avLst/>
          </a:prstGeom>
        </p:spPr>
      </p:pic>
      <p:pic>
        <p:nvPicPr>
          <p:cNvPr id="69" name="图片 3"/>
          <p:cNvPicPr>
            <a:picLocks noChangeAspect="1"/>
          </p:cNvPicPr>
          <p:nvPr/>
        </p:nvPicPr>
        <p:blipFill>
          <a:blip r:embed="rId2"/>
          <a:srcRect l="56499" t="40358" r="38074" b="56491"/>
          <a:stretch>
            <a:fillRect/>
          </a:stretch>
        </p:blipFill>
        <p:spPr>
          <a:xfrm>
            <a:off x="6267007" y="2620611"/>
            <a:ext cx="661554" cy="216003"/>
          </a:xfrm>
          <a:prstGeom prst="rect">
            <a:avLst/>
          </a:prstGeom>
        </p:spPr>
      </p:pic>
      <p:sp>
        <p:nvSpPr>
          <p:cNvPr id="70" name="文本框 69"/>
          <p:cNvSpPr txBox="1"/>
          <p:nvPr/>
        </p:nvSpPr>
        <p:spPr>
          <a:xfrm>
            <a:off x="590550" y="4204684"/>
            <a:ext cx="11601450" cy="2590800"/>
          </a:xfrm>
          <a:prstGeom prst="rect">
            <a:avLst/>
          </a:prstGeom>
          <a:ln w="6350">
            <a:prstDash val="solid"/>
          </a:ln>
        </p:spPr>
        <p:txBody>
          <a:bodyPr wrap="square">
            <a:spAutoFit/>
          </a:bodyPr>
          <a:lstStyle/>
          <a:p>
            <a:r>
              <a:rPr lang="en-US" sz="2800" i="1">
                <a:highlight>
                  <a:srgbClr val="C7ECFF">
                    <a:alpha val="100000"/>
                  </a:srgbClr>
                </a:highlight>
                <a:latin typeface="Century Gothic" panose="020B0502020202020204"/>
                <a:ea typeface="Century Gothic" panose="020B0502020202020204"/>
                <a:cs typeface="+mn-cs"/>
              </a:rPr>
              <a:t>As a logistic company </a:t>
            </a:r>
            <a:endParaRPr lang="en-US" sz="2800" i="1">
              <a:highlight>
                <a:srgbClr val="C7ECFF">
                  <a:alpha val="100000"/>
                </a:srgbClr>
              </a:highlight>
              <a:latin typeface="Century Gothic" panose="020B0502020202020204"/>
              <a:ea typeface="Century Gothic" panose="020B0502020202020204"/>
              <a:cs typeface="+mn-cs"/>
            </a:endParaRPr>
          </a:p>
          <a:p>
            <a:r>
              <a:rPr lang="en-US" sz="2400" i="1">
                <a:highlight>
                  <a:srgbClr val="C7ECFF">
                    <a:alpha val="100000"/>
                  </a:srgbClr>
                </a:highlight>
                <a:latin typeface="Century Gothic" panose="020B0502020202020204"/>
                <a:ea typeface="Century Gothic" panose="020B0502020202020204"/>
                <a:cs typeface="+mn-cs"/>
              </a:rPr>
              <a:t>First,</a:t>
            </a:r>
            <a:r>
              <a:rPr lang="en-US" i="1">
                <a:highlight>
                  <a:srgbClr val="C7ECFF">
                    <a:alpha val="100000"/>
                  </a:srgbClr>
                </a:highlight>
                <a:latin typeface="Century Gothic" panose="020B0502020202020204"/>
                <a:ea typeface="Century Gothic" panose="020B0502020202020204"/>
                <a:cs typeface="+mn-cs"/>
              </a:rPr>
              <a:t> we should reach out to the needs of all over the world, expand business and markets, and diversified market windows</a:t>
            </a:r>
            <a:endParaRPr lang="en-US" i="1">
              <a:highlight>
                <a:srgbClr val="C7ECFF">
                  <a:alpha val="100000"/>
                </a:srgbClr>
              </a:highlight>
              <a:latin typeface="Century Gothic" panose="020B0502020202020204"/>
              <a:ea typeface="Century Gothic" panose="020B0502020202020204"/>
              <a:cs typeface="+mn-cs"/>
            </a:endParaRPr>
          </a:p>
          <a:p>
            <a:r>
              <a:rPr lang="en-US" sz="2400" i="1">
                <a:highlight>
                  <a:srgbClr val="C7ECFF">
                    <a:alpha val="100000"/>
                  </a:srgbClr>
                </a:highlight>
                <a:latin typeface="Century Gothic" panose="020B0502020202020204"/>
                <a:ea typeface="Century Gothic" panose="020B0502020202020204"/>
                <a:cs typeface="+mn-cs"/>
              </a:rPr>
              <a:t>Second</a:t>
            </a:r>
            <a:r>
              <a:rPr lang="en-US" i="1">
                <a:highlight>
                  <a:srgbClr val="C7ECFF">
                    <a:alpha val="100000"/>
                  </a:srgbClr>
                </a:highlight>
                <a:latin typeface="Century Gothic" panose="020B0502020202020204"/>
                <a:ea typeface="Century Gothic" panose="020B0502020202020204"/>
                <a:cs typeface="+mn-cs"/>
              </a:rPr>
              <a:t>, prioritizing timeliness and delivering service with utmost sincerity. </a:t>
            </a:r>
            <a:endParaRPr lang="en-US" i="1">
              <a:highlight>
                <a:srgbClr val="C7ECFF">
                  <a:alpha val="100000"/>
                </a:srgbClr>
              </a:highlight>
              <a:latin typeface="Century Gothic" panose="020B0502020202020204"/>
              <a:ea typeface="Century Gothic" panose="020B0502020202020204"/>
              <a:cs typeface="+mn-cs"/>
            </a:endParaRPr>
          </a:p>
          <a:p>
            <a:r>
              <a:rPr lang="en-US" sz="2400" i="1">
                <a:highlight>
                  <a:srgbClr val="C7ECFF">
                    <a:alpha val="100000"/>
                  </a:srgbClr>
                </a:highlight>
                <a:latin typeface="Century Gothic" panose="020B0502020202020204"/>
                <a:ea typeface="Century Gothic" panose="020B0502020202020204"/>
                <a:cs typeface="+mn-cs"/>
              </a:rPr>
              <a:t>Third</a:t>
            </a:r>
            <a:r>
              <a:rPr lang="en-US" i="1">
                <a:highlight>
                  <a:srgbClr val="C7ECFF">
                    <a:alpha val="100000"/>
                  </a:srgbClr>
                </a:highlight>
                <a:latin typeface="Century Gothic" panose="020B0502020202020204"/>
                <a:ea typeface="Century Gothic" panose="020B0502020202020204"/>
                <a:cs typeface="+mn-cs"/>
              </a:rPr>
              <a:t>,we can expand our business horizons such as transforming into </a:t>
            </a:r>
            <a:r>
              <a:rPr lang="zh-CN" i="1">
                <a:highlight>
                  <a:srgbClr val="C7ECFF">
                    <a:alpha val="100000"/>
                  </a:srgbClr>
                </a:highlight>
                <a:latin typeface="Century Gothic" panose="020B0502020202020204"/>
                <a:ea typeface="Century Gothic" panose="020B0502020202020204"/>
                <a:cs typeface="+mn-cs"/>
              </a:rPr>
              <a:t>“</a:t>
            </a:r>
            <a:r>
              <a:rPr lang="en-US" i="1">
                <a:highlight>
                  <a:srgbClr val="C7ECFF">
                    <a:alpha val="100000"/>
                  </a:srgbClr>
                </a:highlight>
                <a:latin typeface="Century Gothic" panose="020B0502020202020204"/>
                <a:ea typeface="Century Gothic" panose="020B0502020202020204"/>
                <a:cs typeface="+mn-cs"/>
              </a:rPr>
              <a:t>supply chain consultants</a:t>
            </a:r>
            <a:r>
              <a:rPr lang="zh-CN" i="1">
                <a:highlight>
                  <a:srgbClr val="C7ECFF">
                    <a:alpha val="100000"/>
                  </a:srgbClr>
                </a:highlight>
                <a:latin typeface="Century Gothic" panose="020B0502020202020204"/>
                <a:ea typeface="Century Gothic" panose="020B0502020202020204"/>
                <a:cs typeface="+mn-cs"/>
              </a:rPr>
              <a:t>”</a:t>
            </a:r>
            <a:r>
              <a:rPr lang="en-US" i="1">
                <a:highlight>
                  <a:srgbClr val="C7ECFF">
                    <a:alpha val="100000"/>
                  </a:srgbClr>
                </a:highlight>
                <a:latin typeface="Century Gothic" panose="020B0502020202020204"/>
                <a:ea typeface="Century Gothic" panose="020B0502020202020204"/>
                <a:cs typeface="+mn-cs"/>
              </a:rPr>
              <a:t> for customers.</a:t>
            </a:r>
            <a:endParaRPr lang="en-US" i="1">
              <a:highlight>
                <a:srgbClr val="C7ECFF">
                  <a:alpha val="100000"/>
                </a:srgbClr>
              </a:highlight>
              <a:latin typeface="Century Gothic" panose="020B0502020202020204"/>
              <a:ea typeface="Century Gothic" panose="020B0502020202020204"/>
              <a:cs typeface="+mn-cs"/>
            </a:endParaRPr>
          </a:p>
          <a:p>
            <a:r>
              <a:rPr lang="en-US" sz="2800" i="1">
                <a:highlight>
                  <a:srgbClr val="C7ECFF">
                    <a:alpha val="100000"/>
                  </a:srgbClr>
                </a:highlight>
                <a:latin typeface="Century Gothic" panose="020B0502020202020204"/>
                <a:ea typeface="Century Gothic" panose="020B0502020202020204"/>
                <a:cs typeface="+mn-cs"/>
              </a:rPr>
              <a:t> May we becoming the industry leader in the years to come!</a:t>
            </a:r>
            <a:endParaRPr lang="en-US" sz="2800" i="1">
              <a:highlight>
                <a:srgbClr val="C7ECFF">
                  <a:alpha val="100000"/>
                </a:srgbClr>
              </a:highlight>
              <a:latin typeface="Century Gothic" panose="020B0502020202020204"/>
              <a:ea typeface="Century Gothic" panose="020B0502020202020204"/>
              <a:cs typeface="+mn-cs"/>
            </a:endParaRPr>
          </a:p>
        </p:txBody>
      </p:sp>
      <p:sp>
        <p:nvSpPr>
          <p:cNvPr id="71" name="文本框 70"/>
          <p:cNvSpPr txBox="1"/>
          <p:nvPr/>
        </p:nvSpPr>
        <p:spPr>
          <a:xfrm>
            <a:off x="7078153" y="1645766"/>
            <a:ext cx="2197100" cy="368300"/>
          </a:xfrm>
          <a:prstGeom prst="rect">
            <a:avLst/>
          </a:prstGeom>
          <a:ln w="6350">
            <a:prstDash val="solid"/>
          </a:ln>
        </p:spPr>
        <p:txBody>
          <a:bodyPr wrap="none">
            <a:spAutoFit/>
          </a:bodyPr>
          <a:p>
            <a:r>
              <a:rPr lang="en-US"/>
              <a:t>Encountered  impacts</a:t>
            </a:r>
            <a:endParaRPr lang="en-US"/>
          </a:p>
        </p:txBody>
      </p:sp>
      <p:sp>
        <p:nvSpPr>
          <p:cNvPr id="72" name="矩形: 圆角 12"/>
          <p:cNvSpPr/>
          <p:nvPr/>
        </p:nvSpPr>
        <p:spPr>
          <a:xfrm>
            <a:off x="8400630" y="2814828"/>
            <a:ext cx="927688" cy="79375"/>
          </a:xfrm>
          <a:prstGeom prst="roundRect">
            <a:avLst>
              <a:gd name="adj" fmla="val 50000"/>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3" name="矩形: 圆角 12"/>
          <p:cNvSpPr/>
          <p:nvPr/>
        </p:nvSpPr>
        <p:spPr>
          <a:xfrm>
            <a:off x="8262429" y="3695098"/>
            <a:ext cx="1337669" cy="79374"/>
          </a:xfrm>
          <a:prstGeom prst="roundRect">
            <a:avLst>
              <a:gd name="adj" fmla="val 50000"/>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4" name="矩形: 圆角 4"/>
          <p:cNvSpPr/>
          <p:nvPr/>
        </p:nvSpPr>
        <p:spPr>
          <a:xfrm>
            <a:off x="2994521" y="279279"/>
            <a:ext cx="6141733" cy="973264"/>
          </a:xfrm>
          <a:prstGeom prst="roundRect">
            <a:avLst>
              <a:gd name="adj" fmla="val 30941"/>
            </a:avLst>
          </a:prstGeom>
          <a:solidFill>
            <a:srgbClr val="E9E1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4727575" y="346075"/>
            <a:ext cx="3112770" cy="703580"/>
          </a:xfrm>
          <a:prstGeom prst="rect">
            <a:avLst/>
          </a:prstGeom>
          <a:ln w="12700">
            <a:prstDash val="solid"/>
          </a:ln>
        </p:spPr>
        <p:txBody>
          <a:bodyPr>
            <a:noAutofit/>
          </a:bodyPr>
          <a:p>
            <a:r>
              <a:rPr lang="en-US" sz="4400">
                <a:latin typeface="+mj-lt"/>
                <a:ea typeface="+mj-ea"/>
                <a:cs typeface="+mj-cs"/>
              </a:rPr>
              <a:t>Currently</a:t>
            </a:r>
            <a:endParaRPr lang="en-US" sz="4400">
              <a:latin typeface="+mj-lt"/>
              <a:ea typeface="+mj-ea"/>
              <a:cs typeface="+mj-cs"/>
            </a:endParaRPr>
          </a:p>
        </p:txBody>
      </p:sp>
    </p:spTree>
  </p:cSld>
  <p:clrMapOvr>
    <a:masterClrMapping/>
  </p:clrMapOvr>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grpId="0" nodeType="clickEffect">
                                  <p:stCondLst>
                                    <p:cond delay="0"/>
                                  </p:stCondLst>
                                  <p:iterate type="lt">
                                    <p:tmPct val="0"/>
                                  </p:iterate>
                                  <p:childTnLst>
                                    <p:set>
                                      <p:cBhvr>
                                        <p:cTn id="14" dur="1" fill="hold">
                                          <p:stCondLst>
                                            <p:cond delay="0"/>
                                          </p:stCondLst>
                                        </p:cTn>
                                        <p:tgtEl>
                                          <p:spTgt spid="67"/>
                                        </p:tgtEl>
                                        <p:attrNameLst>
                                          <p:attrName>style.visibility</p:attrName>
                                        </p:attrNameLst>
                                      </p:cBhvr>
                                      <p:to>
                                        <p:strVal val="visible"/>
                                      </p:to>
                                    </p:set>
                                    <p:animEffect transition="in" filter="wheel(1)">
                                      <p:cBhvr>
                                        <p:cTn id="15" dur="2000"/>
                                        <p:tgtEl>
                                          <p:spTgt spid="67"/>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nodeType="clickEffect">
                                  <p:stCondLst>
                                    <p:cond delay="0"/>
                                  </p:stCondLst>
                                  <p:childTnLst>
                                    <p:set>
                                      <p:cBhvr>
                                        <p:cTn id="19" dur="1" fill="hold">
                                          <p:stCondLst>
                                            <p:cond delay="0"/>
                                          </p:stCondLst>
                                        </p:cTn>
                                        <p:tgtEl>
                                          <p:spTgt spid="64"/>
                                        </p:tgtEl>
                                        <p:attrNameLst>
                                          <p:attrName>style.visibility</p:attrName>
                                        </p:attrNameLst>
                                      </p:cBhvr>
                                      <p:to>
                                        <p:strVal val="visible"/>
                                      </p:to>
                                    </p:set>
                                    <p:anim calcmode="lin" valueType="num">
                                      <p:cBhvr>
                                        <p:cTn id="20" dur="1000" fill="hold"/>
                                        <p:tgtEl>
                                          <p:spTgt spid="64"/>
                                        </p:tgtEl>
                                        <p:attrNameLst>
                                          <p:attrName>ppt_w</p:attrName>
                                        </p:attrNameLst>
                                      </p:cBhvr>
                                      <p:tavLst>
                                        <p:tav tm="0">
                                          <p:val>
                                            <p:strVal val="#ppt_w*0.70"/>
                                          </p:val>
                                        </p:tav>
                                        <p:tav tm="100000">
                                          <p:val>
                                            <p:strVal val="#ppt_w"/>
                                          </p:val>
                                        </p:tav>
                                      </p:tavLst>
                                    </p:anim>
                                    <p:anim calcmode="lin" valueType="num">
                                      <p:cBhvr>
                                        <p:cTn id="21" dur="1000" fill="hold"/>
                                        <p:tgtEl>
                                          <p:spTgt spid="64"/>
                                        </p:tgtEl>
                                        <p:attrNameLst>
                                          <p:attrName>ppt_h</p:attrName>
                                        </p:attrNameLst>
                                      </p:cBhvr>
                                      <p:tavLst>
                                        <p:tav tm="0">
                                          <p:val>
                                            <p:strVal val="#ppt_h"/>
                                          </p:val>
                                        </p:tav>
                                        <p:tav tm="100000">
                                          <p:val>
                                            <p:strVal val="#ppt_h"/>
                                          </p:val>
                                        </p:tav>
                                      </p:tavLst>
                                    </p:anim>
                                    <p:animEffect transition="in" filter="fade">
                                      <p:cBhvr>
                                        <p:cTn id="22" dur="1000"/>
                                        <p:tgtEl>
                                          <p:spTgt spid="64"/>
                                        </p:tgtEl>
                                      </p:cBhvr>
                                    </p:animEffec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nodeType="clickEffect">
                                  <p:stCondLst>
                                    <p:cond delay="0"/>
                                  </p:stCondLst>
                                  <p:childTnLst>
                                    <p:set>
                                      <p:cBhvr>
                                        <p:cTn id="26" dur="1" fill="hold">
                                          <p:stCondLst>
                                            <p:cond delay="0"/>
                                          </p:stCondLst>
                                        </p:cTn>
                                        <p:tgtEl>
                                          <p:spTgt spid="68"/>
                                        </p:tgtEl>
                                        <p:attrNameLst>
                                          <p:attrName>style.visibility</p:attrName>
                                        </p:attrNameLst>
                                      </p:cBhvr>
                                      <p:to>
                                        <p:strVal val="visible"/>
                                      </p:to>
                                    </p:set>
                                    <p:anim calcmode="lin" valueType="num">
                                      <p:cBhvr>
                                        <p:cTn id="27" dur="1000" fill="hold"/>
                                        <p:tgtEl>
                                          <p:spTgt spid="68"/>
                                        </p:tgtEl>
                                        <p:attrNameLst>
                                          <p:attrName>ppt_w</p:attrName>
                                        </p:attrNameLst>
                                      </p:cBhvr>
                                      <p:tavLst>
                                        <p:tav tm="0">
                                          <p:val>
                                            <p:strVal val="#ppt_w*0.70"/>
                                          </p:val>
                                        </p:tav>
                                        <p:tav tm="100000">
                                          <p:val>
                                            <p:strVal val="#ppt_w"/>
                                          </p:val>
                                        </p:tav>
                                      </p:tavLst>
                                    </p:anim>
                                    <p:anim calcmode="lin" valueType="num">
                                      <p:cBhvr>
                                        <p:cTn id="28" dur="1000" fill="hold"/>
                                        <p:tgtEl>
                                          <p:spTgt spid="68"/>
                                        </p:tgtEl>
                                        <p:attrNameLst>
                                          <p:attrName>ppt_h</p:attrName>
                                        </p:attrNameLst>
                                      </p:cBhvr>
                                      <p:tavLst>
                                        <p:tav tm="0">
                                          <p:val>
                                            <p:strVal val="#ppt_h"/>
                                          </p:val>
                                        </p:tav>
                                        <p:tav tm="100000">
                                          <p:val>
                                            <p:strVal val="#ppt_h"/>
                                          </p:val>
                                        </p:tav>
                                      </p:tavLst>
                                    </p:anim>
                                    <p:animEffect transition="in" filter="fade">
                                      <p:cBhvr>
                                        <p:cTn id="29" dur="1000"/>
                                        <p:tgtEl>
                                          <p:spTgt spid="68"/>
                                        </p:tgtEl>
                                      </p:cBhvr>
                                    </p:animEffect>
                                  </p:childTnLst>
                                </p:cTn>
                              </p:par>
                              <p:par>
                                <p:cTn id="30" presetID="55" presetClass="entr" presetSubtype="0" fill="hold" nodeType="withEffect">
                                  <p:stCondLst>
                                    <p:cond delay="0"/>
                                  </p:stCondLst>
                                  <p:childTnLst>
                                    <p:set>
                                      <p:cBhvr>
                                        <p:cTn id="31" dur="1" fill="hold">
                                          <p:stCondLst>
                                            <p:cond delay="0"/>
                                          </p:stCondLst>
                                        </p:cTn>
                                        <p:tgtEl>
                                          <p:spTgt spid="69"/>
                                        </p:tgtEl>
                                        <p:attrNameLst>
                                          <p:attrName>style.visibility</p:attrName>
                                        </p:attrNameLst>
                                      </p:cBhvr>
                                      <p:to>
                                        <p:strVal val="visible"/>
                                      </p:to>
                                    </p:set>
                                    <p:anim calcmode="lin" valueType="num">
                                      <p:cBhvr>
                                        <p:cTn id="32" dur="1000" fill="hold"/>
                                        <p:tgtEl>
                                          <p:spTgt spid="69"/>
                                        </p:tgtEl>
                                        <p:attrNameLst>
                                          <p:attrName>ppt_w</p:attrName>
                                        </p:attrNameLst>
                                      </p:cBhvr>
                                      <p:tavLst>
                                        <p:tav tm="0">
                                          <p:val>
                                            <p:strVal val="#ppt_w*0.70"/>
                                          </p:val>
                                        </p:tav>
                                        <p:tav tm="100000">
                                          <p:val>
                                            <p:strVal val="#ppt_w"/>
                                          </p:val>
                                        </p:tav>
                                      </p:tavLst>
                                    </p:anim>
                                    <p:anim calcmode="lin" valueType="num">
                                      <p:cBhvr>
                                        <p:cTn id="33" dur="1000" fill="hold"/>
                                        <p:tgtEl>
                                          <p:spTgt spid="69"/>
                                        </p:tgtEl>
                                        <p:attrNameLst>
                                          <p:attrName>ppt_h</p:attrName>
                                        </p:attrNameLst>
                                      </p:cBhvr>
                                      <p:tavLst>
                                        <p:tav tm="0">
                                          <p:val>
                                            <p:strVal val="#ppt_h"/>
                                          </p:val>
                                        </p:tav>
                                        <p:tav tm="100000">
                                          <p:val>
                                            <p:strVal val="#ppt_h"/>
                                          </p:val>
                                        </p:tav>
                                      </p:tavLst>
                                    </p:anim>
                                    <p:animEffect transition="in" filter="fade">
                                      <p:cBhvr>
                                        <p:cTn id="34" dur="1000"/>
                                        <p:tgtEl>
                                          <p:spTgt spid="69"/>
                                        </p:tgtEl>
                                      </p:cBhvr>
                                    </p:animEffec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nodeType="clickEffect">
                                  <p:stCondLst>
                                    <p:cond delay="0"/>
                                  </p:stCondLst>
                                  <p:childTnLst>
                                    <p:set>
                                      <p:cBhvr>
                                        <p:cTn id="38" dur="1" fill="hold">
                                          <p:stCondLst>
                                            <p:cond delay="0"/>
                                          </p:stCondLst>
                                        </p:cTn>
                                        <p:tgtEl>
                                          <p:spTgt spid="71"/>
                                        </p:tgtEl>
                                        <p:attrNameLst>
                                          <p:attrName>style.visibility</p:attrName>
                                        </p:attrNameLst>
                                      </p:cBhvr>
                                      <p:to>
                                        <p:strVal val="visible"/>
                                      </p:to>
                                    </p:set>
                                    <p:anim calcmode="lin" valueType="num">
                                      <p:cBhvr>
                                        <p:cTn id="39" dur="1000" fill="hold"/>
                                        <p:tgtEl>
                                          <p:spTgt spid="71"/>
                                        </p:tgtEl>
                                        <p:attrNameLst>
                                          <p:attrName>ppt_w</p:attrName>
                                        </p:attrNameLst>
                                      </p:cBhvr>
                                      <p:tavLst>
                                        <p:tav tm="0">
                                          <p:val>
                                            <p:strVal val="#ppt_w*0.70"/>
                                          </p:val>
                                        </p:tav>
                                        <p:tav tm="100000">
                                          <p:val>
                                            <p:strVal val="#ppt_w"/>
                                          </p:val>
                                        </p:tav>
                                      </p:tavLst>
                                    </p:anim>
                                    <p:anim calcmode="lin" valueType="num">
                                      <p:cBhvr>
                                        <p:cTn id="40" dur="1000" fill="hold"/>
                                        <p:tgtEl>
                                          <p:spTgt spid="71"/>
                                        </p:tgtEl>
                                        <p:attrNameLst>
                                          <p:attrName>ppt_h</p:attrName>
                                        </p:attrNameLst>
                                      </p:cBhvr>
                                      <p:tavLst>
                                        <p:tav tm="0">
                                          <p:val>
                                            <p:strVal val="#ppt_h"/>
                                          </p:val>
                                        </p:tav>
                                        <p:tav tm="100000">
                                          <p:val>
                                            <p:strVal val="#ppt_h"/>
                                          </p:val>
                                        </p:tav>
                                      </p:tavLst>
                                    </p:anim>
                                    <p:animEffect transition="in" filter="fade">
                                      <p:cBhvr>
                                        <p:cTn id="41" dur="1000"/>
                                        <p:tgtEl>
                                          <p:spTgt spid="71"/>
                                        </p:tgtEl>
                                      </p:cBhvr>
                                    </p:animEffect>
                                  </p:childTnLst>
                                </p:cTn>
                              </p:par>
                            </p:childTnLst>
                          </p:cTn>
                        </p:par>
                      </p:childTnLst>
                    </p:cTn>
                  </p:par>
                  <p:par>
                    <p:cTn id="42" fill="hold">
                      <p:stCondLst>
                        <p:cond delay="indefinite"/>
                      </p:stCondLst>
                      <p:childTnLst>
                        <p:par>
                          <p:cTn id="43" fill="hold">
                            <p:stCondLst>
                              <p:cond delay="0"/>
                            </p:stCondLst>
                            <p:childTnLst>
                              <p:par>
                                <p:cTn id="44" presetID="55" presetClass="entr" presetSubtype="0" fill="hold" nodeType="clickEffect">
                                  <p:stCondLst>
                                    <p:cond delay="0"/>
                                  </p:stCondLst>
                                  <p:childTnLst>
                                    <p:set>
                                      <p:cBhvr>
                                        <p:cTn id="45" dur="1" fill="hold">
                                          <p:stCondLst>
                                            <p:cond delay="0"/>
                                          </p:stCondLst>
                                        </p:cTn>
                                        <p:tgtEl>
                                          <p:spTgt spid="72"/>
                                        </p:tgtEl>
                                        <p:attrNameLst>
                                          <p:attrName>style.visibility</p:attrName>
                                        </p:attrNameLst>
                                      </p:cBhvr>
                                      <p:to>
                                        <p:strVal val="visible"/>
                                      </p:to>
                                    </p:set>
                                    <p:anim calcmode="lin" valueType="num">
                                      <p:cBhvr>
                                        <p:cTn id="46" dur="1000" fill="hold"/>
                                        <p:tgtEl>
                                          <p:spTgt spid="72"/>
                                        </p:tgtEl>
                                        <p:attrNameLst>
                                          <p:attrName>ppt_w</p:attrName>
                                        </p:attrNameLst>
                                      </p:cBhvr>
                                      <p:tavLst>
                                        <p:tav tm="0">
                                          <p:val>
                                            <p:strVal val="#ppt_w*0.70"/>
                                          </p:val>
                                        </p:tav>
                                        <p:tav tm="100000">
                                          <p:val>
                                            <p:strVal val="#ppt_w"/>
                                          </p:val>
                                        </p:tav>
                                      </p:tavLst>
                                    </p:anim>
                                    <p:anim calcmode="lin" valueType="num">
                                      <p:cBhvr>
                                        <p:cTn id="47" dur="1000" fill="hold"/>
                                        <p:tgtEl>
                                          <p:spTgt spid="72"/>
                                        </p:tgtEl>
                                        <p:attrNameLst>
                                          <p:attrName>ppt_h</p:attrName>
                                        </p:attrNameLst>
                                      </p:cBhvr>
                                      <p:tavLst>
                                        <p:tav tm="0">
                                          <p:val>
                                            <p:strVal val="#ppt_h"/>
                                          </p:val>
                                        </p:tav>
                                        <p:tav tm="100000">
                                          <p:val>
                                            <p:strVal val="#ppt_h"/>
                                          </p:val>
                                        </p:tav>
                                      </p:tavLst>
                                    </p:anim>
                                    <p:animEffect transition="in" filter="fade">
                                      <p:cBhvr>
                                        <p:cTn id="48" dur="1000"/>
                                        <p:tgtEl>
                                          <p:spTgt spid="72"/>
                                        </p:tgtEl>
                                      </p:cBhvr>
                                    </p:animEffect>
                                  </p:childTnLst>
                                </p:cTn>
                              </p:par>
                            </p:childTnLst>
                          </p:cTn>
                        </p:par>
                      </p:childTnLst>
                    </p:cTn>
                  </p:par>
                  <p:par>
                    <p:cTn id="49" fill="hold">
                      <p:stCondLst>
                        <p:cond delay="indefinite"/>
                      </p:stCondLst>
                      <p:childTnLst>
                        <p:par>
                          <p:cTn id="50" fill="hold">
                            <p:stCondLst>
                              <p:cond delay="0"/>
                            </p:stCondLst>
                            <p:childTnLst>
                              <p:par>
                                <p:cTn id="51" presetID="55" presetClass="entr" presetSubtype="0" fill="hold" nodeType="clickEffect">
                                  <p:stCondLst>
                                    <p:cond delay="0"/>
                                  </p:stCondLst>
                                  <p:childTnLst>
                                    <p:set>
                                      <p:cBhvr>
                                        <p:cTn id="52" dur="1" fill="hold">
                                          <p:stCondLst>
                                            <p:cond delay="0"/>
                                          </p:stCondLst>
                                        </p:cTn>
                                        <p:tgtEl>
                                          <p:spTgt spid="65"/>
                                        </p:tgtEl>
                                        <p:attrNameLst>
                                          <p:attrName>style.visibility</p:attrName>
                                        </p:attrNameLst>
                                      </p:cBhvr>
                                      <p:to>
                                        <p:strVal val="visible"/>
                                      </p:to>
                                    </p:set>
                                    <p:anim calcmode="lin" valueType="num">
                                      <p:cBhvr>
                                        <p:cTn id="53" dur="1000" fill="hold"/>
                                        <p:tgtEl>
                                          <p:spTgt spid="65"/>
                                        </p:tgtEl>
                                        <p:attrNameLst>
                                          <p:attrName>ppt_w</p:attrName>
                                        </p:attrNameLst>
                                      </p:cBhvr>
                                      <p:tavLst>
                                        <p:tav tm="0">
                                          <p:val>
                                            <p:strVal val="#ppt_w*0.70"/>
                                          </p:val>
                                        </p:tav>
                                        <p:tav tm="100000">
                                          <p:val>
                                            <p:strVal val="#ppt_w"/>
                                          </p:val>
                                        </p:tav>
                                      </p:tavLst>
                                    </p:anim>
                                    <p:anim calcmode="lin" valueType="num">
                                      <p:cBhvr>
                                        <p:cTn id="54" dur="1000" fill="hold"/>
                                        <p:tgtEl>
                                          <p:spTgt spid="65"/>
                                        </p:tgtEl>
                                        <p:attrNameLst>
                                          <p:attrName>ppt_h</p:attrName>
                                        </p:attrNameLst>
                                      </p:cBhvr>
                                      <p:tavLst>
                                        <p:tav tm="0">
                                          <p:val>
                                            <p:strVal val="#ppt_h"/>
                                          </p:val>
                                        </p:tav>
                                        <p:tav tm="100000">
                                          <p:val>
                                            <p:strVal val="#ppt_h"/>
                                          </p:val>
                                        </p:tav>
                                      </p:tavLst>
                                    </p:anim>
                                    <p:animEffect transition="in" filter="fade">
                                      <p:cBhvr>
                                        <p:cTn id="55" dur="1000"/>
                                        <p:tgtEl>
                                          <p:spTgt spid="65"/>
                                        </p:tgtEl>
                                      </p:cBhvr>
                                    </p:animEffect>
                                  </p:childTnLst>
                                </p:cTn>
                              </p:par>
                            </p:childTnLst>
                          </p:cTn>
                        </p:par>
                      </p:childTnLst>
                    </p:cTn>
                  </p:par>
                  <p:par>
                    <p:cTn id="56" fill="hold">
                      <p:stCondLst>
                        <p:cond delay="indefinite"/>
                      </p:stCondLst>
                      <p:childTnLst>
                        <p:par>
                          <p:cTn id="57" fill="hold">
                            <p:stCondLst>
                              <p:cond delay="0"/>
                            </p:stCondLst>
                            <p:childTnLst>
                              <p:par>
                                <p:cTn id="58" presetID="55" presetClass="entr" presetSubtype="0" fill="hold" nodeType="clickEffect">
                                  <p:stCondLst>
                                    <p:cond delay="0"/>
                                  </p:stCondLst>
                                  <p:childTnLst>
                                    <p:set>
                                      <p:cBhvr>
                                        <p:cTn id="59" dur="1" fill="hold">
                                          <p:stCondLst>
                                            <p:cond delay="0"/>
                                          </p:stCondLst>
                                        </p:cTn>
                                        <p:tgtEl>
                                          <p:spTgt spid="73"/>
                                        </p:tgtEl>
                                        <p:attrNameLst>
                                          <p:attrName>style.visibility</p:attrName>
                                        </p:attrNameLst>
                                      </p:cBhvr>
                                      <p:to>
                                        <p:strVal val="visible"/>
                                      </p:to>
                                    </p:set>
                                    <p:anim calcmode="lin" valueType="num">
                                      <p:cBhvr>
                                        <p:cTn id="60" dur="1000" fill="hold"/>
                                        <p:tgtEl>
                                          <p:spTgt spid="73"/>
                                        </p:tgtEl>
                                        <p:attrNameLst>
                                          <p:attrName>ppt_w</p:attrName>
                                        </p:attrNameLst>
                                      </p:cBhvr>
                                      <p:tavLst>
                                        <p:tav tm="0">
                                          <p:val>
                                            <p:strVal val="#ppt_w*0.70"/>
                                          </p:val>
                                        </p:tav>
                                        <p:tav tm="100000">
                                          <p:val>
                                            <p:strVal val="#ppt_w"/>
                                          </p:val>
                                        </p:tav>
                                      </p:tavLst>
                                    </p:anim>
                                    <p:anim calcmode="lin" valueType="num">
                                      <p:cBhvr>
                                        <p:cTn id="61" dur="1000" fill="hold"/>
                                        <p:tgtEl>
                                          <p:spTgt spid="73"/>
                                        </p:tgtEl>
                                        <p:attrNameLst>
                                          <p:attrName>ppt_h</p:attrName>
                                        </p:attrNameLst>
                                      </p:cBhvr>
                                      <p:tavLst>
                                        <p:tav tm="0">
                                          <p:val>
                                            <p:strVal val="#ppt_h"/>
                                          </p:val>
                                        </p:tav>
                                        <p:tav tm="100000">
                                          <p:val>
                                            <p:strVal val="#ppt_h"/>
                                          </p:val>
                                        </p:tav>
                                      </p:tavLst>
                                    </p:anim>
                                    <p:animEffect transition="in" filter="fade">
                                      <p:cBhvr>
                                        <p:cTn id="62" dur="1000"/>
                                        <p:tgtEl>
                                          <p:spTgt spid="73"/>
                                        </p:tgtEl>
                                      </p:cBhvr>
                                    </p:animEffect>
                                  </p:childTnLst>
                                </p:cTn>
                              </p:par>
                            </p:childTnLst>
                          </p:cTn>
                        </p:par>
                      </p:childTnLst>
                    </p:cTn>
                  </p:par>
                  <p:par>
                    <p:cTn id="63" fill="hold">
                      <p:stCondLst>
                        <p:cond delay="indefinite"/>
                      </p:stCondLst>
                      <p:childTnLst>
                        <p:par>
                          <p:cTn id="64" fill="hold">
                            <p:stCondLst>
                              <p:cond delay="0"/>
                            </p:stCondLst>
                            <p:childTnLst>
                              <p:par>
                                <p:cTn id="65" presetID="55" presetClass="entr" presetSubtype="0" fill="hold" nodeType="clickEffect">
                                  <p:stCondLst>
                                    <p:cond delay="0"/>
                                  </p:stCondLst>
                                  <p:childTnLst>
                                    <p:set>
                                      <p:cBhvr>
                                        <p:cTn id="66" dur="1" fill="hold">
                                          <p:stCondLst>
                                            <p:cond delay="0"/>
                                          </p:stCondLst>
                                        </p:cTn>
                                        <p:tgtEl>
                                          <p:spTgt spid="66"/>
                                        </p:tgtEl>
                                        <p:attrNameLst>
                                          <p:attrName>style.visibility</p:attrName>
                                        </p:attrNameLst>
                                      </p:cBhvr>
                                      <p:to>
                                        <p:strVal val="visible"/>
                                      </p:to>
                                    </p:set>
                                    <p:anim calcmode="lin" valueType="num">
                                      <p:cBhvr>
                                        <p:cTn id="67" dur="1000" fill="hold"/>
                                        <p:tgtEl>
                                          <p:spTgt spid="66"/>
                                        </p:tgtEl>
                                        <p:attrNameLst>
                                          <p:attrName>ppt_w</p:attrName>
                                        </p:attrNameLst>
                                      </p:cBhvr>
                                      <p:tavLst>
                                        <p:tav tm="0">
                                          <p:val>
                                            <p:strVal val="#ppt_w*0.70"/>
                                          </p:val>
                                        </p:tav>
                                        <p:tav tm="100000">
                                          <p:val>
                                            <p:strVal val="#ppt_w"/>
                                          </p:val>
                                        </p:tav>
                                      </p:tavLst>
                                    </p:anim>
                                    <p:anim calcmode="lin" valueType="num">
                                      <p:cBhvr>
                                        <p:cTn id="68" dur="1000" fill="hold"/>
                                        <p:tgtEl>
                                          <p:spTgt spid="66"/>
                                        </p:tgtEl>
                                        <p:attrNameLst>
                                          <p:attrName>ppt_h</p:attrName>
                                        </p:attrNameLst>
                                      </p:cBhvr>
                                      <p:tavLst>
                                        <p:tav tm="0">
                                          <p:val>
                                            <p:strVal val="#ppt_h"/>
                                          </p:val>
                                        </p:tav>
                                        <p:tav tm="100000">
                                          <p:val>
                                            <p:strVal val="#ppt_h"/>
                                          </p:val>
                                        </p:tav>
                                      </p:tavLst>
                                    </p:anim>
                                    <p:animEffect transition="in" filter="fade">
                                      <p:cBhvr>
                                        <p:cTn id="69" dur="1000"/>
                                        <p:tgtEl>
                                          <p:spTgt spid="66"/>
                                        </p:tgtEl>
                                      </p:cBhvr>
                                    </p:animEffect>
                                  </p:childTnLst>
                                </p:cTn>
                              </p:par>
                            </p:childTnLst>
                          </p:cTn>
                        </p:par>
                      </p:childTnLst>
                    </p:cTn>
                  </p:par>
                  <p:par>
                    <p:cTn id="70" fill="hold">
                      <p:stCondLst>
                        <p:cond delay="indefinite"/>
                      </p:stCondLst>
                      <p:childTnLst>
                        <p:par>
                          <p:cTn id="71" fill="hold">
                            <p:stCondLst>
                              <p:cond delay="0"/>
                            </p:stCondLst>
                            <p:childTnLst>
                              <p:par>
                                <p:cTn id="72" presetID="23" presetClass="entr" presetSubtype="16" fill="hold" nodeType="clickEffect">
                                  <p:stCondLst>
                                    <p:cond delay="0"/>
                                  </p:stCondLst>
                                  <p:childTnLst>
                                    <p:set>
                                      <p:cBhvr>
                                        <p:cTn id="73" dur="1" fill="hold">
                                          <p:stCondLst>
                                            <p:cond delay="0"/>
                                          </p:stCondLst>
                                        </p:cTn>
                                        <p:tgtEl>
                                          <p:spTgt spid="70"/>
                                        </p:tgtEl>
                                        <p:attrNameLst>
                                          <p:attrName>style.visibility</p:attrName>
                                        </p:attrNameLst>
                                      </p:cBhvr>
                                      <p:to>
                                        <p:strVal val="visible"/>
                                      </p:to>
                                    </p:set>
                                    <p:anim calcmode="lin" valueType="num">
                                      <p:cBhvr>
                                        <p:cTn id="74" dur="500" fill="hold"/>
                                        <p:tgtEl>
                                          <p:spTgt spid="70"/>
                                        </p:tgtEl>
                                        <p:attrNameLst>
                                          <p:attrName>ppt_w</p:attrName>
                                        </p:attrNameLst>
                                      </p:cBhvr>
                                      <p:tavLst>
                                        <p:tav tm="0">
                                          <p:val>
                                            <p:fltVal val="0"/>
                                          </p:val>
                                        </p:tav>
                                        <p:tav tm="100000">
                                          <p:val>
                                            <p:strVal val="#ppt_w"/>
                                          </p:val>
                                        </p:tav>
                                      </p:tavLst>
                                    </p:anim>
                                    <p:anim calcmode="lin" valueType="num">
                                      <p:cBhvr>
                                        <p:cTn id="75" dur="500" fill="hold"/>
                                        <p:tgtEl>
                                          <p:spTgt spid="7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85" name=""/>
        <p:cNvGrpSpPr/>
        <p:nvPr/>
      </p:nvGrpSpPr>
      <p:grpSpPr>
        <a:xfrm>
          <a:off x="0" y="0"/>
          <a:ext cx="0" cy="0"/>
          <a:chOff x="0" y="0"/>
          <a:chExt cx="0" cy="0"/>
        </a:xfrm>
      </p:grpSpPr>
      <p:sp>
        <p:nvSpPr>
          <p:cNvPr id="86" name="矩形 10"/>
          <p:cNvSpPr/>
          <p:nvPr/>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7" name="标题 8"/>
          <p:cNvSpPr>
            <a:spLocks noGrp="1"/>
          </p:cNvSpPr>
          <p:nvPr>
            <p:ph type="ctrTitle"/>
          </p:nvPr>
        </p:nvSpPr>
        <p:spPr>
          <a:xfrm>
            <a:off x="1660570" y="2480980"/>
            <a:ext cx="9104011" cy="948019"/>
          </a:xfrm>
        </p:spPr>
        <p:txBody>
          <a:bodyPr>
            <a:normAutofit/>
          </a:bodyPr>
          <a:lstStyle/>
          <a:p>
            <a:pPr>
              <a:buNone/>
            </a:pPr>
            <a:r>
              <a:rPr lang="en-US">
                <a:solidFill>
                  <a:srgbClr val="0070C0">
                    <a:alpha val="100000"/>
                  </a:srgbClr>
                </a:solidFill>
                <a:latin typeface="Century Gothic" panose="020B0502020202020204"/>
                <a:ea typeface="Century Gothic" panose="020B0502020202020204"/>
              </a:rPr>
              <a:t>Thanks for</a:t>
            </a:r>
            <a:r>
              <a:rPr lang="en-US">
                <a:solidFill>
                  <a:srgbClr val="92D050">
                    <a:alpha val="100000"/>
                  </a:srgbClr>
                </a:solidFill>
                <a:latin typeface="Century Gothic" panose="020B0502020202020204"/>
                <a:ea typeface="Century Gothic" panose="020B0502020202020204"/>
              </a:rPr>
              <a:t> </a:t>
            </a:r>
            <a:r>
              <a:rPr lang="en-US">
                <a:solidFill>
                  <a:schemeClr val="bg1">
                    <a:alpha val="100000"/>
                  </a:schemeClr>
                </a:solidFill>
                <a:latin typeface="Century Gothic" panose="020B0502020202020204"/>
                <a:ea typeface="Century Gothic" panose="020B0502020202020204"/>
              </a:rPr>
              <a:t>watching</a:t>
            </a:r>
            <a:r>
              <a:rPr lang="zh-CN">
                <a:solidFill>
                  <a:schemeClr val="bg1">
                    <a:alpha val="100000"/>
                  </a:schemeClr>
                </a:solidFill>
                <a:latin typeface="Century Gothic" panose="020B0502020202020204"/>
                <a:ea typeface="Century Gothic" panose="020B0502020202020204"/>
              </a:rPr>
              <a:t>！</a:t>
            </a:r>
            <a:endParaRPr lang="zh-CN">
              <a:solidFill>
                <a:schemeClr val="bg1">
                  <a:alpha val="100000"/>
                </a:schemeClr>
              </a:solidFill>
              <a:latin typeface="阿里汉仪智能黑体"/>
              <a:ea typeface="阿里汉仪智能黑体"/>
              <a:cs typeface="+mj-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EFAF2"/>
        </a:solidFill>
        <a:effectLst/>
      </p:bgPr>
    </p:bg>
    <p:spTree>
      <p:nvGrpSpPr>
        <p:cNvPr id="88" name=""/>
        <p:cNvGrpSpPr/>
        <p:nvPr/>
      </p:nvGrpSpPr>
      <p:grpSpPr>
        <a:xfrm>
          <a:off x="0" y="0"/>
          <a:ext cx="0" cy="0"/>
          <a:chOff x="0" y="0"/>
          <a:chExt cx="0" cy="0"/>
        </a:xfrm>
      </p:grpSpPr>
      <p:sp>
        <p:nvSpPr>
          <p:cNvPr id="89" name="矩形: 圆角 1"/>
          <p:cNvSpPr/>
          <p:nvPr/>
        </p:nvSpPr>
        <p:spPr>
          <a:xfrm>
            <a:off x="911801" y="654030"/>
            <a:ext cx="5585981" cy="467116"/>
          </a:xfrm>
          <a:prstGeom prst="roundRect">
            <a:avLst>
              <a:gd name="adj" fmla="val 30941"/>
            </a:avLst>
          </a:prstGeom>
          <a:solidFill>
            <a:srgbClr val="E9E1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标题 1"/>
          <p:cNvSpPr txBox="1"/>
          <p:nvPr/>
        </p:nvSpPr>
        <p:spPr>
          <a:xfrm>
            <a:off x="911801" y="265549"/>
            <a:ext cx="6126308" cy="97324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dirty="0">
                <a:latin typeface="江西拙楷" panose="02010600040101010101" pitchFamily="2" charset="-122"/>
                <a:ea typeface="江西拙楷" panose="02010600040101010101" pitchFamily="2" charset="-122"/>
              </a:rPr>
              <a:t>这是一首小组件</a:t>
            </a:r>
            <a:endParaRPr lang="zh-CN" altLang="en-US" dirty="0">
              <a:latin typeface="江西拙楷" panose="02010600040101010101" pitchFamily="2" charset="-122"/>
              <a:ea typeface="江西拙楷" panose="02010600040101010101" pitchFamily="2" charset="-122"/>
            </a:endParaRPr>
          </a:p>
        </p:txBody>
      </p:sp>
      <p:pic>
        <p:nvPicPr>
          <p:cNvPr id="91" name="图片 3"/>
          <p:cNvPicPr>
            <a:picLocks noChangeAspect="1"/>
          </p:cNvPicPr>
          <p:nvPr/>
        </p:nvPicPr>
        <p:blipFill>
          <a:blip r:embed="rId1"/>
          <a:srcRect l="56499" t="28272" r="38074" b="45443"/>
          <a:stretch>
            <a:fillRect/>
          </a:stretch>
        </p:blipFill>
        <p:spPr>
          <a:xfrm>
            <a:off x="3726873" y="1627270"/>
            <a:ext cx="661554" cy="1801730"/>
          </a:xfrm>
          <a:prstGeom prst="rect">
            <a:avLst/>
          </a:prstGeom>
        </p:spPr>
      </p:pic>
      <p:pic>
        <p:nvPicPr>
          <p:cNvPr id="92" name="图片 4"/>
          <p:cNvPicPr>
            <a:picLocks noChangeAspect="1"/>
          </p:cNvPicPr>
          <p:nvPr/>
        </p:nvPicPr>
        <p:blipFill>
          <a:blip r:embed="rId1"/>
          <a:srcRect l="33410" t="28272" r="60000" b="28878"/>
          <a:stretch>
            <a:fillRect/>
          </a:stretch>
        </p:blipFill>
        <p:spPr>
          <a:xfrm>
            <a:off x="5292436" y="1238789"/>
            <a:ext cx="803564" cy="2937164"/>
          </a:xfrm>
          <a:prstGeom prst="rect">
            <a:avLst/>
          </a:prstGeom>
        </p:spPr>
      </p:pic>
      <p:pic>
        <p:nvPicPr>
          <p:cNvPr id="93" name="图片 5"/>
          <p:cNvPicPr>
            <a:picLocks noChangeAspect="1"/>
          </p:cNvPicPr>
          <p:nvPr/>
        </p:nvPicPr>
        <p:blipFill>
          <a:blip r:embed="rId1"/>
          <a:srcRect l="49908" t="57556" r="44701" b="30771"/>
          <a:stretch>
            <a:fillRect/>
          </a:stretch>
        </p:blipFill>
        <p:spPr>
          <a:xfrm>
            <a:off x="7038109" y="2307320"/>
            <a:ext cx="657225" cy="800101"/>
          </a:xfrm>
          <a:prstGeom prst="rect">
            <a:avLst/>
          </a:prstGeom>
        </p:spPr>
      </p:pic>
      <p:pic>
        <p:nvPicPr>
          <p:cNvPr id="94" name="图片 6"/>
          <p:cNvPicPr>
            <a:picLocks noChangeAspect="1"/>
          </p:cNvPicPr>
          <p:nvPr/>
        </p:nvPicPr>
        <p:blipFill>
          <a:blip r:embed="rId1"/>
          <a:srcRect l="56499" t="40358" r="38074" b="56491"/>
          <a:stretch>
            <a:fillRect/>
          </a:stretch>
        </p:blipFill>
        <p:spPr>
          <a:xfrm>
            <a:off x="2123210" y="2455759"/>
            <a:ext cx="661554" cy="216004"/>
          </a:xfrm>
          <a:prstGeom prst="rect">
            <a:avLst/>
          </a:prstGeom>
        </p:spPr>
      </p:pic>
    </p:spTree>
  </p:cSld>
  <p:clrMapOvr>
    <a:masterClrMapping/>
  </p:clrMapOvr>
  <p:transition/>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6491</Words>
  <Application>WPS 演示</Application>
  <PresentationFormat/>
  <Paragraphs>187</Paragraphs>
  <Slides>17</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17</vt:i4>
      </vt:variant>
    </vt:vector>
  </HeadingPairs>
  <TitlesOfParts>
    <vt:vector size="37" baseType="lpstr">
      <vt:lpstr>Arial</vt:lpstr>
      <vt:lpstr>宋体</vt:lpstr>
      <vt:lpstr>Wingdings</vt:lpstr>
      <vt:lpstr>阿里汉仪智能黑体</vt:lpstr>
      <vt:lpstr>黑体</vt:lpstr>
      <vt:lpstr>汉仪玄宋 95S</vt:lpstr>
      <vt:lpstr>字体家AI造字剑客</vt:lpstr>
      <vt:lpstr>Calibri</vt:lpstr>
      <vt:lpstr>微软雅黑</vt:lpstr>
      <vt:lpstr>Arial</vt:lpstr>
      <vt:lpstr>江西拙楷</vt:lpstr>
      <vt:lpstr>Inter</vt:lpstr>
      <vt:lpstr>Century Gothic</vt:lpstr>
      <vt:lpstr>汉仪玄宋 95S</vt:lpstr>
      <vt:lpstr>字体家AI造字剑客</vt:lpstr>
      <vt:lpstr>江西拙楷</vt:lpstr>
      <vt:lpstr>Arial Unicode MS</vt:lpstr>
      <vt:lpstr>Segoe Print</vt:lpstr>
      <vt:lpstr>Calibri</vt:lpstr>
      <vt:lpstr>WPS</vt:lpstr>
      <vt:lpstr>PowerPoint 演示文稿</vt:lpstr>
      <vt:lpstr>What do we do?</vt:lpstr>
      <vt:lpstr>But now, we have to face some problem that could make difference to our fate</vt:lpstr>
      <vt:lpstr>1.Globalization and economic fluctuations</vt:lpstr>
      <vt:lpstr>2.The impact of demographic changes and labor shortages</vt:lpstr>
      <vt:lpstr>2.The impact of demographic changes and labor shortages</vt:lpstr>
      <vt:lpstr>Technological progress</vt:lpstr>
      <vt:lpstr>3. The impact of foreign tariff blockade</vt:lpstr>
      <vt:lpstr>3. The impact of foreign tariff blockade</vt:lpstr>
      <vt:lpstr>3. The impact of foreign tariff blockade</vt:lpstr>
      <vt:lpstr>Use the tariff “window period” to accelerate shipments; accelerate the layout of overseas warehouses to avoid the risk of tariff fluctuations.</vt:lpstr>
      <vt:lpstr>BUT！！！ there are still positive sides for us</vt:lpstr>
      <vt:lpstr>BUT！！！ there are still positive sides for us</vt:lpstr>
      <vt:lpstr>4. Regarding the increasing awareness of risks and safety in the logistics industry, people are becoming more aware of risks and safety.</vt:lpstr>
      <vt:lpstr>PowerPoint 演示文稿</vt:lpstr>
      <vt:lpstr>Thanks for watching！</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mika</cp:lastModifiedBy>
  <cp:revision>4</cp:revision>
  <dcterms:created xsi:type="dcterms:W3CDTF">2025-09-25T03:01:07Z</dcterms:created>
  <dcterms:modified xsi:type="dcterms:W3CDTF">2025-09-25T03:28:17Z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BC616D9CBB314593A39D25A0FEF648BA_12</vt:lpwstr>
  </property>
  <property fmtid="{D5CDD505-2E9C-101B-9397-08002B2CF9AE}" pid="3" name="KSOProductBuildVer">
    <vt:lpwstr>2052-12.8.2.21555</vt:lpwstr>
  </property>
</Properties>
</file>