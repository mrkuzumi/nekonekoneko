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0.svg" ContentType="image/svg+xml"/>
  <Override PartName="/ppt/media/image32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1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7.svg" ContentType="image/svg+xml"/>
  <Override PartName="/ppt/media/image79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7" r:id="rId25"/>
    <p:sldId id="275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1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[你的姓名]。今天我将向大家展示我的课程设计项目——一个基于树莓派的系统监控工具。这个工具旨在为树莓派用户提供一个便捷、直观的方式来监控他们设备的实时状态。接下来，我将详细介绍项目的背景、设计、实现过程以及最终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会介绍项目的背景和我们想要实现的目标。接着，将深入探讨系统的整体设计和架构。之后，会详细讲解核心功能的具体实现方法。第四部分，我将通过实际演示来展示工具的各项功能。最后，对整个项目进行总结并展望未来的改进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现在，让我们进入第一部分：项目概述。在这一部分，我将解释我们为什么要开发这个工具，以及我们期望通过这个项目达成什么样的学习目标。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日常使用树莓派时，特别是将其作为服务器时，我们经常需要了解系统状态。但传统方法非常麻烦，需要敲各种命令，而且无法看到历史数据，也没有告警。因此，我们的动机就是开发一个集成化的工具，让这些操作变得简单直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我们的目标不仅仅是做出一个工具，更重要的是通过这个项目，深入学习Linux系统编程，实践模块化的设计思想，并提升我们的C语言综合能力。最终，我们希望能交付一个真正实用的终端应用。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我们的工具主要包含五大功能：查看完整状态、快速概览、实时监控、查看历史记录以及告警检测。这些功能覆盖了从快速瞥看到深度分析的各种使用场景。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接下来，我们进入第二部分，系统设计与架构。我将介绍我们是如何组织代码结构，以及设计了哪些关键的数据结构来支撑整个系统。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我们采用了模块化的设计思想，将整个程序分成了五个模块：主菜单、信息采集、信息展示、日志管理和告警检测。每个模块各司其职，这样不仅结构清晰，也方便后续的维护和功能扩展。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结构方面，我们设计了两个核心结构体。`SysInfo`用于封装一次采样的所有系统数据，方便数据传递。`LogEntry`则在`SysInfo`的基础上增加了告警标记，用于日志记录。这两个结构体是整个程序数据流动的核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我们的技术栈非常纯粹，主要使用C语言进行开发。核心技术是Linux系统编程，通过读取`/proc`和`/sys`虚拟文件系统来获取系统信息。整个项目是在树莓派4B上，运行Raspberry Pi OS系统开发完成的。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现在我们进入第三部分，核心功能实现。我将选取几个关键功能点，深入讲解它们的实现原理。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信息采集是程序的核心。我们的实现原理是利用Linux的特性，它把很多系统信息都放在了/proc和/sys这些虚拟文件里。我们的程序就像一个解析器，通过读取这些文件的内容，来提取出CPU温度、内存使用等关键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数据更直观，我们用ASCII字符实现了进度条来显示使用率。同时，为了记录历史数据，我们设计了简单的日志格式，将每次采样的数据保存到文件中，需要时再读取解析。这就实现了数据的持久化和可追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理论讲完了，接下来是最直观的部分——功能演示。我将通过一系列截图，向大家展示我们的工具在实际运行中的样子。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首先是功能1和2。左边是完整状态查看，信息非常详细，包括了CPU温度、内存和磁盘的使用情况，并用进度条做了可视化。右边是快速概览，把核心指标浓缩在一行，一目了然。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接下来是功能3和4。左边是实时监控功能，它会每2秒刷新一次数据，帮助我们观察系统状态的实时变化。右边是查看历史记录，它会从日志文件中读取最近的10条记录，让系统状态变得可追溯。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最后是功能5和鲁棒性测试。左边是告警检测功能，它会主动检查系统状态是否超出安全阈值。右边展示了程序的健壮性，当用户输入无效字符时，程序不会崩溃，而是会提示用户重新输入。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最后，我们对整个项目进行总结，并对未来的改进方向进行一些展望。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我们成功实现了一个功能完备、实用性强的监控工具，在数据可视化和鲁棒性方面都做得不错。当然，项目还有很多可以改进的地方，比如增加网络监控、使用更专业的库优化交互界面，以及支持用户自定义配置等，这些都是未来可以继续探索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我们成功实现了一个功能完备、实用性强的监控工具，在数据可视化和鲁棒性方面都做得不错。当然，项目还有很多可以改进的地方，比如增加网络监控、使用更专业的库优化交互界面，以及支持用户自定义配置等，这些都是未来可以继续探索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tags" Target="../tags/tag3.xml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11.svg"/><Relationship Id="rId25" Type="http://schemas.openxmlformats.org/officeDocument/2006/relationships/image" Target="../media/image10.png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image" Target="../media/image9.svg"/><Relationship Id="rId20" Type="http://schemas.openxmlformats.org/officeDocument/2006/relationships/image" Target="../media/image8.png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.sv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image" Target="../media/image30.svg"/><Relationship Id="rId43" Type="http://schemas.openxmlformats.org/officeDocument/2006/relationships/notesSlide" Target="../notesSlides/notesSlide8.xml"/><Relationship Id="rId42" Type="http://schemas.openxmlformats.org/officeDocument/2006/relationships/slideLayout" Target="../slideLayouts/slideLayout12.xml"/><Relationship Id="rId41" Type="http://schemas.openxmlformats.org/officeDocument/2006/relationships/image" Target="../media/image35.png"/><Relationship Id="rId40" Type="http://schemas.openxmlformats.org/officeDocument/2006/relationships/tags" Target="../tags/tag48.xml"/><Relationship Id="rId4" Type="http://schemas.openxmlformats.org/officeDocument/2006/relationships/image" Target="../media/image29.png"/><Relationship Id="rId39" Type="http://schemas.openxmlformats.org/officeDocument/2006/relationships/tags" Target="../tags/tag47.xml"/><Relationship Id="rId38" Type="http://schemas.openxmlformats.org/officeDocument/2006/relationships/tags" Target="../tags/tag46.xml"/><Relationship Id="rId37" Type="http://schemas.openxmlformats.org/officeDocument/2006/relationships/image" Target="../media/image9.svg"/><Relationship Id="rId36" Type="http://schemas.openxmlformats.org/officeDocument/2006/relationships/image" Target="../media/image28.png"/><Relationship Id="rId35" Type="http://schemas.openxmlformats.org/officeDocument/2006/relationships/tags" Target="../tags/tag45.xml"/><Relationship Id="rId34" Type="http://schemas.openxmlformats.org/officeDocument/2006/relationships/tags" Target="../tags/tag44.xml"/><Relationship Id="rId33" Type="http://schemas.openxmlformats.org/officeDocument/2006/relationships/tags" Target="../tags/tag43.xml"/><Relationship Id="rId32" Type="http://schemas.openxmlformats.org/officeDocument/2006/relationships/tags" Target="../tags/tag42.xml"/><Relationship Id="rId31" Type="http://schemas.openxmlformats.org/officeDocument/2006/relationships/tags" Target="../tags/tag41.xml"/><Relationship Id="rId30" Type="http://schemas.openxmlformats.org/officeDocument/2006/relationships/tags" Target="../tags/tag40.xml"/><Relationship Id="rId3" Type="http://schemas.openxmlformats.org/officeDocument/2006/relationships/tags" Target="../tags/tag21.xml"/><Relationship Id="rId29" Type="http://schemas.openxmlformats.org/officeDocument/2006/relationships/image" Target="../media/image27.svg"/><Relationship Id="rId28" Type="http://schemas.openxmlformats.org/officeDocument/2006/relationships/image" Target="../media/image34.png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image" Target="../media/image23.svg"/><Relationship Id="rId20" Type="http://schemas.openxmlformats.org/officeDocument/2006/relationships/image" Target="../media/image33.png"/><Relationship Id="rId2" Type="http://schemas.openxmlformats.org/officeDocument/2006/relationships/tags" Target="../tags/tag20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image" Target="../media/image32.svg"/><Relationship Id="rId12" Type="http://schemas.openxmlformats.org/officeDocument/2006/relationships/image" Target="../media/image31.png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svg"/><Relationship Id="rId7" Type="http://schemas.openxmlformats.org/officeDocument/2006/relationships/image" Target="../media/image40.png"/><Relationship Id="rId6" Type="http://schemas.openxmlformats.org/officeDocument/2006/relationships/image" Target="../media/image27.svg"/><Relationship Id="rId5" Type="http://schemas.openxmlformats.org/officeDocument/2006/relationships/image" Target="../media/image34.png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43.svg"/><Relationship Id="rId1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13.svg"/><Relationship Id="rId7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17.sv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2.png"/><Relationship Id="rId10" Type="http://schemas.openxmlformats.org/officeDocument/2006/relationships/image" Target="../media/image51.svg"/><Relationship Id="rId1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17.sv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2.svg"/><Relationship Id="rId11" Type="http://schemas.openxmlformats.org/officeDocument/2006/relationships/image" Target="../media/image61.png"/><Relationship Id="rId10" Type="http://schemas.openxmlformats.org/officeDocument/2006/relationships/image" Target="../media/image60.svg"/><Relationship Id="rId1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9.svg"/><Relationship Id="rId7" Type="http://schemas.openxmlformats.org/officeDocument/2006/relationships/image" Target="../media/image78.png"/><Relationship Id="rId6" Type="http://schemas.openxmlformats.org/officeDocument/2006/relationships/image" Target="../media/image27.svg"/><Relationship Id="rId5" Type="http://schemas.openxmlformats.org/officeDocument/2006/relationships/image" Target="../media/image34.png"/><Relationship Id="rId4" Type="http://schemas.openxmlformats.org/officeDocument/2006/relationships/image" Target="../media/image77.svg"/><Relationship Id="rId3" Type="http://schemas.openxmlformats.org/officeDocument/2006/relationships/image" Target="../media/image76.png"/><Relationship Id="rId2" Type="http://schemas.openxmlformats.org/officeDocument/2006/relationships/image" Target="../media/image30.sv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858000" y="1905000"/>
            <a:ext cx="4724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树莓派系统监控工具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858000" y="31115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858000" y="3429000"/>
            <a:ext cx="4724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Raspberry Pi SysMonitor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8000" y="4318000"/>
            <a:ext cx="4724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课程设计报告 ——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212" b="212"/>
          <a:stretch>
            <a:fillRect/>
          </a:stretch>
        </p:blipFill>
        <p:spPr>
          <a:xfrm>
            <a:off x="609600" y="5334000"/>
            <a:ext cx="762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651000" y="5397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40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王培锴</a:t>
            </a:r>
            <a:endParaRPr lang="zh-CN" altLang="en-US" sz="40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2000" b="0" i="0" u="none" strike="noStrike">
                <a:solidFill>
                  <a:srgbClr val="1F2937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交通一班</a:t>
            </a:r>
            <a:endParaRPr lang="zh-CN" altLang="en-US" sz="2000" b="0" i="0" u="none" strike="noStrike">
              <a:solidFill>
                <a:srgbClr val="1F2937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35500" y="203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27940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系统设计与架构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330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01000" y="1905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55000" y="203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27940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核心功能实现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3302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5232400" cy="190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4381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功能演示与测试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41">
            <a:off x="1016009" y="5137150"/>
            <a:ext cx="4724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1016000" y="5334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48400" y="4191000"/>
            <a:ext cx="5232400" cy="190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48400" y="4191000"/>
            <a:ext cx="762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502400" y="4381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241">
            <a:off x="6502409" y="5137150"/>
            <a:ext cx="4724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502400" y="5334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10B981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44450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651000" y="5080000"/>
            <a:ext cx="889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实验背景：为什么需要系统监控工具？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F293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905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76200" cy="241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24000" y="2159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操作繁琐低效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7"/>
            </p:custDataLst>
          </p:nvPr>
        </p:nvCxnSpPr>
        <p:spPr>
          <a:xfrm rot="-15211">
            <a:off x="10160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16000" y="29845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传统方式需手动执行多个命令（如 vcgencmd、free -h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ps aux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），步骤繁琐且输出信息零散，无法直观获取系统全貌，增加了运维的时间成本。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406900" y="1905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406900" y="1905000"/>
            <a:ext cx="76200" cy="241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609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5168900" y="2159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缺失历史数据视角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5"/>
            </p:custDataLst>
          </p:nvPr>
        </p:nvCxnSpPr>
        <p:spPr>
          <a:xfrm rot="-15211">
            <a:off x="46609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4660900" y="29845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无法便捷查看系统状态的历史变化趋势，难以回溯性能波动的根源，在排查偶发的系统负载过高、内存泄漏等问题时缺乏有效依据。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8051800" y="1905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8051800" y="1905000"/>
            <a:ext cx="76200" cy="241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05800" y="2159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8813800" y="2159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无关键状态主动告警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3"/>
            </p:custDataLst>
          </p:nvPr>
        </p:nvCxnSpPr>
        <p:spPr>
          <a:xfrm rot="-15211">
            <a:off x="83058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8305800" y="2984500"/>
            <a:ext cx="2870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系统运行在无人值守场景时，无法在CPU过热、内存不足、磁盘空间耗尽等关键异常发生时即时推送提醒，易导致服务意外中断。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69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79500" y="50165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905000" y="48895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项目核心动机：打造轻量集成的命令行监控工具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将常用的系统核心指标集中展示，集成实时监控与历史记录功能，以极简的交互方式解决传统监控手段的碎片化问题，实现对系统状态的一站式掌握与风险预警。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实验目的：我们要实现什么？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1F293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222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41500" y="2184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掌握Linux系统编程核心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18">
            <a:off x="1079509" y="2914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3073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深入学习通过 `/proc` 和 `/sys` 虚拟文件系统与内核交互的机制，理解系统底层资源的获取与监控原理。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1F293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222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02500" y="2184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实践高内聚低耦合的模块化设计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18">
            <a:off x="6540509" y="2914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3073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将系统监控的复杂功能拆解为数据采集、处理、展示等独立模块，大幅提升代码的可读性、复用性与后期可维护性。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1F293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508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841500" y="4470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锤炼C语言核心特性的应用能力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418">
            <a:off x="1079509" y="5200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359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熟练运用文件I/O、字符串处理、结构体、指针及动态内存管理等关键技术，解决实际工程中遇到的底层编程问题。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31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1F293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5085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02500" y="4470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交付高实用性的终端监控工具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418">
            <a:off x="6540509" y="5200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40500" y="5359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最终产出一个功能完整、界面简洁友好、可在树莓派终端直接运行的系统监控命令行工具，具备真实的工程应用价值。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30400"/>
            <a:ext cx="247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完整系统状态查看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3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以结构化表格形式，全景展示CPU温度、系统负载、内存占用、磁盘使用率及系统运行时长，信息详实且层级清晰。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968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1930400"/>
            <a:ext cx="247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核心指标快速概览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273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将关键系统数据浓缩于单行布局中呈现，去除冗余信息，让用户在极短时间内快速掌握系统当前的核心运行态势。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77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196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1930400"/>
            <a:ext cx="247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2秒级实时自动监控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273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开启持续监控模式，系统每2秒自动采集并刷新状态数据，动态追踪资源变化，直观呈现系统负载的实时波动趋势。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318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31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508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24000" y="44704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历史监控记录回溯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67">
            <a:off x="10160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16000" y="5207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自动读取本地日志文件，解析并可视化展示近期的系统状态历史数据，帮助用户复盘系统运行轨迹，分析负载变化规律与异常节点。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59500" y="4318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159500" y="431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4508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21500" y="44704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多维度阈值智能告警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167">
            <a:off x="64135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413500" y="5207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预设关键指标安全阈值，主动巡检CPU温度、内存及磁盘使用率，一旦数据超限立即触发告警提示，有效防范系统资源耗尽风险。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系统设计与架构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4445000"/>
            <a:ext cx="127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08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整体架构：模块化设计思想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095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460500" y="2057400"/>
            <a:ext cx="2603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主菜单模块 (main.c)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7"/>
            </p:custDataLst>
          </p:nvPr>
        </p:nvCxnSpPr>
        <p:spPr>
          <a:xfrm rot="-14323">
            <a:off x="9525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952500" y="2857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作为程序的总入口，负责终端菜单的可视化展示、用户输入指令的接收与解析，并根据指令智能调度其余功能模块协同工作。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3815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3815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000" y="2095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5080000" y="2057400"/>
            <a:ext cx="2603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系统信息采集模块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5"/>
            </p:custDataLst>
          </p:nvPr>
        </p:nvCxnSpPr>
        <p:spPr>
          <a:xfrm rot="-14323">
            <a:off x="45720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4572000" y="2857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系统的核心数据层，通过Linux内核接口读取CPU、内存、磁盘及网络的原始运行数据，为上层功能提供精准的数据源支撑。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80010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8001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91500" y="2095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8699500" y="2057400"/>
            <a:ext cx="2603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信息展示模块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3"/>
            </p:custDataLst>
          </p:nvPr>
        </p:nvCxnSpPr>
        <p:spPr>
          <a:xfrm rot="-14323">
            <a:off x="81915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8191500" y="2857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负责将采集到的原始数据进行结构化处理，以直观、友好的格式化形式输出至终端界面，提升用户对系统状态的感知效率。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5"/>
            </p:custDataLst>
          </p:nvPr>
        </p:nvSpPr>
        <p:spPr>
          <a:xfrm>
            <a:off x="762000" y="4318000"/>
            <a:ext cx="5232400" cy="1841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6"/>
            </p:custDataLst>
          </p:nvPr>
        </p:nvSpPr>
        <p:spPr>
          <a:xfrm>
            <a:off x="762000" y="4318000"/>
            <a:ext cx="508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52500" y="4508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0"/>
            </p:custDataLst>
          </p:nvPr>
        </p:nvSpPr>
        <p:spPr>
          <a:xfrm>
            <a:off x="1460500" y="4470400"/>
            <a:ext cx="4343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日志管理模块：数据持久化与追溯</a:t>
            </a:r>
            <a:endParaRPr lang="en-US" sz="1100"/>
          </a:p>
        </p:txBody>
      </p:sp>
      <p:cxnSp>
        <p:nvCxnSpPr>
          <p:cNvPr id="26" name="Connector 26"/>
          <p:cNvCxnSpPr/>
          <p:nvPr>
            <p:custDataLst>
              <p:tags r:id="rId31"/>
            </p:custDataLst>
          </p:nvPr>
        </p:nvCxnSpPr>
        <p:spPr>
          <a:xfrm rot="-8999">
            <a:off x="952508" y="5073650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>
            <p:custDataLst>
              <p:tags r:id="rId32"/>
            </p:custDataLst>
          </p:nvPr>
        </p:nvSpPr>
        <p:spPr>
          <a:xfrm>
            <a:off x="952500" y="5207000"/>
            <a:ext cx="49149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实现系统关键状态数据的文件持久化存储，支持历史日志的加载、检索与分析，为系统运行的事后复盘和故障排查提供完整的数据依据。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33"/>
            </p:custDataLst>
          </p:nvPr>
        </p:nvSpPr>
        <p:spPr>
          <a:xfrm>
            <a:off x="6197600" y="4318000"/>
            <a:ext cx="5232400" cy="1841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>
            <p:custDataLst>
              <p:tags r:id="rId34"/>
            </p:custDataLst>
          </p:nvPr>
        </p:nvSpPr>
        <p:spPr>
          <a:xfrm>
            <a:off x="6197600" y="4318000"/>
            <a:ext cx="508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388100" y="4508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>
            <p:custDataLst>
              <p:tags r:id="rId38"/>
            </p:custDataLst>
          </p:nvPr>
        </p:nvSpPr>
        <p:spPr>
          <a:xfrm>
            <a:off x="6896100" y="4470400"/>
            <a:ext cx="4343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告警检测模块：实时异常监控</a:t>
            </a:r>
            <a:endParaRPr lang="en-US" sz="1100"/>
          </a:p>
        </p:txBody>
      </p:sp>
      <p:cxnSp>
        <p:nvCxnSpPr>
          <p:cNvPr id="32" name="Connector 32"/>
          <p:cNvCxnSpPr/>
          <p:nvPr>
            <p:custDataLst>
              <p:tags r:id="rId39"/>
            </p:custDataLst>
          </p:nvPr>
        </p:nvCxnSpPr>
        <p:spPr>
          <a:xfrm rot="-8999">
            <a:off x="6388108" y="5073650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>
            <p:custDataLst>
              <p:tags r:id="rId40"/>
            </p:custDataLst>
          </p:nvPr>
        </p:nvSpPr>
        <p:spPr>
          <a:xfrm>
            <a:off x="6388100" y="5207000"/>
            <a:ext cx="49149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基于预设的资源阈值规则，对系统实时运行指标进行动态监测，一旦触发阈值条件立即触发告警提示，保障系统运行的稳定性与安全性。</a:t>
            </a:r>
            <a:endParaRPr lang="en-US" sz="110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228965" y="52705"/>
            <a:ext cx="3074035" cy="1814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核心数据结构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3556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SysInfo 结构体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72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9464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封装单次系统采样的全量核心指标，作为系统状态数据的基础载体，是数据采集与流转的核心单元。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0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9624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设计考量：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将分散的系统数据聚合为单一实体，简化函数间的数据传递逻辑，降低参数冗余，提升代码的可读性与维护性。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080000"/>
            <a:ext cx="47625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5118100"/>
            <a:ext cx="4635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关键字段：timestamp、cpuTemp、loadAvg、memTotal/Used、diskTotal/Used、uptime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86500" y="1905000"/>
            <a:ext cx="5270500" cy="3556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86500" y="1905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40500" y="21590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LogEntry 结构体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167">
            <a:off x="6540508" y="272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298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29464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在基础系统数据之上，扩展告警状态标记，专为日志持久化设计，实现系统快照与异常记录的一体化存储。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000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39624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设计考量：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通过组合复用 SysInfo 结构体，保持基础数据结构的纯净与独立；新增告警标记字段，精准追溯异常时刻的系统全貌。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40500" y="5080000"/>
            <a:ext cx="47625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604000" y="5118100"/>
            <a:ext cx="4635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关键字段：SysInfo info（嵌套基础信息）、int hasAlert（告警状态标识）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10795000" cy="635000"/>
          </a:xfrm>
          <a:prstGeom prst="roundRect">
            <a:avLst>
              <a:gd name="adj" fmla="val 0"/>
            </a:avLst>
          </a:prstGeom>
          <a:solidFill>
            <a:srgbClr val="1F293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6007100"/>
            <a:ext cx="279400" cy="279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397000" y="5943600"/>
            <a:ext cx="990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这两个结构体构建了程序数据流动的骨架，SysInfo 专注于数据采集的完整性，LogEntry 专注于日志记录的场景化，分工明确且耦合度低。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技术栈与开发环境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588000" cy="1524000"/>
          </a:xfrm>
          <a:prstGeom prst="roundRect">
            <a:avLst>
              <a:gd name="adj" fmla="val 0"/>
            </a:avLst>
          </a:prstGeom>
          <a:solidFill>
            <a:srgbClr val="1F2937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57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核心语言与系统编程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4">
            <a:off x="1016008" y="2597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30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采用C语言作为主要开发语言，深耕Linux系统编程，熟练运用文件I/O、字符串处理、结构体等核心技术，构建高效、底层的系统交互逻辑。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5588000" cy="1270000"/>
          </a:xfrm>
          <a:prstGeom prst="roundRect">
            <a:avLst>
              <a:gd name="adj" fmla="val 0"/>
            </a:avLst>
          </a:prstGeom>
          <a:solidFill>
            <a:srgbClr val="1F2937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08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873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835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虚拟文件系统数据交互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44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通过读取 Linux 内核提供的 `/proc` 和 `/sys` 虚拟文件系统，实时获取系统运行状态与硬件信息，实现无侵入式的系统监控。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7272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461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" y="5842000"/>
            <a:ext cx="1473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硬件平台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Raspberry Pi 4B 8G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2705100" y="5334000"/>
            <a:ext cx="17272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32100" y="5461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2832100" y="5842000"/>
            <a:ext cx="1473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操作系统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RPi OS (Debian 13)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622800" y="5334000"/>
            <a:ext cx="17272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5200" y="5461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775200" y="5842000"/>
            <a:ext cx="1473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编译环境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altLang="zh-CN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GCC 4.22.8 (Debian), ARM aarch64</a:t>
            </a:r>
            <a:endParaRPr lang="en-US" altLang="zh-CN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858000" y="5461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基于树莓派4B构建的嵌入式开发环境，结合Debian 13系统的稳定性与GCC编译器的高效性，确保了项目从底层驱动到上层应用的无缝衔接与高性能运行。</a:t>
            </a:r>
            <a:endParaRPr lang="en-US" sz="110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5400" y="1790700"/>
            <a:ext cx="5760085" cy="3203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44450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系统信息采集：collectSysInfo()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1778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651000"/>
            <a:ext cx="901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核心原理：基于虚拟文件系统的“一手”数据读取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Linux 内核将硬件状态与系统信息以虚拟文件形式暴露在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/proc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/sys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目录下。程序通过标准文件I/O函数（fopen, fscanf）访问这些文件，解析文本内容，直接提取最底层的系统指标，确保数据的实时性与准确性。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33782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8" name="Connector 8"/>
          <p:cNvCxnSpPr/>
          <p:nvPr/>
        </p:nvCxnSpPr>
        <p:spPr>
          <a:xfrm rot="5363814">
            <a:off x="158750" y="40259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619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5560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CPU 温度采集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读取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/sys/class/thermal/thermal_zone0/temp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，解析原始温度值并转换为摄氏度单位。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94200" y="3429000"/>
            <a:ext cx="33782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2" name="Connector 12"/>
          <p:cNvCxnSpPr/>
          <p:nvPr/>
        </p:nvCxnSpPr>
        <p:spPr>
          <a:xfrm rot="5363814">
            <a:off x="3790950" y="40259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4700" y="361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56200" y="35560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系统负载监控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/proc/loadavg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文件首行，提取1分钟、5分钟、15分钟的系统平均负载数值。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26400" y="3429000"/>
            <a:ext cx="33782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6" name="Connector 16"/>
          <p:cNvCxnSpPr/>
          <p:nvPr/>
        </p:nvCxnSpPr>
        <p:spPr>
          <a:xfrm rot="5363814">
            <a:off x="7423150" y="40259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6900" y="3619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88400" y="35560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内存状态分析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读取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/proc/meminfo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，提取总内存、可用内存、缓存等关键指标，计算内存使用率。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0" name="Connector 20"/>
          <p:cNvCxnSpPr/>
          <p:nvPr/>
        </p:nvCxnSpPr>
        <p:spPr>
          <a:xfrm rot="5363814">
            <a:off x="158750" y="56769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270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207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磁盘空间统计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statvfs()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系统函数，获取文件系统的总块数、空闲块数和可用块数，计算磁盘空间的使用占比。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23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4" name="Connector 24"/>
          <p:cNvCxnSpPr/>
          <p:nvPr/>
        </p:nvCxnSpPr>
        <p:spPr>
          <a:xfrm rot="5363814">
            <a:off x="5619750" y="56769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5270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85000" y="5207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系统运行时长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/proc/uptime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文件中的数值，获取系统启动到现在的总秒数，将其转换为天、时、分、秒的易读格式展示。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数据可视化与日志管理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数据可视化：ASCII 进度条实时渲染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76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核心实现逻辑：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基于系统资源的实时使用率百分比，动态计算终端中填充字符的数量，通过循环拼接打印“#”（已用）与“.”（剩余）字符，在命令行界面直观呈现资源占用状态，轻量化且高效。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572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1F2937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4826000"/>
            <a:ext cx="3048000" cy="3048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826000"/>
            <a:ext cx="20320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5334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终端显示示例：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[#####.....] 67%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（CPU核心负载实时监控反馈）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9582">
            <a:off x="41910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日志管理：结构化数据持久化方案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266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1000" y="2857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27940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标准化日志格式定义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采用竖线“|”作为字段分隔符，串联时间戳、CPU温度、系统负载、内存/磁盘占比及告警状态，格式清晰规整，便于后续文本解析与批量处理。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540500" y="4064000"/>
            <a:ext cx="2514600" cy="1905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4254500"/>
            <a:ext cx="330200" cy="330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75500" y="4216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高效写入机制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0221">
            <a:off x="6731019" y="4756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731000" y="4889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fprintf 以追加模式写入 data/monitor.log 文件，确保每次采样数据都能被安全持久化存储，避免数据覆盖丢失。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07500" y="4064000"/>
            <a:ext cx="2514600" cy="1905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0" y="4254500"/>
            <a:ext cx="330200" cy="330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842500" y="4216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解析与回溯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221">
            <a:off x="9398019" y="4756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398000" y="4889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sscanf 配合自定义格式符按“|”拆分每行数据，快速提取关键指标，实现历史数据的可视化复盘与故障追溯分析。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功能演示与测试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功能演示：核心功能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35401" b="35401"/>
          <a:stretch>
            <a:fillRect/>
          </a:stretch>
        </p:blipFill>
        <p:spPr>
          <a:xfrm>
            <a:off x="762000" y="1778000"/>
            <a:ext cx="4953000" cy="3048000"/>
          </a:xfrm>
          <a:prstGeom prst="rect">
            <a:avLst/>
          </a:prstGeom>
          <a:noFill/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2070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39800" y="51816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功能1：查看完整系统状态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7150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以结构化表格形式，详细展示CPU温度与负载、内存占用率、磁盘空间使用情况，并搭配ASCII进度条实现数据可视化，让系统底层运行状态清晰可见。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708">
            <a:off x="3746500" y="4121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418" r="418"/>
          <a:stretch>
            <a:fillRect/>
          </a:stretch>
        </p:blipFill>
        <p:spPr>
          <a:xfrm>
            <a:off x="6477000" y="1778000"/>
            <a:ext cx="4953000" cy="3048000"/>
          </a:xfrm>
          <a:prstGeom prst="rect">
            <a:avLst/>
          </a:prstGeom>
          <a:noFill/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477000" y="52070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54800" y="51816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功能2：快速概览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57150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将核心系统指标浓缩为一行式简洁输出，去除冗余信息，聚焦关键数据，适用于需要快速瞥视、即时掌握系统健康状况的高频使用场景。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功能演示：监控与历史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11314" b="11314"/>
          <a:stretch>
            <a:fillRect/>
          </a:stretch>
        </p:blipFill>
        <p:spPr>
          <a:xfrm>
            <a:off x="762000" y="1651000"/>
            <a:ext cx="5016500" cy="3048000"/>
          </a:xfrm>
          <a:prstGeom prst="rect">
            <a:avLst/>
          </a:prstGeom>
          <a:noFill/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508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5080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功能3：实时监控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1F2937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进入持续监控模式，每2秒自动刷新一次数据，实时捕捉CPU、内存、磁盘及负载的动态变化，便于快速掌握系统运行状态，及时发现异常波动。</a:t>
            </a:r>
            <a:endParaRPr lang="en-US" sz="1400" b="0" i="0" u="none" strike="noStrike">
              <a:solidFill>
                <a:srgbClr val="1F2937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90581">
            <a:off x="3778250" y="3962409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18485" b="18485"/>
          <a:stretch>
            <a:fillRect/>
          </a:stretch>
        </p:blipFill>
        <p:spPr>
          <a:xfrm>
            <a:off x="6413500" y="1651000"/>
            <a:ext cx="5016500" cy="3048000"/>
          </a:xfrm>
          <a:prstGeom prst="rect">
            <a:avLst/>
          </a:prstGeom>
          <a:noFill/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413500" y="5080000"/>
            <a:ext cx="508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604000" y="5080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功能4：查看历史记录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1F2937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自动从系统日志文件中提取并格式化展示最近10条关键监控记录，完整保留时间戳与各项指标数据，为用户提供可追溯的系统运行依据，助力问题复盘与分析。</a:t>
            </a:r>
            <a:endParaRPr lang="en-US" sz="1400" b="0" i="0" u="none" strike="noStrike">
              <a:solidFill>
                <a:srgbClr val="1F2937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功能演示：告警与鲁棒性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32413" b="32413"/>
          <a:stretch>
            <a:fillRect/>
          </a:stretch>
        </p:blipFill>
        <p:spPr>
          <a:xfrm>
            <a:off x="762000" y="1651000"/>
            <a:ext cx="5207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39800" y="5054600"/>
            <a:ext cx="490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功能5：检测告警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6515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系统会自动执行完整的状态检查，涵盖CPU、内存、磁盘及运行时间等核心指标，依据预设阈值智能判断并输出告警信息。图示中各项指标均在安全范围内，系统运行正常无告警。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953">
            <a:off x="3746500" y="4057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t="31846" b="31846"/>
          <a:stretch>
            <a:fillRect/>
          </a:stretch>
        </p:blipFill>
        <p:spPr>
          <a:xfrm>
            <a:off x="6223000" y="1651000"/>
            <a:ext cx="5207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223000" y="5080000"/>
            <a:ext cx="50800" cy="304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00800" y="5054600"/>
            <a:ext cx="490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异常输入处理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56515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程序具备极强的鲁棒性，针对字母、越界数字等非法输入能稳定处理，避免系统崩溃。同时会即时反馈清晰、友好的提示信息，引导用户进行正确的输入操作。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4572000"/>
            <a:ext cx="1270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项目总结与未来展望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5389889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▍项目核心成果回顾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08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565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功能集成与实用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0834">
            <a:off x="952519" y="3105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238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整合多维度监控需求至单一工具，操作流程极简，显著降低用户的学习与使用成本。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29000" y="2413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429000" y="2413000"/>
            <a:ext cx="508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2603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64000" y="2565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直观数据可视化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0834">
            <a:off x="3619519" y="3105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619500" y="3238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通过ASCII进度条动态展示关键系统指标，将抽象数据转化为直观图形，提升信息可读性。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45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445000"/>
            <a:ext cx="508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635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597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日志数据持久化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0834">
            <a:off x="952519" y="5137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952500" y="5270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建立完善的日志记录机制，完整留存系统运行轨迹，确保状态变化可追溯，便于问题排查。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429000" y="4445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3429000" y="4445000"/>
            <a:ext cx="508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9500" y="4635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4064000" y="4597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系统鲁棒性保障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20834">
            <a:off x="3619519" y="5137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3619500" y="5270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针对输入异常、资源不足等场景预设处理逻辑，有效规避程序崩溃，提升系统运行稳定性。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▍未来迭代与优化方向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2413000"/>
            <a:ext cx="51435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477000" y="2413000"/>
            <a:ext cx="762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731000" y="2476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拓展网络监控维度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新增网络收发速率、活跃连接数等核心指标监控，实现对服务器网络层状态的实时、全方位感知，补齐监控盲区。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477000" y="3492500"/>
            <a:ext cx="51435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477000" y="3492500"/>
            <a:ext cx="762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731000" y="3619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</a:t>
            </a:r>
            <a:r>
              <a:rPr lang="en-US" sz="16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开放自定义配置</a:t>
            </a:r>
            <a:endParaRPr lang="en-US" sz="16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支持用户通过配置文件自定义告警阈值、数据采样间隔及监控项开关，适配不同业务场景的个性化需求。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7861300" y="5721350"/>
            <a:ext cx="965200" cy="3111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  <a:p>
            <a:pPr marL="0" indent="0" algn="l">
              <a:lnSpc>
                <a:spcPct val="108000"/>
              </a:lnSpc>
            </a:pP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项目总结与未来展望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01700" y="1282700"/>
            <a:ext cx="997585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▍未来迭代与优化方向</a:t>
            </a:r>
            <a:r>
              <a:rPr lang="zh-CN" alt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2000" b="1">
                <a:sym typeface="+mn-ea"/>
              </a:rPr>
              <a:t>03.</a:t>
            </a:r>
            <a:r>
              <a:rPr lang="zh-CN" altLang="en-US" sz="2000" b="1">
                <a:sym typeface="+mn-ea"/>
              </a:rPr>
              <a:t>外接单片机与</a:t>
            </a:r>
            <a:r>
              <a:rPr lang="en-US" altLang="zh-CN" sz="2000" b="1">
                <a:sym typeface="+mn-ea"/>
              </a:rPr>
              <a:t>OLED I2C</a:t>
            </a:r>
            <a:r>
              <a:rPr lang="zh-CN" altLang="en-US" sz="2000" b="1">
                <a:sym typeface="+mn-ea"/>
              </a:rPr>
              <a:t>屏用作监控实时终端</a:t>
            </a:r>
            <a:endParaRPr lang="zh-CN" altLang="en-US" sz="2000" b="1"/>
          </a:p>
          <a:p>
            <a:pPr marL="0" indent="0" algn="l">
              <a:lnSpc>
                <a:spcPct val="125000"/>
              </a:lnSpc>
              <a:defRPr/>
            </a:pPr>
            <a:endParaRPr lang="zh-CN" altLang="en-US" sz="20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901700" y="1663700"/>
            <a:ext cx="76200" cy="4965065"/>
          </a:xfrm>
          <a:prstGeom prst="roundRect">
            <a:avLst>
              <a:gd name="adj" fmla="val 0"/>
            </a:avLst>
          </a:prstGeom>
          <a:solidFill>
            <a:srgbClr val="10B98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1" name="AutoShape 36"/>
          <p:cNvSpPr/>
          <p:nvPr/>
        </p:nvSpPr>
        <p:spPr>
          <a:xfrm>
            <a:off x="1083310" y="1568450"/>
            <a:ext cx="10297795" cy="5180965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815" y="1701800"/>
            <a:ext cx="5492750" cy="4806950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2101850"/>
            <a:ext cx="3943985" cy="3243580"/>
          </a:xfrm>
          <a:prstGeom prst="rect">
            <a:avLst/>
          </a:prstGeom>
        </p:spPr>
      </p:pic>
      <p:cxnSp>
        <p:nvCxnSpPr>
          <p:cNvPr id="74" name="直接箭头连接符 73"/>
          <p:cNvCxnSpPr/>
          <p:nvPr/>
        </p:nvCxnSpPr>
        <p:spPr>
          <a:xfrm>
            <a:off x="5708650" y="2851150"/>
            <a:ext cx="1924050" cy="400050"/>
          </a:xfrm>
          <a:prstGeom prst="straightConnector1">
            <a:avLst/>
          </a:prstGeom>
          <a:ln w="2540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62230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10B98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6375400"/>
            <a:ext cx="12192000" cy="2286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2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3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4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5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6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7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8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9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10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11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12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13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14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15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16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17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18.xml><?xml version="1.0" encoding="utf-8"?>
<p:tagLst xmlns:p="http://schemas.openxmlformats.org/presentationml/2006/main">
  <p:tag name="KSO_WM_DIAGRAM_VIRTUALLY_FRAME" val="{&quot;height&quot;:190,&quot;left&quot;:60,&quot;top&quot;:150,&quot;width&quot;:840}"/>
</p:tagLst>
</file>

<file path=ppt/tags/tag19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20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21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22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23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24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25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26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27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28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29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30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31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32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33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34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35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36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37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38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39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40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41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42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43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44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45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46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47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ags/tag48.xml><?xml version="1.0" encoding="utf-8"?>
<p:tagLst xmlns:p="http://schemas.openxmlformats.org/presentationml/2006/main">
  <p:tag name="KSO_WM_DIAGRAM_VIRTUALLY_FRAME" val="{&quot;height&quot;:335,&quot;left&quot;:60,&quot;top&quot;:15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3915</Words>
  <Application>WPS 演示</Application>
  <PresentationFormat/>
  <Paragraphs>275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王培锴</cp:lastModifiedBy>
  <cp:revision>12</cp:revision>
  <dcterms:created xsi:type="dcterms:W3CDTF">2026-06-11T07:25:03Z</dcterms:created>
  <dcterms:modified xsi:type="dcterms:W3CDTF">2026-06-11T07:46:05Z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{"Label":"1","ContentProducer":"001191110102MACQD9K64010000","ProduceID":"7650034459970817229","ReservedCode1":"","ContentPropagator":"","PropagateID":"","ReservedCode2":""}</vt:lpwstr>
  </property>
  <property fmtid="{D5CDD505-2E9C-101B-9397-08002B2CF9AE}" pid="3" name="KSOProductBuildVer">
    <vt:lpwstr>2052-12.1.0.25222</vt:lpwstr>
  </property>
  <property fmtid="{D5CDD505-2E9C-101B-9397-08002B2CF9AE}" pid="4" name="ICV">
    <vt:lpwstr>0801DA7E56DA4E8BBDFEC1841104AB29_12</vt:lpwstr>
  </property>
</Properties>
</file>